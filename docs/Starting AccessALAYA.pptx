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sldIdLst>
    <p:sldId id="256" r:id="rId2"/>
    <p:sldId id="260" r:id="rId3"/>
    <p:sldId id="257" r:id="rId4"/>
    <p:sldId id="268" r:id="rId5"/>
    <p:sldId id="259" r:id="rId6"/>
    <p:sldId id="267" r:id="rId7"/>
    <p:sldId id="278" r:id="rId8"/>
    <p:sldId id="270" r:id="rId9"/>
    <p:sldId id="258" r:id="rId10"/>
    <p:sldId id="271" r:id="rId11"/>
    <p:sldId id="263" r:id="rId12"/>
    <p:sldId id="262" r:id="rId13"/>
    <p:sldId id="279" r:id="rId14"/>
    <p:sldId id="273" r:id="rId15"/>
    <p:sldId id="274" r:id="rId16"/>
    <p:sldId id="275" r:id="rId17"/>
    <p:sldId id="276" r:id="rId18"/>
    <p:sldId id="277" r:id="rId19"/>
    <p:sldId id="288" r:id="rId20"/>
    <p:sldId id="281" r:id="rId21"/>
    <p:sldId id="282" r:id="rId22"/>
    <p:sldId id="283" r:id="rId23"/>
    <p:sldId id="284" r:id="rId24"/>
    <p:sldId id="285" r:id="rId25"/>
    <p:sldId id="286" r:id="rId26"/>
    <p:sldId id="287" r:id="rId27"/>
    <p:sldId id="289" r:id="rId28"/>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9" d="100"/>
          <a:sy n="79" d="100"/>
        </p:scale>
        <p:origin x="314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哲一 阿部" userId="1d31113994842a11" providerId="LiveId" clId="{1B3D503C-9525-4685-95CA-638CEDA21CDF}"/>
    <pc:docChg chg="custSel modSld">
      <pc:chgData name="哲一 阿部" userId="1d31113994842a11" providerId="LiveId" clId="{1B3D503C-9525-4685-95CA-638CEDA21CDF}" dt="2025-08-02T05:01:49.790" v="38" actId="1035"/>
      <pc:docMkLst>
        <pc:docMk/>
      </pc:docMkLst>
      <pc:sldChg chg="addSp delSp modSp mod">
        <pc:chgData name="哲一 阿部" userId="1d31113994842a11" providerId="LiveId" clId="{1B3D503C-9525-4685-95CA-638CEDA21CDF}" dt="2025-08-02T05:01:49.790" v="38" actId="1035"/>
        <pc:sldMkLst>
          <pc:docMk/>
          <pc:sldMk cId="3514916638" sldId="257"/>
        </pc:sldMkLst>
        <pc:spChg chg="mod">
          <ac:chgData name="哲一 阿部" userId="1d31113994842a11" providerId="LiveId" clId="{1B3D503C-9525-4685-95CA-638CEDA21CDF}" dt="2025-08-02T05:01:32.157" v="26" actId="1036"/>
          <ac:spMkLst>
            <pc:docMk/>
            <pc:sldMk cId="3514916638" sldId="257"/>
            <ac:spMk id="3" creationId="{61352C11-2356-0121-C155-E837B9E19602}"/>
          </ac:spMkLst>
        </pc:spChg>
        <pc:spChg chg="mod">
          <ac:chgData name="哲一 阿部" userId="1d31113994842a11" providerId="LiveId" clId="{1B3D503C-9525-4685-95CA-638CEDA21CDF}" dt="2025-08-02T05:01:32.157" v="26" actId="1036"/>
          <ac:spMkLst>
            <pc:docMk/>
            <pc:sldMk cId="3514916638" sldId="257"/>
            <ac:spMk id="10" creationId="{6E09A104-4BCD-33DE-8C4B-BEB46F742A49}"/>
          </ac:spMkLst>
        </pc:spChg>
        <pc:spChg chg="mod">
          <ac:chgData name="哲一 阿部" userId="1d31113994842a11" providerId="LiveId" clId="{1B3D503C-9525-4685-95CA-638CEDA21CDF}" dt="2025-08-02T05:00:55.627" v="8" actId="1076"/>
          <ac:spMkLst>
            <pc:docMk/>
            <pc:sldMk cId="3514916638" sldId="257"/>
            <ac:spMk id="11" creationId="{29A3F5AD-9E7C-E936-6C25-5BBD0CA5AFE5}"/>
          </ac:spMkLst>
        </pc:spChg>
        <pc:spChg chg="mod">
          <ac:chgData name="哲一 阿部" userId="1d31113994842a11" providerId="LiveId" clId="{1B3D503C-9525-4685-95CA-638CEDA21CDF}" dt="2025-08-02T05:01:49.790" v="38" actId="1035"/>
          <ac:spMkLst>
            <pc:docMk/>
            <pc:sldMk cId="3514916638" sldId="257"/>
            <ac:spMk id="29" creationId="{A97801AE-6320-8C24-C6A8-976A21734994}"/>
          </ac:spMkLst>
        </pc:spChg>
        <pc:spChg chg="mod">
          <ac:chgData name="哲一 阿部" userId="1d31113994842a11" providerId="LiveId" clId="{1B3D503C-9525-4685-95CA-638CEDA21CDF}" dt="2025-08-02T05:01:49.790" v="38" actId="1035"/>
          <ac:spMkLst>
            <pc:docMk/>
            <pc:sldMk cId="3514916638" sldId="257"/>
            <ac:spMk id="30" creationId="{DFBF968B-3B8E-002A-97F3-2B6D0F001988}"/>
          </ac:spMkLst>
        </pc:spChg>
        <pc:spChg chg="mod">
          <ac:chgData name="哲一 阿部" userId="1d31113994842a11" providerId="LiveId" clId="{1B3D503C-9525-4685-95CA-638CEDA21CDF}" dt="2025-08-02T05:01:49.790" v="38" actId="1035"/>
          <ac:spMkLst>
            <pc:docMk/>
            <pc:sldMk cId="3514916638" sldId="257"/>
            <ac:spMk id="35" creationId="{44899F77-B870-C41F-1F4D-38432CC6AD2B}"/>
          </ac:spMkLst>
        </pc:spChg>
        <pc:spChg chg="mod">
          <ac:chgData name="哲一 阿部" userId="1d31113994842a11" providerId="LiveId" clId="{1B3D503C-9525-4685-95CA-638CEDA21CDF}" dt="2025-08-02T05:01:49.790" v="38" actId="1035"/>
          <ac:spMkLst>
            <pc:docMk/>
            <pc:sldMk cId="3514916638" sldId="257"/>
            <ac:spMk id="40" creationId="{35DC22A6-8857-FE4E-C55F-51A23E60DAB5}"/>
          </ac:spMkLst>
        </pc:spChg>
        <pc:spChg chg="mod">
          <ac:chgData name="哲一 阿部" userId="1d31113994842a11" providerId="LiveId" clId="{1B3D503C-9525-4685-95CA-638CEDA21CDF}" dt="2025-08-02T05:00:58.885" v="9" actId="1076"/>
          <ac:spMkLst>
            <pc:docMk/>
            <pc:sldMk cId="3514916638" sldId="257"/>
            <ac:spMk id="44" creationId="{F821A376-8CEB-1AF2-689E-3F8DB09909E9}"/>
          </ac:spMkLst>
        </pc:spChg>
        <pc:spChg chg="mod">
          <ac:chgData name="哲一 阿部" userId="1d31113994842a11" providerId="LiveId" clId="{1B3D503C-9525-4685-95CA-638CEDA21CDF}" dt="2025-08-02T05:01:49.790" v="38" actId="1035"/>
          <ac:spMkLst>
            <pc:docMk/>
            <pc:sldMk cId="3514916638" sldId="257"/>
            <ac:spMk id="53" creationId="{D1971128-1028-D816-890F-2D2C3D1092E7}"/>
          </ac:spMkLst>
        </pc:spChg>
        <pc:picChg chg="del mod">
          <ac:chgData name="哲一 阿部" userId="1d31113994842a11" providerId="LiveId" clId="{1B3D503C-9525-4685-95CA-638CEDA21CDF}" dt="2025-08-02T05:00:32.328" v="5" actId="478"/>
          <ac:picMkLst>
            <pc:docMk/>
            <pc:sldMk cId="3514916638" sldId="257"/>
            <ac:picMk id="5" creationId="{E5FA3577-06A1-5F28-C75E-2C7E8E299571}"/>
          </ac:picMkLst>
        </pc:picChg>
        <pc:picChg chg="add mod ord modCrop">
          <ac:chgData name="哲一 阿部" userId="1d31113994842a11" providerId="LiveId" clId="{1B3D503C-9525-4685-95CA-638CEDA21CDF}" dt="2025-08-02T05:01:24.220" v="12" actId="732"/>
          <ac:picMkLst>
            <pc:docMk/>
            <pc:sldMk cId="3514916638" sldId="257"/>
            <ac:picMk id="20" creationId="{D790AF36-5527-87A7-3522-4B77BF65C28F}"/>
          </ac:picMkLst>
        </pc:picChg>
        <pc:picChg chg="mod">
          <ac:chgData name="哲一 阿部" userId="1d31113994842a11" providerId="LiveId" clId="{1B3D503C-9525-4685-95CA-638CEDA21CDF}" dt="2025-08-02T05:01:49.790" v="38" actId="1035"/>
          <ac:picMkLst>
            <pc:docMk/>
            <pc:sldMk cId="3514916638" sldId="257"/>
            <ac:picMk id="23" creationId="{C9263593-3675-8A37-98FD-DE73BFCC08D3}"/>
          </ac:picMkLst>
        </pc:picChg>
        <pc:picChg chg="mod">
          <ac:chgData name="哲一 阿部" userId="1d31113994842a11" providerId="LiveId" clId="{1B3D503C-9525-4685-95CA-638CEDA21CDF}" dt="2025-08-02T05:01:49.790" v="38" actId="1035"/>
          <ac:picMkLst>
            <pc:docMk/>
            <pc:sldMk cId="3514916638" sldId="257"/>
            <ac:picMk id="33" creationId="{7739966C-B7D2-83AB-C5DD-56EAED5B1C8A}"/>
          </ac:picMkLst>
        </pc:picChg>
        <pc:picChg chg="mod">
          <ac:chgData name="哲一 阿部" userId="1d31113994842a11" providerId="LiveId" clId="{1B3D503C-9525-4685-95CA-638CEDA21CDF}" dt="2025-08-02T05:01:49.790" v="38" actId="1035"/>
          <ac:picMkLst>
            <pc:docMk/>
            <pc:sldMk cId="3514916638" sldId="257"/>
            <ac:picMk id="48" creationId="{F3CF3D1D-9494-6C31-D61D-37DD83EE61EA}"/>
          </ac:picMkLst>
        </pc:picChg>
        <pc:picChg chg="mod">
          <ac:chgData name="哲一 阿部" userId="1d31113994842a11" providerId="LiveId" clId="{1B3D503C-9525-4685-95CA-638CEDA21CDF}" dt="2025-08-02T05:01:49.790" v="38" actId="1035"/>
          <ac:picMkLst>
            <pc:docMk/>
            <pc:sldMk cId="3514916638" sldId="257"/>
            <ac:picMk id="51" creationId="{19DF5C39-5D33-3137-1298-6D5424364DC0}"/>
          </ac:picMkLst>
        </pc:picChg>
        <pc:picChg chg="mod">
          <ac:chgData name="哲一 阿部" userId="1d31113994842a11" providerId="LiveId" clId="{1B3D503C-9525-4685-95CA-638CEDA21CDF}" dt="2025-08-02T05:01:49.790" v="38" actId="1035"/>
          <ac:picMkLst>
            <pc:docMk/>
            <pc:sldMk cId="3514916638" sldId="257"/>
            <ac:picMk id="52" creationId="{0E0175FA-09FA-AAED-0930-1B08E1D4488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6350" y="-12231"/>
            <a:ext cx="6877353" cy="9930462"/>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847947" y="3473216"/>
            <a:ext cx="4370039" cy="2377992"/>
          </a:xfrm>
        </p:spPr>
        <p:txBody>
          <a:bodyPr anchor="b">
            <a:noAutofit/>
          </a:bodyPr>
          <a:lstStyle>
            <a:lvl1pPr algn="r">
              <a:defRPr sz="405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847947" y="5851205"/>
            <a:ext cx="4370039" cy="1584410"/>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
        <p:nvSpPr>
          <p:cNvPr id="8" name="正方形/長方形 7">
            <a:extLst>
              <a:ext uri="{FF2B5EF4-FFF2-40B4-BE49-F238E27FC236}">
                <a16:creationId xmlns:a16="http://schemas.microsoft.com/office/drawing/2014/main" id="{6977DF01-21A8-7395-25B9-6E610EE1ED93}"/>
              </a:ext>
            </a:extLst>
          </p:cNvPr>
          <p:cNvSpPr/>
          <p:nvPr userDrawn="1"/>
        </p:nvSpPr>
        <p:spPr>
          <a:xfrm>
            <a:off x="5217985" y="8482283"/>
            <a:ext cx="1699078" cy="1015663"/>
          </a:xfrm>
          <a:prstGeom prst="rect">
            <a:avLst/>
          </a:prstGeom>
          <a:noFill/>
        </p:spPr>
        <p:txBody>
          <a:bodyPr wrap="square" lIns="91440" tIns="45720" rIns="91440" bIns="45720">
            <a:spAutoFit/>
          </a:bodyPr>
          <a:lstStyle/>
          <a:p>
            <a:pPr algn="ctr"/>
            <a:r>
              <a:rPr lang="ja-JP" altLang="en-US" sz="6000" b="1" i="1" u="none" cap="none" spc="50" dirty="0">
                <a:ln w="0"/>
                <a:solidFill>
                  <a:schemeClr val="bg2"/>
                </a:solidFill>
                <a:effectLst>
                  <a:innerShdw blurRad="63500" dist="50800" dir="13500000">
                    <a:srgbClr val="000000">
                      <a:alpha val="50000"/>
                    </a:srgbClr>
                  </a:innerShdw>
                  <a:reflection blurRad="6350" stA="55000" endA="300" endPos="45500" dir="5400000" sy="-100000" algn="bl" rotWithShape="0"/>
                </a:effectLst>
                <a:latin typeface="BIZ UDP明朝 Medium" panose="02020500000000000000" pitchFamily="18" charset="-128"/>
                <a:ea typeface="BIZ UDP明朝 Medium" panose="02020500000000000000" pitchFamily="18" charset="-128"/>
              </a:rPr>
              <a:t>蔵</a:t>
            </a:r>
          </a:p>
        </p:txBody>
      </p:sp>
    </p:spTree>
    <p:extLst>
      <p:ext uri="{BB962C8B-B14F-4D97-AF65-F5344CB8AC3E}">
        <p14:creationId xmlns:p14="http://schemas.microsoft.com/office/powerpoint/2010/main" val="71286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93095093-6BC6-52E9-633C-70340B476021}"/>
              </a:ext>
            </a:extLst>
          </p:cNvPr>
          <p:cNvSpPr/>
          <p:nvPr userDrawn="1"/>
        </p:nvSpPr>
        <p:spPr>
          <a:xfrm>
            <a:off x="5217985" y="8482283"/>
            <a:ext cx="1699078" cy="1015663"/>
          </a:xfrm>
          <a:prstGeom prst="rect">
            <a:avLst/>
          </a:prstGeom>
          <a:noFill/>
        </p:spPr>
        <p:txBody>
          <a:bodyPr wrap="square" lIns="91440" tIns="45720" rIns="91440" bIns="45720">
            <a:spAutoFit/>
          </a:bodyPr>
          <a:lstStyle/>
          <a:p>
            <a:pPr algn="ctr"/>
            <a:r>
              <a:rPr lang="ja-JP" altLang="en-US" sz="6000" b="1" i="1" u="none" cap="none" spc="50" dirty="0">
                <a:ln w="0"/>
                <a:solidFill>
                  <a:schemeClr val="bg2"/>
                </a:solidFill>
                <a:effectLst>
                  <a:innerShdw blurRad="63500" dist="50800" dir="13500000">
                    <a:srgbClr val="000000">
                      <a:alpha val="50000"/>
                    </a:srgbClr>
                  </a:innerShdw>
                  <a:reflection blurRad="6350" stA="55000" endA="300" endPos="45500" dir="5400000" sy="-100000" algn="bl" rotWithShape="0"/>
                </a:effectLst>
                <a:latin typeface="BIZ UDP明朝 Medium" panose="02020500000000000000" pitchFamily="18" charset="-128"/>
                <a:ea typeface="BIZ UDP明朝 Medium" panose="02020500000000000000" pitchFamily="18" charset="-128"/>
              </a:rPr>
              <a:t>蔵</a:t>
            </a:r>
          </a:p>
        </p:txBody>
      </p:sp>
    </p:spTree>
    <p:extLst>
      <p:ext uri="{BB962C8B-B14F-4D97-AF65-F5344CB8AC3E}">
        <p14:creationId xmlns:p14="http://schemas.microsoft.com/office/powerpoint/2010/main" val="2989634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57199" y="3901254"/>
            <a:ext cx="4760786" cy="2638395"/>
          </a:xfrm>
        </p:spPr>
        <p:txBody>
          <a:bodyPr anchor="b"/>
          <a:lstStyle>
            <a:lvl1pPr algn="l">
              <a:defRPr sz="3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57199" y="6539647"/>
            <a:ext cx="4760786" cy="12428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903555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57200" y="880533"/>
            <a:ext cx="4760786" cy="1907822"/>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57200" y="3120851"/>
            <a:ext cx="2316082" cy="5605560"/>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2901903" y="3120853"/>
            <a:ext cx="2316083" cy="5605561"/>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2642856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57200" y="880533"/>
            <a:ext cx="4760785" cy="1907822"/>
          </a:xfrm>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57199" y="3121420"/>
            <a:ext cx="2318004" cy="832378"/>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57199" y="3953801"/>
            <a:ext cx="2318004" cy="477261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2899980" y="3121420"/>
            <a:ext cx="2318004" cy="832378"/>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2899980" y="3953801"/>
            <a:ext cx="2318004" cy="477261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2352523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457199" y="880533"/>
            <a:ext cx="4760786" cy="1907822"/>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138027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2052754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57199" y="2164650"/>
            <a:ext cx="2092637" cy="1846673"/>
          </a:xfrm>
        </p:spPr>
        <p:txBody>
          <a:bodyPr anchor="b">
            <a:normAutofit/>
          </a:bodyPr>
          <a:lstStyle>
            <a:lvl1pPr>
              <a:defRPr sz="1500"/>
            </a:lvl1pPr>
          </a:lstStyle>
          <a:p>
            <a:r>
              <a:rPr lang="ja-JP" altLang="en-US"/>
              <a:t>マスター タイトルの書式設定</a:t>
            </a:r>
            <a:endParaRPr lang="en-US" dirty="0"/>
          </a:p>
        </p:txBody>
      </p:sp>
      <p:sp>
        <p:nvSpPr>
          <p:cNvPr id="3" name="Content Placeholder 2"/>
          <p:cNvSpPr>
            <a:spLocks noGrp="1"/>
          </p:cNvSpPr>
          <p:nvPr>
            <p:ph idx="1"/>
          </p:nvPr>
        </p:nvSpPr>
        <p:spPr>
          <a:xfrm>
            <a:off x="2678456" y="743781"/>
            <a:ext cx="2539528" cy="7982631"/>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199" y="4011323"/>
            <a:ext cx="2092637" cy="3733093"/>
          </a:xfrm>
        </p:spPr>
        <p:txBody>
          <a:bodyPr>
            <a:normAutofit/>
          </a:bodyPr>
          <a:lstStyle>
            <a:lvl1pPr marL="0" indent="0">
              <a:buNone/>
              <a:defRPr sz="105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4218966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57199" y="6934200"/>
            <a:ext cx="4760786" cy="818622"/>
          </a:xfrm>
        </p:spPr>
        <p:txBody>
          <a:bodyPr anchor="b">
            <a:normAutofit/>
          </a:bodyPr>
          <a:lstStyle>
            <a:lvl1pPr algn="l">
              <a:defRPr sz="18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57199" y="880533"/>
            <a:ext cx="4760786" cy="5554926"/>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57199" y="7752822"/>
            <a:ext cx="4760786" cy="973590"/>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2404980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457200" y="880533"/>
            <a:ext cx="4760786" cy="4916311"/>
          </a:xfrm>
        </p:spPr>
        <p:txBody>
          <a:bodyPr anchor="ctr">
            <a:normAutofit/>
          </a:bodyPr>
          <a:lstStyle>
            <a:lvl1pPr algn="l">
              <a:defRPr sz="33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57200" y="6457245"/>
            <a:ext cx="4760786" cy="2269167"/>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14237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581164" y="880533"/>
            <a:ext cx="4554137" cy="4365978"/>
          </a:xfrm>
        </p:spPr>
        <p:txBody>
          <a:bodyPr anchor="ctr">
            <a:normAutofit/>
          </a:bodyPr>
          <a:lstStyle>
            <a:lvl1pPr algn="l">
              <a:defRPr sz="33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825806" y="5246511"/>
            <a:ext cx="4064853" cy="550333"/>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457199" y="6457245"/>
            <a:ext cx="4760786" cy="2269167"/>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
        <p:nvSpPr>
          <p:cNvPr id="24" name="TextBox 23"/>
          <p:cNvSpPr txBox="1"/>
          <p:nvPr/>
        </p:nvSpPr>
        <p:spPr>
          <a:xfrm>
            <a:off x="362034" y="1141657"/>
            <a:ext cx="342989" cy="8446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5060775" y="4169470"/>
            <a:ext cx="342989" cy="8446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62832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457199" y="2790649"/>
            <a:ext cx="4760786" cy="3748998"/>
          </a:xfrm>
        </p:spPr>
        <p:txBody>
          <a:bodyPr anchor="b">
            <a:normAutofit/>
          </a:bodyPr>
          <a:lstStyle>
            <a:lvl1pPr algn="l">
              <a:defRPr sz="33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57199" y="6539647"/>
            <a:ext cx="4760786" cy="2186765"/>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309677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581164" y="880533"/>
            <a:ext cx="4554137" cy="4365978"/>
          </a:xfrm>
        </p:spPr>
        <p:txBody>
          <a:bodyPr anchor="ctr">
            <a:normAutofit/>
          </a:bodyPr>
          <a:lstStyle>
            <a:lvl1pPr algn="l">
              <a:defRPr sz="33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457198" y="5796844"/>
            <a:ext cx="4760787" cy="742803"/>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457199" y="6539647"/>
            <a:ext cx="4760786" cy="2186765"/>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
        <p:nvSpPr>
          <p:cNvPr id="24" name="TextBox 23"/>
          <p:cNvSpPr txBox="1"/>
          <p:nvPr/>
        </p:nvSpPr>
        <p:spPr>
          <a:xfrm>
            <a:off x="362034" y="1141657"/>
            <a:ext cx="342989" cy="8446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5060775" y="4169470"/>
            <a:ext cx="342989" cy="8446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73725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461886" y="880533"/>
            <a:ext cx="4756099" cy="4365978"/>
          </a:xfrm>
        </p:spPr>
        <p:txBody>
          <a:bodyPr anchor="ctr">
            <a:normAutofit/>
          </a:bodyPr>
          <a:lstStyle>
            <a:lvl1pPr algn="l">
              <a:defRPr sz="33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457198" y="5796844"/>
            <a:ext cx="4760787" cy="742803"/>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457199" y="6539647"/>
            <a:ext cx="4760786" cy="2186765"/>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2961276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21808459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82984" y="880534"/>
            <a:ext cx="734109" cy="7585429"/>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57199" y="880534"/>
            <a:ext cx="3896270" cy="758542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823629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6350" y="-12231"/>
            <a:ext cx="6877354" cy="9930462"/>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457200" y="880533"/>
            <a:ext cx="4760785" cy="1907822"/>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57199" y="3120853"/>
            <a:ext cx="4760786" cy="5605561"/>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053944" y="8726414"/>
            <a:ext cx="513099" cy="527403"/>
          </a:xfrm>
          <a:prstGeom prst="rect">
            <a:avLst/>
          </a:prstGeom>
        </p:spPr>
        <p:txBody>
          <a:bodyPr vert="horz" lIns="91440" tIns="45720" rIns="91440" bIns="45720" rtlCol="0" anchor="ctr"/>
          <a:lstStyle>
            <a:lvl1pPr algn="r">
              <a:defRPr sz="675">
                <a:solidFill>
                  <a:schemeClr val="tx1">
                    <a:tint val="75000"/>
                  </a:schemeClr>
                </a:solidFill>
              </a:defRPr>
            </a:lvl1pPr>
          </a:lstStyle>
          <a:p>
            <a:fld id="{0E9E2EB7-6B1E-4A1C-B61E-172AD1A3E0F6}" type="datetimeFigureOut">
              <a:rPr kumimoji="1" lang="ja-JP" altLang="en-US" smtClean="0"/>
              <a:t>2026/6/13</a:t>
            </a:fld>
            <a:endParaRPr kumimoji="1" lang="ja-JP" altLang="en-US"/>
          </a:p>
        </p:txBody>
      </p:sp>
      <p:sp>
        <p:nvSpPr>
          <p:cNvPr id="5" name="Footer Placeholder 4"/>
          <p:cNvSpPr>
            <a:spLocks noGrp="1"/>
          </p:cNvSpPr>
          <p:nvPr>
            <p:ph type="ftr" sz="quarter" idx="3"/>
          </p:nvPr>
        </p:nvSpPr>
        <p:spPr>
          <a:xfrm>
            <a:off x="457200" y="8726414"/>
            <a:ext cx="3467230" cy="527403"/>
          </a:xfrm>
          <a:prstGeom prst="rect">
            <a:avLst/>
          </a:prstGeom>
        </p:spPr>
        <p:txBody>
          <a:bodyPr vert="horz" lIns="91440" tIns="45720" rIns="91440" bIns="45720" rtlCol="0" anchor="ctr"/>
          <a:lstStyle>
            <a:lvl1pPr algn="l">
              <a:defRPr sz="675">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33507" y="8726414"/>
            <a:ext cx="384479" cy="527403"/>
          </a:xfrm>
          <a:prstGeom prst="rect">
            <a:avLst/>
          </a:prstGeom>
        </p:spPr>
        <p:txBody>
          <a:bodyPr vert="horz" lIns="91440" tIns="45720" rIns="91440" bIns="45720" rtlCol="0" anchor="ctr"/>
          <a:lstStyle>
            <a:lvl1pPr algn="r">
              <a:defRPr sz="675">
                <a:solidFill>
                  <a:schemeClr val="accent1"/>
                </a:solidFill>
              </a:defRPr>
            </a:lvl1pPr>
          </a:lstStyle>
          <a:p>
            <a:fld id="{4D673E26-7899-4045-8DC4-70A9C5CCB006}" type="slidenum">
              <a:rPr kumimoji="1" lang="ja-JP" altLang="en-US" smtClean="0"/>
              <a:t>‹#›</a:t>
            </a:fld>
            <a:endParaRPr kumimoji="1" lang="ja-JP" altLang="en-US"/>
          </a:p>
        </p:txBody>
      </p:sp>
    </p:spTree>
    <p:extLst>
      <p:ext uri="{BB962C8B-B14F-4D97-AF65-F5344CB8AC3E}">
        <p14:creationId xmlns:p14="http://schemas.microsoft.com/office/powerpoint/2010/main" val="359848793"/>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 id="2147483939" r:id="rId12"/>
    <p:sldLayoutId id="2147483940" r:id="rId13"/>
    <p:sldLayoutId id="2147483941" r:id="rId14"/>
    <p:sldLayoutId id="2147483942" r:id="rId15"/>
    <p:sldLayoutId id="2147483943" r:id="rId16"/>
  </p:sldLayoutIdLst>
  <p:txStyles>
    <p:titleStyle>
      <a:lvl1pPr algn="l" defTabSz="342900" rtl="0" eaLnBrk="1" latinLnBrk="0" hangingPunct="1">
        <a:spcBef>
          <a:spcPct val="0"/>
        </a:spcBef>
        <a:buNone/>
        <a:defRPr kumimoji="1" sz="27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kumimoji="1"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kumimoji="1"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kumimoji="1" sz="1350" kern="1200">
          <a:solidFill>
            <a:schemeClr val="tx1"/>
          </a:solidFill>
          <a:latin typeface="+mn-lt"/>
          <a:ea typeface="+mn-ea"/>
          <a:cs typeface="+mn-cs"/>
        </a:defRPr>
      </a:lvl1pPr>
      <a:lvl2pPr marL="342900" algn="l" defTabSz="342900" rtl="0" eaLnBrk="1" latinLnBrk="0" hangingPunct="1">
        <a:defRPr kumimoji="1" sz="1350" kern="1200">
          <a:solidFill>
            <a:schemeClr val="tx1"/>
          </a:solidFill>
          <a:latin typeface="+mn-lt"/>
          <a:ea typeface="+mn-ea"/>
          <a:cs typeface="+mn-cs"/>
        </a:defRPr>
      </a:lvl2pPr>
      <a:lvl3pPr marL="685800" algn="l" defTabSz="342900" rtl="0" eaLnBrk="1" latinLnBrk="0" hangingPunct="1">
        <a:defRPr kumimoji="1" sz="1350" kern="1200">
          <a:solidFill>
            <a:schemeClr val="tx1"/>
          </a:solidFill>
          <a:latin typeface="+mn-lt"/>
          <a:ea typeface="+mn-ea"/>
          <a:cs typeface="+mn-cs"/>
        </a:defRPr>
      </a:lvl3pPr>
      <a:lvl4pPr marL="1028700" algn="l" defTabSz="342900" rtl="0" eaLnBrk="1" latinLnBrk="0" hangingPunct="1">
        <a:defRPr kumimoji="1" sz="1350" kern="1200">
          <a:solidFill>
            <a:schemeClr val="tx1"/>
          </a:solidFill>
          <a:latin typeface="+mn-lt"/>
          <a:ea typeface="+mn-ea"/>
          <a:cs typeface="+mn-cs"/>
        </a:defRPr>
      </a:lvl4pPr>
      <a:lvl5pPr marL="1371600" algn="l" defTabSz="342900" rtl="0" eaLnBrk="1" latinLnBrk="0" hangingPunct="1">
        <a:defRPr kumimoji="1" sz="1350" kern="1200">
          <a:solidFill>
            <a:schemeClr val="tx1"/>
          </a:solidFill>
          <a:latin typeface="+mn-lt"/>
          <a:ea typeface="+mn-ea"/>
          <a:cs typeface="+mn-cs"/>
        </a:defRPr>
      </a:lvl5pPr>
      <a:lvl6pPr marL="1714500" algn="l" defTabSz="342900" rtl="0" eaLnBrk="1" latinLnBrk="0" hangingPunct="1">
        <a:defRPr kumimoji="1" sz="1350" kern="1200">
          <a:solidFill>
            <a:schemeClr val="tx1"/>
          </a:solidFill>
          <a:latin typeface="+mn-lt"/>
          <a:ea typeface="+mn-ea"/>
          <a:cs typeface="+mn-cs"/>
        </a:defRPr>
      </a:lvl6pPr>
      <a:lvl7pPr marL="2057400" algn="l" defTabSz="342900" rtl="0" eaLnBrk="1" latinLnBrk="0" hangingPunct="1">
        <a:defRPr kumimoji="1" sz="1350" kern="1200">
          <a:solidFill>
            <a:schemeClr val="tx1"/>
          </a:solidFill>
          <a:latin typeface="+mn-lt"/>
          <a:ea typeface="+mn-ea"/>
          <a:cs typeface="+mn-cs"/>
        </a:defRPr>
      </a:lvl7pPr>
      <a:lvl8pPr marL="2400300" algn="l" defTabSz="342900" rtl="0" eaLnBrk="1" latinLnBrk="0" hangingPunct="1">
        <a:defRPr kumimoji="1" sz="1350" kern="1200">
          <a:solidFill>
            <a:schemeClr val="tx1"/>
          </a:solidFill>
          <a:latin typeface="+mn-lt"/>
          <a:ea typeface="+mn-ea"/>
          <a:cs typeface="+mn-cs"/>
        </a:defRPr>
      </a:lvl8pPr>
      <a:lvl9pPr marL="2743200" algn="l" defTabSz="3429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ublicdomainq.net/tablet-computer-0043117/" TargetMode="External"/><Relationship Id="rId7" Type="http://schemas.openxmlformats.org/officeDocument/2006/relationships/hyperlink" Target="http://www.pngall.com/server-pn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file:///\\Server\" TargetMode="External"/><Relationship Id="rId3" Type="http://schemas.openxmlformats.org/officeDocument/2006/relationships/image" Target="../media/image1.jpg"/><Relationship Id="rId7"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www.pngall.com/server-png" TargetMode="External"/><Relationship Id="rId5" Type="http://schemas.openxmlformats.org/officeDocument/2006/relationships/image" Target="../media/image4.png"/><Relationship Id="rId4" Type="http://schemas.openxmlformats.org/officeDocument/2006/relationships/hyperlink" Target="https://publicdomainq.net/tablet-computer-0043117/" TargetMode="Externa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ja-jp/deployoffice/security/internet-macros-blocked" TargetMode="Externa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www.pngall.com/server-png"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E5B033-4D8B-F717-3718-121843AB6E4C}"/>
              </a:ext>
            </a:extLst>
          </p:cNvPr>
          <p:cNvSpPr>
            <a:spLocks noGrp="1"/>
          </p:cNvSpPr>
          <p:nvPr>
            <p:ph type="ctrTitle"/>
          </p:nvPr>
        </p:nvSpPr>
        <p:spPr>
          <a:xfrm>
            <a:off x="729763" y="3374361"/>
            <a:ext cx="5398474" cy="1103626"/>
          </a:xfrm>
        </p:spPr>
        <p:txBody>
          <a:bodyPr>
            <a:normAutofit/>
          </a:bodyPr>
          <a:lstStyle/>
          <a:p>
            <a:pPr algn="ctr"/>
            <a:r>
              <a:rPr kumimoji="1" lang="en-US" altLang="ja-JP" dirty="0"/>
              <a:t>Access ALAYA</a:t>
            </a:r>
            <a:br>
              <a:rPr kumimoji="1" lang="en-US" altLang="ja-JP" dirty="0"/>
            </a:br>
            <a:r>
              <a:rPr lang="en-US" altLang="ja-JP" sz="2025" dirty="0"/>
              <a:t>=</a:t>
            </a:r>
            <a:r>
              <a:rPr lang="ja-JP" altLang="en-US" sz="2025" dirty="0"/>
              <a:t> </a:t>
            </a:r>
            <a:r>
              <a:rPr lang="en-US" altLang="ja-JP" sz="2025" dirty="0"/>
              <a:t>A Multiuser Framework for MS-Access</a:t>
            </a:r>
            <a:r>
              <a:rPr lang="ja-JP" altLang="en-US" sz="2025" dirty="0"/>
              <a:t> </a:t>
            </a:r>
            <a:r>
              <a:rPr lang="en-US" altLang="ja-JP" sz="2025" dirty="0"/>
              <a:t>=</a:t>
            </a:r>
            <a:endParaRPr kumimoji="1" lang="ja-JP" altLang="en-US" dirty="0"/>
          </a:p>
        </p:txBody>
      </p:sp>
      <p:sp>
        <p:nvSpPr>
          <p:cNvPr id="3" name="字幕 2">
            <a:extLst>
              <a:ext uri="{FF2B5EF4-FFF2-40B4-BE49-F238E27FC236}">
                <a16:creationId xmlns:a16="http://schemas.microsoft.com/office/drawing/2014/main" id="{AE342E75-38F5-F1E0-B7EB-2BE043496661}"/>
              </a:ext>
            </a:extLst>
          </p:cNvPr>
          <p:cNvSpPr>
            <a:spLocks noGrp="1"/>
          </p:cNvSpPr>
          <p:nvPr>
            <p:ph type="subTitle" idx="1"/>
          </p:nvPr>
        </p:nvSpPr>
        <p:spPr>
          <a:xfrm>
            <a:off x="1283558" y="5024043"/>
            <a:ext cx="4290884" cy="1103625"/>
          </a:xfrm>
        </p:spPr>
        <p:txBody>
          <a:bodyPr>
            <a:normAutofit/>
          </a:bodyPr>
          <a:lstStyle/>
          <a:p>
            <a:pPr algn="ctr"/>
            <a:r>
              <a:rPr kumimoji="1" lang="en-US" altLang="ja-JP" sz="1400" dirty="0"/>
              <a:t>Access</a:t>
            </a:r>
            <a:r>
              <a:rPr kumimoji="1" lang="ja-JP" altLang="en-US" sz="1400" dirty="0"/>
              <a:t>によるマルチユーザ環境のフレームワーク</a:t>
            </a:r>
            <a:endParaRPr kumimoji="1" lang="en-US" altLang="ja-JP" sz="1400" dirty="0"/>
          </a:p>
          <a:p>
            <a:pPr algn="ctr"/>
            <a:r>
              <a:rPr kumimoji="1" lang="ja-JP" altLang="en-US" sz="1400" dirty="0"/>
              <a:t>始め方解説資料 </a:t>
            </a:r>
          </a:p>
        </p:txBody>
      </p:sp>
      <p:sp>
        <p:nvSpPr>
          <p:cNvPr id="4" name="テキスト ボックス 3">
            <a:extLst>
              <a:ext uri="{FF2B5EF4-FFF2-40B4-BE49-F238E27FC236}">
                <a16:creationId xmlns:a16="http://schemas.microsoft.com/office/drawing/2014/main" id="{615AF375-5127-47A9-0908-74044313DA30}"/>
              </a:ext>
            </a:extLst>
          </p:cNvPr>
          <p:cNvSpPr txBox="1"/>
          <p:nvPr/>
        </p:nvSpPr>
        <p:spPr>
          <a:xfrm>
            <a:off x="2058642" y="8670441"/>
            <a:ext cx="3268510" cy="577081"/>
          </a:xfrm>
          <a:prstGeom prst="rect">
            <a:avLst/>
          </a:prstGeom>
          <a:noFill/>
        </p:spPr>
        <p:txBody>
          <a:bodyPr wrap="square" rtlCol="0">
            <a:spAutoFit/>
          </a:bodyPr>
          <a:lstStyle/>
          <a:p>
            <a:pPr algn="ctr"/>
            <a:r>
              <a:rPr kumimoji="1" lang="en-US" altLang="ja-JP" sz="1050" dirty="0"/>
              <a:t>©</a:t>
            </a:r>
            <a:r>
              <a:rPr kumimoji="1" lang="ja-JP" altLang="en-US" sz="1050" dirty="0"/>
              <a:t> </a:t>
            </a:r>
            <a:r>
              <a:rPr kumimoji="1" lang="en-US" altLang="ja-JP" sz="1050" dirty="0"/>
              <a:t>2022</a:t>
            </a:r>
            <a:r>
              <a:rPr kumimoji="1" lang="ja-JP" altLang="en-US" sz="1050" dirty="0"/>
              <a:t> </a:t>
            </a:r>
            <a:r>
              <a:rPr kumimoji="1" lang="en-US" altLang="ja-JP" sz="1050" dirty="0"/>
              <a:t>abete21</a:t>
            </a:r>
          </a:p>
          <a:p>
            <a:pPr algn="ctr"/>
            <a:r>
              <a:rPr kumimoji="1" lang="en-US" altLang="ja-JP" sz="1050" dirty="0"/>
              <a:t>https://accessalaya.jp</a:t>
            </a:r>
          </a:p>
          <a:p>
            <a:pPr algn="ctr"/>
            <a:r>
              <a:rPr kumimoji="1" lang="en-US" altLang="ja-JP" sz="1050" dirty="0"/>
              <a:t>AccessALAYA@gmail.com</a:t>
            </a:r>
            <a:endParaRPr kumimoji="1" lang="ja-JP" altLang="en-US" sz="1050" dirty="0"/>
          </a:p>
        </p:txBody>
      </p:sp>
    </p:spTree>
    <p:extLst>
      <p:ext uri="{BB962C8B-B14F-4D97-AF65-F5344CB8AC3E}">
        <p14:creationId xmlns:p14="http://schemas.microsoft.com/office/powerpoint/2010/main" val="2523700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7EB9D2-C97F-630B-73B8-3D01680977A1}"/>
              </a:ext>
            </a:extLst>
          </p:cNvPr>
          <p:cNvSpPr>
            <a:spLocks noGrp="1"/>
          </p:cNvSpPr>
          <p:nvPr>
            <p:ph type="title"/>
          </p:nvPr>
        </p:nvSpPr>
        <p:spPr>
          <a:xfrm>
            <a:off x="457200" y="880533"/>
            <a:ext cx="4760785" cy="592007"/>
          </a:xfrm>
        </p:spPr>
        <p:txBody>
          <a:bodyPr/>
          <a:lstStyle/>
          <a:p>
            <a:r>
              <a:rPr kumimoji="1" lang="en-US" altLang="ja-JP" dirty="0"/>
              <a:t>What is Access</a:t>
            </a:r>
            <a:r>
              <a:rPr kumimoji="1" lang="ja-JP" altLang="en-US" dirty="0"/>
              <a:t> </a:t>
            </a:r>
            <a:r>
              <a:rPr kumimoji="1" lang="en-US" altLang="ja-JP" dirty="0"/>
              <a:t>ALAYA</a:t>
            </a:r>
            <a:r>
              <a:rPr kumimoji="1" lang="ja-JP" altLang="en-US" dirty="0"/>
              <a:t>？</a:t>
            </a:r>
          </a:p>
        </p:txBody>
      </p:sp>
      <p:sp>
        <p:nvSpPr>
          <p:cNvPr id="8" name="テキスト ボックス 7">
            <a:extLst>
              <a:ext uri="{FF2B5EF4-FFF2-40B4-BE49-F238E27FC236}">
                <a16:creationId xmlns:a16="http://schemas.microsoft.com/office/drawing/2014/main" id="{FE319F96-51C8-BB6C-72BC-00006053F4BC}"/>
              </a:ext>
            </a:extLst>
          </p:cNvPr>
          <p:cNvSpPr txBox="1"/>
          <p:nvPr/>
        </p:nvSpPr>
        <p:spPr>
          <a:xfrm>
            <a:off x="282618" y="1536680"/>
            <a:ext cx="6118182" cy="6555641"/>
          </a:xfrm>
          <a:prstGeom prst="rect">
            <a:avLst/>
          </a:prstGeom>
          <a:noFill/>
        </p:spPr>
        <p:txBody>
          <a:bodyPr wrap="square" rtlCol="0">
            <a:spAutoFit/>
          </a:bodyPr>
          <a:lstStyle/>
          <a:p>
            <a:r>
              <a:rPr lang="en-US" altLang="ja-JP" sz="1200" b="1" dirty="0"/>
              <a:t>Access ALAYA is a framework designed to support the development and operation of applications built with Microsoft Access.</a:t>
            </a:r>
          </a:p>
          <a:p>
            <a:endParaRPr lang="en-US" altLang="ja-JP" sz="1200" dirty="0"/>
          </a:p>
          <a:p>
            <a:r>
              <a:rPr lang="en-US" altLang="ja-JP" sz="1200" dirty="0"/>
              <a:t>In many departments and small teams, it is common to share data such as ledgers, logs, and management records. Microsoft Access is particularly effective in small-scale environments where setting up a full database server is unnecessary, offering the convenience of Excel with the structure of a relational database.</a:t>
            </a:r>
          </a:p>
          <a:p>
            <a:endParaRPr lang="en-US" altLang="ja-JP" sz="1200" dirty="0"/>
          </a:p>
          <a:p>
            <a:r>
              <a:rPr lang="en-US" altLang="ja-JP" sz="1200" dirty="0"/>
              <a:t>However, while multi-user operation is fundamental to database systems—allowing users to update data at the moment it is generated—Access was originally designed for standalone or very small groups of two or three users. As a result, when used in a multi-user environment with default settings, Access databases can easily become corrupted due to inherent vulnerabilities.</a:t>
            </a:r>
          </a:p>
          <a:p>
            <a:endParaRPr lang="en-US" altLang="ja-JP" sz="1200" b="1" dirty="0"/>
          </a:p>
          <a:p>
            <a:r>
              <a:rPr lang="en-US" altLang="ja-JP" sz="1200" b="1" dirty="0"/>
              <a:t>Access ALAYA eliminates these weaknesses and enables stable multi-user operation for groups of several dozen users.</a:t>
            </a:r>
            <a:r>
              <a:rPr lang="en-US" altLang="ja-JP" sz="1200" dirty="0"/>
              <a:t> </a:t>
            </a:r>
          </a:p>
          <a:p>
            <a:endParaRPr lang="en-US" altLang="ja-JP" sz="1200" dirty="0"/>
          </a:p>
          <a:p>
            <a:r>
              <a:rPr lang="en-US" altLang="ja-JP" sz="1200" dirty="0"/>
              <a:t>By developing systems on top of ALAYA, teams within a department can safely share and operate ledgers and other data with confidence.</a:t>
            </a:r>
          </a:p>
          <a:p>
            <a:r>
              <a:rPr lang="en-US" altLang="ja-JP" sz="1200" dirty="0"/>
              <a:t>Although Access is a user-friendly platform, building a complete system from scratch can be challenging. With the ALAYA framework, the essential components are already in place. Developers can simply extend the system by adding user features using ALAYA’s templates and libraries, making it much easier to build robust applications. </a:t>
            </a:r>
          </a:p>
          <a:p>
            <a:endParaRPr lang="en-US" altLang="ja-JP" sz="1200" b="1" dirty="0"/>
          </a:p>
          <a:p>
            <a:r>
              <a:rPr lang="en-US" altLang="ja-JP" sz="1200" b="1" dirty="0"/>
              <a:t>Access ALAYA provides an efficient environment for application development and customization.</a:t>
            </a:r>
          </a:p>
          <a:p>
            <a:endParaRPr lang="en-US" altLang="ja-JP" sz="1200" dirty="0"/>
          </a:p>
          <a:p>
            <a:r>
              <a:rPr lang="en-US" altLang="ja-JP" sz="1200" dirty="0"/>
              <a:t>The name </a:t>
            </a:r>
            <a:r>
              <a:rPr lang="en-US" altLang="ja-JP" sz="1200" b="1" dirty="0"/>
              <a:t>“ALAYA”</a:t>
            </a:r>
            <a:r>
              <a:rPr lang="en-US" altLang="ja-JP" sz="1200" dirty="0"/>
              <a:t> comes from the Sanskrit word meaning </a:t>
            </a:r>
            <a:r>
              <a:rPr lang="en-US" altLang="ja-JP" sz="1200" i="1" dirty="0"/>
              <a:t>“storehouse” or “repository”.</a:t>
            </a:r>
            <a:r>
              <a:rPr lang="ja-JP" altLang="en-US" sz="1200" i="1" dirty="0"/>
              <a:t> </a:t>
            </a:r>
            <a:r>
              <a:rPr lang="en-US" altLang="ja-JP" sz="1200" dirty="0"/>
              <a:t> For example, “Himalaya” originates from “Hima” (snow) + “Alaya” (a place where snow accumulates). In Buddhism, </a:t>
            </a:r>
            <a:r>
              <a:rPr lang="en-US" altLang="ja-JP" sz="1200" i="1" dirty="0" err="1"/>
              <a:t>ālaya-vijñāna</a:t>
            </a:r>
            <a:r>
              <a:rPr lang="en-US" altLang="ja-JP" sz="1200" dirty="0"/>
              <a:t> is translated as the “storehouse consciousness.”</a:t>
            </a:r>
          </a:p>
          <a:p>
            <a:endParaRPr lang="en-US" altLang="ja-JP" sz="1200" b="1" dirty="0"/>
          </a:p>
          <a:p>
            <a:r>
              <a:rPr lang="en-US" altLang="ja-JP" sz="1200" b="1" dirty="0"/>
              <a:t>Access ALAYA aims to bring together office data that has traditionally been scattered across multiple files and locations, allowing it to be centrally managed—just like a storehouse.</a:t>
            </a:r>
            <a:endParaRPr lang="en-US" altLang="ja-JP" sz="1200" dirty="0"/>
          </a:p>
        </p:txBody>
      </p:sp>
    </p:spTree>
    <p:extLst>
      <p:ext uri="{BB962C8B-B14F-4D97-AF65-F5344CB8AC3E}">
        <p14:creationId xmlns:p14="http://schemas.microsoft.com/office/powerpoint/2010/main" val="3296939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61352C11-2356-0121-C155-E837B9E19602}"/>
              </a:ext>
            </a:extLst>
          </p:cNvPr>
          <p:cNvSpPr txBox="1">
            <a:spLocks/>
          </p:cNvSpPr>
          <p:nvPr/>
        </p:nvSpPr>
        <p:spPr>
          <a:xfrm>
            <a:off x="202039" y="831096"/>
            <a:ext cx="5138292" cy="465509"/>
          </a:xfrm>
          <a:prstGeom prst="rect">
            <a:avLst/>
          </a:prstGeom>
        </p:spPr>
        <p:txBody>
          <a:bodyPr vert="horz" lIns="91440" tIns="45720" rIns="91440" bIns="45720" rtlCol="0" anchor="t">
            <a:normAutofit fontScale="97500" lnSpcReduction="10000"/>
          </a:bodyPr>
          <a:lstStyle>
            <a:lvl1pPr algn="l" defTabSz="342900" rtl="0" eaLnBrk="1" latinLnBrk="0" hangingPunct="1">
              <a:spcBef>
                <a:spcPct val="0"/>
              </a:spcBef>
              <a:buNone/>
              <a:defRPr kumimoji="1" sz="27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dirty="0"/>
              <a:t>Features</a:t>
            </a:r>
            <a:r>
              <a:rPr lang="ja-JP" altLang="en-US" dirty="0"/>
              <a:t> </a:t>
            </a:r>
            <a:r>
              <a:rPr lang="en-US" altLang="ja-JP" dirty="0"/>
              <a:t>Of</a:t>
            </a:r>
            <a:r>
              <a:rPr lang="ja-JP" altLang="en-US" dirty="0"/>
              <a:t> </a:t>
            </a:r>
            <a:r>
              <a:rPr lang="en-US" altLang="ja-JP" dirty="0"/>
              <a:t>Access</a:t>
            </a:r>
            <a:r>
              <a:rPr lang="ja-JP" altLang="en-US" dirty="0"/>
              <a:t> </a:t>
            </a:r>
            <a:r>
              <a:rPr lang="en-US" altLang="ja-JP" dirty="0"/>
              <a:t>ALAYA</a:t>
            </a:r>
            <a:endParaRPr lang="ja-JP" altLang="en-US" dirty="0"/>
          </a:p>
        </p:txBody>
      </p:sp>
      <p:sp>
        <p:nvSpPr>
          <p:cNvPr id="10" name="テキスト ボックス 9">
            <a:extLst>
              <a:ext uri="{FF2B5EF4-FFF2-40B4-BE49-F238E27FC236}">
                <a16:creationId xmlns:a16="http://schemas.microsoft.com/office/drawing/2014/main" id="{6E09A104-4BCD-33DE-8C4B-BEB46F742A49}"/>
              </a:ext>
            </a:extLst>
          </p:cNvPr>
          <p:cNvSpPr txBox="1"/>
          <p:nvPr/>
        </p:nvSpPr>
        <p:spPr>
          <a:xfrm>
            <a:off x="149109" y="2071822"/>
            <a:ext cx="5968157" cy="3000821"/>
          </a:xfrm>
          <a:prstGeom prst="rect">
            <a:avLst/>
          </a:prstGeom>
          <a:noFill/>
        </p:spPr>
        <p:txBody>
          <a:bodyPr wrap="square" rtlCol="0">
            <a:spAutoFit/>
          </a:bodyPr>
          <a:lstStyle/>
          <a:p>
            <a:r>
              <a:rPr lang="en-US" altLang="ja-JP" sz="1050" b="1" dirty="0"/>
              <a:t>ALAYA is designed from the ground up for multi‑user database operation.</a:t>
            </a:r>
            <a:endParaRPr lang="en-US" altLang="ja-JP" sz="1050" dirty="0"/>
          </a:p>
          <a:p>
            <a:r>
              <a:rPr lang="en-US" altLang="ja-JP" sz="1050" dirty="0"/>
              <a:t>Microsoft Access assumes single‑user or very small‑team usage. When used by multiple users with default settings, Access databases are prone to corruption due to inherent architectural limitations.</a:t>
            </a:r>
          </a:p>
          <a:p>
            <a:endParaRPr lang="en-US" altLang="ja-JP" sz="1050" b="1" dirty="0"/>
          </a:p>
          <a:p>
            <a:r>
              <a:rPr lang="en-US" altLang="ja-JP" sz="1050" b="1" dirty="0"/>
              <a:t>Access ALAYA avoids these vulnerabilities and enables safe, stable operation for groups of several dozen users.</a:t>
            </a:r>
            <a:endParaRPr lang="en-US" altLang="ja-JP" sz="1050" dirty="0"/>
          </a:p>
          <a:p>
            <a:r>
              <a:rPr lang="en-US" altLang="ja-JP" sz="1050" dirty="0"/>
              <a:t>In fact, systems built with ALAYA have been used by groups of around </a:t>
            </a:r>
            <a:r>
              <a:rPr lang="en-US" altLang="ja-JP" sz="1050" b="1" dirty="0"/>
              <a:t>100 users</a:t>
            </a:r>
            <a:r>
              <a:rPr lang="en-US" altLang="ja-JP" sz="1050" dirty="0"/>
              <a:t> for nearly a year </a:t>
            </a:r>
            <a:r>
              <a:rPr lang="en-US" altLang="ja-JP" sz="1050" b="1" dirty="0"/>
              <a:t>without any maintenance and without issues</a:t>
            </a:r>
            <a:r>
              <a:rPr lang="en-US" altLang="ja-JP" sz="1050" dirty="0"/>
              <a:t>. This scale is more than sufficient for departmental or team‑level operations.</a:t>
            </a:r>
          </a:p>
          <a:p>
            <a:endParaRPr lang="en-US" altLang="ja-JP" sz="1050" dirty="0"/>
          </a:p>
          <a:p>
            <a:r>
              <a:rPr lang="en-US" altLang="ja-JP" sz="1050" dirty="0"/>
              <a:t>ALAYA also remains stable even in </a:t>
            </a:r>
            <a:r>
              <a:rPr lang="en-US" altLang="ja-JP" sz="1050" b="1" dirty="0"/>
              <a:t>slow or unstable network environments</a:t>
            </a:r>
            <a:r>
              <a:rPr lang="en-US" altLang="ja-JP" sz="1050" dirty="0"/>
              <a:t>, such as VPN connections. In the author’s environment, a </a:t>
            </a:r>
            <a:r>
              <a:rPr lang="en-US" altLang="ja-JP" sz="1050" b="1" dirty="0"/>
              <a:t>first‑generation Raspberry Pi (not Pi3 or Pi4)</a:t>
            </a:r>
            <a:r>
              <a:rPr lang="en-US" altLang="ja-JP" sz="1050" dirty="0"/>
              <a:t> is used as a VPN server for remote operation. Although extremely slow, the system still functions reliably.</a:t>
            </a:r>
          </a:p>
          <a:p>
            <a:endParaRPr lang="en-US" altLang="ja-JP" sz="1050" dirty="0"/>
          </a:p>
          <a:p>
            <a:r>
              <a:rPr lang="en-US" altLang="ja-JP" sz="1050" b="1" dirty="0"/>
              <a:t>In short, ALAYA eliminates Access’s multi‑user weaknesses and enables safe data sharing for groups of several dozen users.</a:t>
            </a:r>
            <a:endParaRPr lang="en-US" altLang="ja-JP" sz="1050" dirty="0"/>
          </a:p>
        </p:txBody>
      </p:sp>
      <p:cxnSp>
        <p:nvCxnSpPr>
          <p:cNvPr id="18" name="直線コネクタ 17">
            <a:extLst>
              <a:ext uri="{FF2B5EF4-FFF2-40B4-BE49-F238E27FC236}">
                <a16:creationId xmlns:a16="http://schemas.microsoft.com/office/drawing/2014/main" id="{EDD5F682-305A-5802-FF48-B3053BFEDFBC}"/>
              </a:ext>
            </a:extLst>
          </p:cNvPr>
          <p:cNvCxnSpPr>
            <a:cxnSpLocks/>
          </p:cNvCxnSpPr>
          <p:nvPr/>
        </p:nvCxnSpPr>
        <p:spPr>
          <a:xfrm>
            <a:off x="2788001" y="6401848"/>
            <a:ext cx="2191" cy="2135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BE9300B0-BE72-7D4F-6A73-19BD03DC9254}"/>
              </a:ext>
            </a:extLst>
          </p:cNvPr>
          <p:cNvCxnSpPr>
            <a:cxnSpLocks/>
          </p:cNvCxnSpPr>
          <p:nvPr/>
        </p:nvCxnSpPr>
        <p:spPr>
          <a:xfrm>
            <a:off x="1948932" y="6395552"/>
            <a:ext cx="2191" cy="213513"/>
          </a:xfrm>
          <a:prstGeom prst="line">
            <a:avLst/>
          </a:prstGeom>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10;&#10;自動的に生成された説明">
            <a:extLst>
              <a:ext uri="{FF2B5EF4-FFF2-40B4-BE49-F238E27FC236}">
                <a16:creationId xmlns:a16="http://schemas.microsoft.com/office/drawing/2014/main" id="{18774EA1-9F06-E8A5-C9F8-E04117C2C06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758117" y="6207016"/>
            <a:ext cx="455030" cy="291219"/>
          </a:xfrm>
          <a:prstGeom prst="rect">
            <a:avLst/>
          </a:prstGeom>
        </p:spPr>
      </p:pic>
      <p:pic>
        <p:nvPicPr>
          <p:cNvPr id="23" name="図 22" descr="グラフィカル ユーザー インターフェイス&#10;&#10;自動的に生成された説明">
            <a:extLst>
              <a:ext uri="{FF2B5EF4-FFF2-40B4-BE49-F238E27FC236}">
                <a16:creationId xmlns:a16="http://schemas.microsoft.com/office/drawing/2014/main" id="{C9263593-3675-8A37-98FD-DE73BFCC08D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570208" y="6227240"/>
            <a:ext cx="455030" cy="291219"/>
          </a:xfrm>
          <a:prstGeom prst="rect">
            <a:avLst/>
          </a:prstGeom>
        </p:spPr>
      </p:pic>
      <p:cxnSp>
        <p:nvCxnSpPr>
          <p:cNvPr id="25" name="直線コネクタ 24">
            <a:extLst>
              <a:ext uri="{FF2B5EF4-FFF2-40B4-BE49-F238E27FC236}">
                <a16:creationId xmlns:a16="http://schemas.microsoft.com/office/drawing/2014/main" id="{D9357CEC-38C6-B801-6898-A1C9F0A5FE7E}"/>
              </a:ext>
            </a:extLst>
          </p:cNvPr>
          <p:cNvCxnSpPr>
            <a:cxnSpLocks/>
          </p:cNvCxnSpPr>
          <p:nvPr/>
        </p:nvCxnSpPr>
        <p:spPr>
          <a:xfrm>
            <a:off x="798570" y="6135857"/>
            <a:ext cx="0" cy="457679"/>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
            <a:extLst>
              <a:ext uri="{FF2B5EF4-FFF2-40B4-BE49-F238E27FC236}">
                <a16:creationId xmlns:a16="http://schemas.microsoft.com/office/drawing/2014/main" id="{39574B3C-BED0-90BE-3F82-9C47A353B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2629" y="6210583"/>
            <a:ext cx="291219" cy="29121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a:extLst>
              <a:ext uri="{FF2B5EF4-FFF2-40B4-BE49-F238E27FC236}">
                <a16:creationId xmlns:a16="http://schemas.microsoft.com/office/drawing/2014/main" id="{389B9A2A-D2F2-7061-370A-0CDBE17D9B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6093" y="6205078"/>
            <a:ext cx="275968" cy="275968"/>
          </a:xfrm>
          <a:prstGeom prst="rect">
            <a:avLst/>
          </a:prstGeom>
          <a:noFill/>
          <a:extLst>
            <a:ext uri="{909E8E84-426E-40DD-AFC4-6F175D3DCCD1}">
              <a14:hiddenFill xmlns:a14="http://schemas.microsoft.com/office/drawing/2010/main">
                <a:solidFill>
                  <a:srgbClr val="FFFFFF"/>
                </a:solidFill>
              </a14:hiddenFill>
            </a:ext>
          </a:extLst>
        </p:spPr>
      </p:pic>
      <p:sp>
        <p:nvSpPr>
          <p:cNvPr id="29" name="フローチャート: 磁気ディスク 28">
            <a:extLst>
              <a:ext uri="{FF2B5EF4-FFF2-40B4-BE49-F238E27FC236}">
                <a16:creationId xmlns:a16="http://schemas.microsoft.com/office/drawing/2014/main" id="{A97801AE-6320-8C24-C6A8-976A21734994}"/>
              </a:ext>
            </a:extLst>
          </p:cNvPr>
          <p:cNvSpPr/>
          <p:nvPr/>
        </p:nvSpPr>
        <p:spPr>
          <a:xfrm>
            <a:off x="885990" y="5960438"/>
            <a:ext cx="225034" cy="16401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30" name="テキスト ボックス 29">
            <a:extLst>
              <a:ext uri="{FF2B5EF4-FFF2-40B4-BE49-F238E27FC236}">
                <a16:creationId xmlns:a16="http://schemas.microsoft.com/office/drawing/2014/main" id="{DFBF968B-3B8E-002A-97F3-2B6D0F001988}"/>
              </a:ext>
            </a:extLst>
          </p:cNvPr>
          <p:cNvSpPr txBox="1"/>
          <p:nvPr/>
        </p:nvSpPr>
        <p:spPr>
          <a:xfrm>
            <a:off x="724202" y="6174343"/>
            <a:ext cx="723275" cy="196208"/>
          </a:xfrm>
          <a:prstGeom prst="rect">
            <a:avLst/>
          </a:prstGeom>
          <a:noFill/>
        </p:spPr>
        <p:txBody>
          <a:bodyPr wrap="none" rtlCol="0">
            <a:spAutoFit/>
          </a:bodyPr>
          <a:lstStyle/>
          <a:p>
            <a:r>
              <a:rPr kumimoji="1" lang="en-US" altLang="ja-JP" sz="675" dirty="0"/>
              <a:t>Shared</a:t>
            </a:r>
            <a:r>
              <a:rPr kumimoji="1" lang="ja-JP" altLang="en-US" sz="675" dirty="0"/>
              <a:t> </a:t>
            </a:r>
            <a:r>
              <a:rPr kumimoji="1" lang="en-US" altLang="ja-JP" sz="675" dirty="0"/>
              <a:t>Tables</a:t>
            </a:r>
            <a:endParaRPr kumimoji="1" lang="ja-JP" altLang="en-US" sz="675" dirty="0"/>
          </a:p>
        </p:txBody>
      </p:sp>
      <p:pic>
        <p:nvPicPr>
          <p:cNvPr id="32" name="Picture 6" descr="アクセス, 2013年 無料 アイコン の Simply Styled Icons">
            <a:extLst>
              <a:ext uri="{FF2B5EF4-FFF2-40B4-BE49-F238E27FC236}">
                <a16:creationId xmlns:a16="http://schemas.microsoft.com/office/drawing/2014/main" id="{48A62D58-ACB5-846F-9357-BE1091D86A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3877" y="6146183"/>
            <a:ext cx="121666" cy="12166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アクセス, 2013年 無料 アイコン の Simply Styled Icons">
            <a:extLst>
              <a:ext uri="{FF2B5EF4-FFF2-40B4-BE49-F238E27FC236}">
                <a16:creationId xmlns:a16="http://schemas.microsoft.com/office/drawing/2014/main" id="{7739966C-B7D2-83AB-C5DD-56EAED5B1C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2232" y="6179922"/>
            <a:ext cx="121666" cy="121666"/>
          </a:xfrm>
          <a:prstGeom prst="rect">
            <a:avLst/>
          </a:prstGeom>
          <a:noFill/>
          <a:extLst>
            <a:ext uri="{909E8E84-426E-40DD-AFC4-6F175D3DCCD1}">
              <a14:hiddenFill xmlns:a14="http://schemas.microsoft.com/office/drawing/2010/main">
                <a:solidFill>
                  <a:srgbClr val="FFFFFF"/>
                </a:solidFill>
              </a14:hiddenFill>
            </a:ext>
          </a:extLst>
        </p:spPr>
      </p:pic>
      <p:sp>
        <p:nvSpPr>
          <p:cNvPr id="35" name="テキスト ボックス 34">
            <a:extLst>
              <a:ext uri="{FF2B5EF4-FFF2-40B4-BE49-F238E27FC236}">
                <a16:creationId xmlns:a16="http://schemas.microsoft.com/office/drawing/2014/main" id="{44899F77-B870-C41F-1F4D-38432CC6AD2B}"/>
              </a:ext>
            </a:extLst>
          </p:cNvPr>
          <p:cNvSpPr txBox="1"/>
          <p:nvPr/>
        </p:nvSpPr>
        <p:spPr>
          <a:xfrm>
            <a:off x="3658864" y="5936335"/>
            <a:ext cx="2126805" cy="55996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kumimoji="1" lang="ja-JP" altLang="en-US" sz="1013" dirty="0"/>
              <a:t>数十人規模：</a:t>
            </a:r>
            <a:endParaRPr kumimoji="1" lang="en-US" altLang="ja-JP" sz="1013" dirty="0"/>
          </a:p>
          <a:p>
            <a:r>
              <a:rPr kumimoji="1" lang="ja-JP" altLang="en-US" sz="1013" dirty="0"/>
              <a:t>部内や課内など少人数の運用では十分なユーザ数</a:t>
            </a:r>
          </a:p>
        </p:txBody>
      </p:sp>
      <p:sp>
        <p:nvSpPr>
          <p:cNvPr id="40" name="テキスト ボックス 39">
            <a:extLst>
              <a:ext uri="{FF2B5EF4-FFF2-40B4-BE49-F238E27FC236}">
                <a16:creationId xmlns:a16="http://schemas.microsoft.com/office/drawing/2014/main" id="{35DC22A6-8857-FE4E-C55F-51A23E60DAB5}"/>
              </a:ext>
            </a:extLst>
          </p:cNvPr>
          <p:cNvSpPr txBox="1"/>
          <p:nvPr/>
        </p:nvSpPr>
        <p:spPr>
          <a:xfrm>
            <a:off x="349250" y="5647493"/>
            <a:ext cx="805029" cy="248209"/>
          </a:xfrm>
          <a:prstGeom prst="rect">
            <a:avLst/>
          </a:prstGeom>
          <a:noFill/>
        </p:spPr>
        <p:txBody>
          <a:bodyPr wrap="none" rtlCol="0">
            <a:spAutoFit/>
          </a:bodyPr>
          <a:lstStyle/>
          <a:p>
            <a:r>
              <a:rPr kumimoji="1" lang="en-US" altLang="ja-JP" sz="1013" dirty="0"/>
              <a:t>File</a:t>
            </a:r>
            <a:r>
              <a:rPr kumimoji="1" lang="ja-JP" altLang="en-US" sz="1013" dirty="0"/>
              <a:t> </a:t>
            </a:r>
            <a:r>
              <a:rPr kumimoji="1" lang="en-US" altLang="ja-JP" sz="1013" dirty="0"/>
              <a:t>Server</a:t>
            </a:r>
            <a:endParaRPr kumimoji="1" lang="ja-JP" altLang="en-US" sz="1013" dirty="0"/>
          </a:p>
        </p:txBody>
      </p:sp>
      <p:cxnSp>
        <p:nvCxnSpPr>
          <p:cNvPr id="12" name="直線コネクタ 11">
            <a:extLst>
              <a:ext uri="{FF2B5EF4-FFF2-40B4-BE49-F238E27FC236}">
                <a16:creationId xmlns:a16="http://schemas.microsoft.com/office/drawing/2014/main" id="{D4746D6C-84AE-8A5E-025E-F8FDCC3CB8D3}"/>
              </a:ext>
            </a:extLst>
          </p:cNvPr>
          <p:cNvCxnSpPr>
            <a:cxnSpLocks/>
          </p:cNvCxnSpPr>
          <p:nvPr/>
        </p:nvCxnSpPr>
        <p:spPr>
          <a:xfrm>
            <a:off x="1720184" y="6050363"/>
            <a:ext cx="2191" cy="213513"/>
          </a:xfrm>
          <a:prstGeom prst="line">
            <a:avLst/>
          </a:prstGeom>
        </p:spPr>
        <p:style>
          <a:lnRef idx="1">
            <a:schemeClr val="accent1"/>
          </a:lnRef>
          <a:fillRef idx="0">
            <a:schemeClr val="accent1"/>
          </a:fillRef>
          <a:effectRef idx="0">
            <a:schemeClr val="accent1"/>
          </a:effectRef>
          <a:fontRef idx="minor">
            <a:schemeClr val="tx1"/>
          </a:fontRef>
        </p:style>
      </p:cxnSp>
      <p:pic>
        <p:nvPicPr>
          <p:cNvPr id="46" name="図 45" descr="グラフィカル ユーザー インターフェイス&#10;&#10;自動的に生成された説明">
            <a:extLst>
              <a:ext uri="{FF2B5EF4-FFF2-40B4-BE49-F238E27FC236}">
                <a16:creationId xmlns:a16="http://schemas.microsoft.com/office/drawing/2014/main" id="{4320465F-87ED-617F-51BD-BA48D181742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29369" y="5861827"/>
            <a:ext cx="455030" cy="291219"/>
          </a:xfrm>
          <a:prstGeom prst="rect">
            <a:avLst/>
          </a:prstGeom>
        </p:spPr>
      </p:pic>
      <p:pic>
        <p:nvPicPr>
          <p:cNvPr id="47" name="Picture 2">
            <a:extLst>
              <a:ext uri="{FF2B5EF4-FFF2-40B4-BE49-F238E27FC236}">
                <a16:creationId xmlns:a16="http://schemas.microsoft.com/office/drawing/2014/main" id="{A2C834B8-3F9A-6F28-4B5D-0EE3D40BB5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7345" y="5859889"/>
            <a:ext cx="275968" cy="27596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アクセス, 2013年 無料 アイコン の Simply Styled Icons">
            <a:extLst>
              <a:ext uri="{FF2B5EF4-FFF2-40B4-BE49-F238E27FC236}">
                <a16:creationId xmlns:a16="http://schemas.microsoft.com/office/drawing/2014/main" id="{F3CF3D1D-9494-6C31-D61D-37DD83EE61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5129" y="5800994"/>
            <a:ext cx="121666" cy="121666"/>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直線コネクタ 48">
            <a:extLst>
              <a:ext uri="{FF2B5EF4-FFF2-40B4-BE49-F238E27FC236}">
                <a16:creationId xmlns:a16="http://schemas.microsoft.com/office/drawing/2014/main" id="{A1C2CCAA-CA9D-4D79-DF30-53F338880EE1}"/>
              </a:ext>
            </a:extLst>
          </p:cNvPr>
          <p:cNvCxnSpPr>
            <a:cxnSpLocks/>
          </p:cNvCxnSpPr>
          <p:nvPr/>
        </p:nvCxnSpPr>
        <p:spPr>
          <a:xfrm>
            <a:off x="2368240" y="6021561"/>
            <a:ext cx="2191" cy="213513"/>
          </a:xfrm>
          <a:prstGeom prst="line">
            <a:avLst/>
          </a:prstGeom>
        </p:spPr>
        <p:style>
          <a:lnRef idx="1">
            <a:schemeClr val="accent1"/>
          </a:lnRef>
          <a:fillRef idx="0">
            <a:schemeClr val="accent1"/>
          </a:fillRef>
          <a:effectRef idx="0">
            <a:schemeClr val="accent1"/>
          </a:effectRef>
          <a:fontRef idx="minor">
            <a:schemeClr val="tx1"/>
          </a:fontRef>
        </p:style>
      </p:cxnSp>
      <p:pic>
        <p:nvPicPr>
          <p:cNvPr id="50" name="図 49" descr="グラフィカル ユーザー インターフェイス&#10;&#10;自動的に生成された説明">
            <a:extLst>
              <a:ext uri="{FF2B5EF4-FFF2-40B4-BE49-F238E27FC236}">
                <a16:creationId xmlns:a16="http://schemas.microsoft.com/office/drawing/2014/main" id="{402604D0-4F11-4BAA-804C-8B5B8D79E33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177425" y="5833025"/>
            <a:ext cx="455030" cy="291219"/>
          </a:xfrm>
          <a:prstGeom prst="rect">
            <a:avLst/>
          </a:prstGeom>
        </p:spPr>
      </p:pic>
      <p:pic>
        <p:nvPicPr>
          <p:cNvPr id="51" name="Picture 2">
            <a:extLst>
              <a:ext uri="{FF2B5EF4-FFF2-40B4-BE49-F238E27FC236}">
                <a16:creationId xmlns:a16="http://schemas.microsoft.com/office/drawing/2014/main" id="{19DF5C39-5D33-3137-1298-6D5424364D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5401" y="5831087"/>
            <a:ext cx="275968" cy="27596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6" descr="アクセス, 2013年 無料 アイコン の Simply Styled Icons">
            <a:extLst>
              <a:ext uri="{FF2B5EF4-FFF2-40B4-BE49-F238E27FC236}">
                <a16:creationId xmlns:a16="http://schemas.microsoft.com/office/drawing/2014/main" id="{0E0175FA-09FA-AAED-0930-1B08E1D448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3185" y="5772192"/>
            <a:ext cx="121666" cy="121666"/>
          </a:xfrm>
          <a:prstGeom prst="rect">
            <a:avLst/>
          </a:prstGeom>
          <a:noFill/>
          <a:extLst>
            <a:ext uri="{909E8E84-426E-40DD-AFC4-6F175D3DCCD1}">
              <a14:hiddenFill xmlns:a14="http://schemas.microsoft.com/office/drawing/2010/main">
                <a:solidFill>
                  <a:srgbClr val="FFFFFF"/>
                </a:solidFill>
              </a14:hiddenFill>
            </a:ext>
          </a:extLst>
        </p:spPr>
      </p:pic>
      <p:sp>
        <p:nvSpPr>
          <p:cNvPr id="53" name="矢印: 右 52">
            <a:extLst>
              <a:ext uri="{FF2B5EF4-FFF2-40B4-BE49-F238E27FC236}">
                <a16:creationId xmlns:a16="http://schemas.microsoft.com/office/drawing/2014/main" id="{D1971128-1028-D816-890F-2D2C3D1092E7}"/>
              </a:ext>
            </a:extLst>
          </p:cNvPr>
          <p:cNvSpPr/>
          <p:nvPr/>
        </p:nvSpPr>
        <p:spPr>
          <a:xfrm flipH="1">
            <a:off x="3213962" y="6069103"/>
            <a:ext cx="387153" cy="2912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1A0A00A9-C9C8-F23E-47F3-F1FC287FCD2B}"/>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597642" y="5901163"/>
            <a:ext cx="271877" cy="388158"/>
          </a:xfrm>
          <a:prstGeom prst="rect">
            <a:avLst/>
          </a:prstGeom>
        </p:spPr>
      </p:pic>
      <p:sp>
        <p:nvSpPr>
          <p:cNvPr id="5" name="タイトル 1">
            <a:extLst>
              <a:ext uri="{FF2B5EF4-FFF2-40B4-BE49-F238E27FC236}">
                <a16:creationId xmlns:a16="http://schemas.microsoft.com/office/drawing/2014/main" id="{9F5FE706-B2DB-5ADA-ABD4-E7D498E21BCD}"/>
              </a:ext>
            </a:extLst>
          </p:cNvPr>
          <p:cNvSpPr txBox="1">
            <a:spLocks/>
          </p:cNvSpPr>
          <p:nvPr/>
        </p:nvSpPr>
        <p:spPr>
          <a:xfrm>
            <a:off x="213394" y="1296605"/>
            <a:ext cx="5138292" cy="465509"/>
          </a:xfrm>
          <a:prstGeom prst="rect">
            <a:avLst/>
          </a:prstGeom>
        </p:spPr>
        <p:txBody>
          <a:bodyPr vert="horz" lIns="91440" tIns="45720" rIns="91440" bIns="45720" rtlCol="0" anchor="t">
            <a:normAutofit fontScale="97500" lnSpcReduction="10000"/>
          </a:bodyPr>
          <a:lstStyle>
            <a:lvl1pPr algn="l" defTabSz="342900" rtl="0" eaLnBrk="1" latinLnBrk="0" hangingPunct="1">
              <a:spcBef>
                <a:spcPct val="0"/>
              </a:spcBef>
              <a:buNone/>
              <a:defRPr kumimoji="1" sz="27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dirty="0"/>
              <a:t>1.</a:t>
            </a:r>
            <a:r>
              <a:rPr lang="ja-JP" altLang="en-US" dirty="0"/>
              <a:t> </a:t>
            </a:r>
            <a:r>
              <a:rPr lang="en-US" altLang="ja-JP" dirty="0"/>
              <a:t>Multi-User</a:t>
            </a:r>
            <a:r>
              <a:rPr lang="ja-JP" altLang="en-US" dirty="0"/>
              <a:t> </a:t>
            </a:r>
            <a:r>
              <a:rPr lang="en-US" altLang="ja-JP" dirty="0"/>
              <a:t>Support</a:t>
            </a:r>
            <a:endParaRPr lang="ja-JP" altLang="en-US" dirty="0"/>
          </a:p>
        </p:txBody>
      </p:sp>
    </p:spTree>
    <p:extLst>
      <p:ext uri="{BB962C8B-B14F-4D97-AF65-F5344CB8AC3E}">
        <p14:creationId xmlns:p14="http://schemas.microsoft.com/office/powerpoint/2010/main" val="3514916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B2B823-AFC5-6A4E-35F4-28FD3E098BB2}"/>
              </a:ext>
            </a:extLst>
          </p:cNvPr>
          <p:cNvSpPr>
            <a:spLocks noGrp="1"/>
          </p:cNvSpPr>
          <p:nvPr>
            <p:ph type="title"/>
          </p:nvPr>
        </p:nvSpPr>
        <p:spPr>
          <a:xfrm>
            <a:off x="457200" y="880533"/>
            <a:ext cx="4760785" cy="452967"/>
          </a:xfrm>
        </p:spPr>
        <p:txBody>
          <a:bodyPr>
            <a:normAutofit fontScale="90000"/>
          </a:bodyPr>
          <a:lstStyle/>
          <a:p>
            <a:r>
              <a:rPr kumimoji="1" lang="en-US" altLang="ja-JP" dirty="0"/>
              <a:t>2.</a:t>
            </a:r>
            <a:r>
              <a:rPr kumimoji="1" lang="ja-JP" altLang="en-US" dirty="0"/>
              <a:t>　</a:t>
            </a:r>
            <a:r>
              <a:rPr kumimoji="1" lang="en-US" altLang="ja-JP" dirty="0"/>
              <a:t>Low-Code</a:t>
            </a:r>
            <a:r>
              <a:rPr kumimoji="1" lang="ja-JP" altLang="en-US" dirty="0"/>
              <a:t> </a:t>
            </a:r>
            <a:r>
              <a:rPr kumimoji="1" lang="en-US" altLang="ja-JP" dirty="0"/>
              <a:t>Development</a:t>
            </a:r>
            <a:endParaRPr kumimoji="1" lang="ja-JP" altLang="en-US" dirty="0"/>
          </a:p>
        </p:txBody>
      </p:sp>
      <p:pic>
        <p:nvPicPr>
          <p:cNvPr id="5" name="コンテンツ プレースホルダー 3">
            <a:extLst>
              <a:ext uri="{FF2B5EF4-FFF2-40B4-BE49-F238E27FC236}">
                <a16:creationId xmlns:a16="http://schemas.microsoft.com/office/drawing/2014/main" id="{4CE4CCA1-1DC1-A4D7-EDF7-7EEB8803EA28}"/>
              </a:ext>
            </a:extLst>
          </p:cNvPr>
          <p:cNvPicPr>
            <a:picLocks noChangeAspect="1"/>
          </p:cNvPicPr>
          <p:nvPr/>
        </p:nvPicPr>
        <p:blipFill rotWithShape="1">
          <a:blip r:embed="rId2"/>
          <a:srcRect l="28243" t="20388" r="25331" b="40713"/>
          <a:stretch/>
        </p:blipFill>
        <p:spPr>
          <a:xfrm>
            <a:off x="1168485" y="4404768"/>
            <a:ext cx="3434591" cy="1564177"/>
          </a:xfrm>
          <a:prstGeom prst="rect">
            <a:avLst/>
          </a:prstGeom>
        </p:spPr>
      </p:pic>
      <p:sp>
        <p:nvSpPr>
          <p:cNvPr id="6" name="テキスト ボックス 5">
            <a:extLst>
              <a:ext uri="{FF2B5EF4-FFF2-40B4-BE49-F238E27FC236}">
                <a16:creationId xmlns:a16="http://schemas.microsoft.com/office/drawing/2014/main" id="{41180BB3-E358-776D-07D0-545BDE61E198}"/>
              </a:ext>
            </a:extLst>
          </p:cNvPr>
          <p:cNvSpPr txBox="1"/>
          <p:nvPr/>
        </p:nvSpPr>
        <p:spPr>
          <a:xfrm>
            <a:off x="1538898" y="4581653"/>
            <a:ext cx="1166202" cy="24820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013" dirty="0"/>
              <a:t>Record filtering</a:t>
            </a:r>
            <a:endParaRPr kumimoji="1" lang="ja-JP" altLang="en-US" sz="1013" dirty="0"/>
          </a:p>
        </p:txBody>
      </p:sp>
      <p:sp>
        <p:nvSpPr>
          <p:cNvPr id="7" name="テキスト ボックス 6">
            <a:extLst>
              <a:ext uri="{FF2B5EF4-FFF2-40B4-BE49-F238E27FC236}">
                <a16:creationId xmlns:a16="http://schemas.microsoft.com/office/drawing/2014/main" id="{F5E3C80E-D11D-F5E8-F7B0-BA4EA5262AAD}"/>
              </a:ext>
            </a:extLst>
          </p:cNvPr>
          <p:cNvSpPr txBox="1"/>
          <p:nvPr/>
        </p:nvSpPr>
        <p:spPr>
          <a:xfrm>
            <a:off x="1881845" y="5683762"/>
            <a:ext cx="2736850" cy="24820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013" dirty="0"/>
              <a:t>Color-coding of editable/non-editable cells.</a:t>
            </a:r>
            <a:endParaRPr kumimoji="1" lang="ja-JP" altLang="en-US" sz="1013" dirty="0"/>
          </a:p>
        </p:txBody>
      </p:sp>
      <p:sp>
        <p:nvSpPr>
          <p:cNvPr id="8" name="テキスト ボックス 7">
            <a:extLst>
              <a:ext uri="{FF2B5EF4-FFF2-40B4-BE49-F238E27FC236}">
                <a16:creationId xmlns:a16="http://schemas.microsoft.com/office/drawing/2014/main" id="{C1DBB4DE-EBB3-0F10-5049-DFFB4FB283A1}"/>
              </a:ext>
            </a:extLst>
          </p:cNvPr>
          <p:cNvSpPr txBox="1"/>
          <p:nvPr/>
        </p:nvSpPr>
        <p:spPr>
          <a:xfrm>
            <a:off x="3128573" y="4265240"/>
            <a:ext cx="1379927" cy="24820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013" dirty="0"/>
              <a:t>Screen-flaw control</a:t>
            </a:r>
            <a:endParaRPr kumimoji="1" lang="ja-JP" altLang="en-US" sz="1013" dirty="0"/>
          </a:p>
        </p:txBody>
      </p:sp>
      <p:sp>
        <p:nvSpPr>
          <p:cNvPr id="9" name="テキスト ボックス 8">
            <a:extLst>
              <a:ext uri="{FF2B5EF4-FFF2-40B4-BE49-F238E27FC236}">
                <a16:creationId xmlns:a16="http://schemas.microsoft.com/office/drawing/2014/main" id="{33CD8378-7D1C-629D-04FC-47C03E24AE5F}"/>
              </a:ext>
            </a:extLst>
          </p:cNvPr>
          <p:cNvSpPr txBox="1"/>
          <p:nvPr/>
        </p:nvSpPr>
        <p:spPr>
          <a:xfrm>
            <a:off x="3465477" y="4865387"/>
            <a:ext cx="1043023" cy="24820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013" dirty="0"/>
              <a:t>Saving updates</a:t>
            </a:r>
            <a:endParaRPr kumimoji="1" lang="ja-JP" altLang="en-US" sz="1013" dirty="0"/>
          </a:p>
        </p:txBody>
      </p:sp>
      <p:sp>
        <p:nvSpPr>
          <p:cNvPr id="11" name="テキスト ボックス 10">
            <a:extLst>
              <a:ext uri="{FF2B5EF4-FFF2-40B4-BE49-F238E27FC236}">
                <a16:creationId xmlns:a16="http://schemas.microsoft.com/office/drawing/2014/main" id="{29A3F5AD-9E7C-E936-6C25-5BBD0CA5AFE5}"/>
              </a:ext>
            </a:extLst>
          </p:cNvPr>
          <p:cNvSpPr txBox="1"/>
          <p:nvPr/>
        </p:nvSpPr>
        <p:spPr>
          <a:xfrm>
            <a:off x="2109271" y="6424957"/>
            <a:ext cx="1078429" cy="24820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013" dirty="0"/>
              <a:t>Required Code.</a:t>
            </a:r>
            <a:endParaRPr kumimoji="1" lang="ja-JP" altLang="en-US" sz="1013" dirty="0"/>
          </a:p>
        </p:txBody>
      </p:sp>
      <p:sp>
        <p:nvSpPr>
          <p:cNvPr id="13" name="テキスト ボックス 12">
            <a:extLst>
              <a:ext uri="{FF2B5EF4-FFF2-40B4-BE49-F238E27FC236}">
                <a16:creationId xmlns:a16="http://schemas.microsoft.com/office/drawing/2014/main" id="{458A92ED-72A4-5963-B8F4-9A298F3969CC}"/>
              </a:ext>
            </a:extLst>
          </p:cNvPr>
          <p:cNvSpPr txBox="1"/>
          <p:nvPr/>
        </p:nvSpPr>
        <p:spPr>
          <a:xfrm>
            <a:off x="150432" y="1598849"/>
            <a:ext cx="6199676" cy="1869743"/>
          </a:xfrm>
          <a:prstGeom prst="rect">
            <a:avLst/>
          </a:prstGeom>
          <a:noFill/>
        </p:spPr>
        <p:txBody>
          <a:bodyPr wrap="square" rtlCol="0">
            <a:spAutoFit/>
          </a:bodyPr>
          <a:lstStyle/>
          <a:p>
            <a:r>
              <a:rPr lang="en-US" altLang="ja-JP" sz="1050" dirty="0"/>
              <a:t>Using ALAYA’s built‑in functions enables </a:t>
            </a:r>
            <a:r>
              <a:rPr lang="en-US" altLang="ja-JP" sz="1050" b="1" dirty="0"/>
              <a:t>low‑code development</a:t>
            </a:r>
            <a:r>
              <a:rPr lang="en-US" altLang="ja-JP" sz="1050" dirty="0"/>
              <a:t>. For example, in a standard form, simply calling the initialization function provides the following features:</a:t>
            </a:r>
          </a:p>
          <a:p>
            <a:endParaRPr lang="en-US" altLang="ja-JP" sz="1050" dirty="0"/>
          </a:p>
          <a:p>
            <a:r>
              <a:rPr lang="ja-JP" altLang="en-US" sz="1050" dirty="0"/>
              <a:t> </a:t>
            </a:r>
            <a:r>
              <a:rPr lang="en-US" altLang="ja-JP" sz="1050" dirty="0"/>
              <a:t>1.</a:t>
            </a:r>
            <a:r>
              <a:rPr lang="ja-JP" altLang="en-US" sz="1050" dirty="0"/>
              <a:t> </a:t>
            </a:r>
            <a:r>
              <a:rPr lang="en-US" altLang="ja-JP" sz="1050" dirty="0"/>
              <a:t>Color‑coding of editable and non‑editable cells</a:t>
            </a:r>
          </a:p>
          <a:p>
            <a:r>
              <a:rPr lang="ja-JP" altLang="en-US" sz="1050" dirty="0"/>
              <a:t> </a:t>
            </a:r>
            <a:r>
              <a:rPr lang="en-US" altLang="ja-JP" sz="1050" dirty="0"/>
              <a:t>2.</a:t>
            </a:r>
            <a:r>
              <a:rPr lang="ja-JP" altLang="en-US" sz="1050" dirty="0"/>
              <a:t> </a:t>
            </a:r>
            <a:r>
              <a:rPr lang="en-US" altLang="ja-JP" sz="1050" dirty="0"/>
              <a:t>Color‑coding of updated and deleted rows</a:t>
            </a:r>
          </a:p>
          <a:p>
            <a:r>
              <a:rPr lang="ja-JP" altLang="en-US" sz="1050" dirty="0"/>
              <a:t> </a:t>
            </a:r>
            <a:r>
              <a:rPr lang="en-US" altLang="ja-JP" sz="1050" dirty="0"/>
              <a:t>3.</a:t>
            </a:r>
            <a:r>
              <a:rPr lang="ja-JP" altLang="en-US" sz="1050" dirty="0"/>
              <a:t> </a:t>
            </a:r>
            <a:r>
              <a:rPr lang="en-US" altLang="ja-JP" sz="1050" dirty="0"/>
              <a:t>Record filtering</a:t>
            </a:r>
          </a:p>
          <a:p>
            <a:r>
              <a:rPr lang="ja-JP" altLang="en-US" sz="1050" dirty="0"/>
              <a:t> </a:t>
            </a:r>
            <a:r>
              <a:rPr lang="en-US" altLang="ja-JP" sz="1050" dirty="0"/>
              <a:t>4.</a:t>
            </a:r>
            <a:r>
              <a:rPr lang="ja-JP" altLang="en-US" sz="1050" dirty="0"/>
              <a:t> </a:t>
            </a:r>
            <a:r>
              <a:rPr lang="en-US" altLang="ja-JP" sz="1050" dirty="0"/>
              <a:t>Screen‑flow control (Save, Close, Export to Excel, etc.)</a:t>
            </a:r>
          </a:p>
          <a:p>
            <a:r>
              <a:rPr lang="ja-JP" altLang="en-US" sz="1050" dirty="0"/>
              <a:t> </a:t>
            </a:r>
            <a:r>
              <a:rPr lang="en-US" altLang="ja-JP" sz="1050" dirty="0"/>
              <a:t>5.</a:t>
            </a:r>
            <a:r>
              <a:rPr lang="ja-JP" altLang="en-US" sz="1050" dirty="0"/>
              <a:t> </a:t>
            </a:r>
            <a:r>
              <a:rPr lang="en-US" altLang="ja-JP" sz="1050" dirty="0"/>
              <a:t>Saving updated or newly added records</a:t>
            </a:r>
          </a:p>
          <a:p>
            <a:endParaRPr lang="en-US" altLang="ja-JP" sz="1050" dirty="0"/>
          </a:p>
          <a:p>
            <a:r>
              <a:rPr lang="en-US" altLang="ja-JP" sz="1050" dirty="0"/>
              <a:t>Because developers can focus on business logic rather than boilerplate code, </a:t>
            </a:r>
            <a:r>
              <a:rPr lang="en-US" altLang="ja-JP" sz="1050" b="1" dirty="0"/>
              <a:t>code readability improves and maintainability increases</a:t>
            </a:r>
            <a:r>
              <a:rPr lang="en-US" altLang="ja-JP" sz="1050" dirty="0"/>
              <a:t>.</a:t>
            </a:r>
          </a:p>
        </p:txBody>
      </p:sp>
      <p:sp>
        <p:nvSpPr>
          <p:cNvPr id="14" name="楕円 13">
            <a:extLst>
              <a:ext uri="{FF2B5EF4-FFF2-40B4-BE49-F238E27FC236}">
                <a16:creationId xmlns:a16="http://schemas.microsoft.com/office/drawing/2014/main" id="{2A0D9F3A-27EF-E26A-7248-CACD06E9C07E}"/>
              </a:ext>
            </a:extLst>
          </p:cNvPr>
          <p:cNvSpPr/>
          <p:nvPr/>
        </p:nvSpPr>
        <p:spPr>
          <a:xfrm>
            <a:off x="1500545" y="4817670"/>
            <a:ext cx="608726" cy="1572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15" name="楕円 14">
            <a:extLst>
              <a:ext uri="{FF2B5EF4-FFF2-40B4-BE49-F238E27FC236}">
                <a16:creationId xmlns:a16="http://schemas.microsoft.com/office/drawing/2014/main" id="{7E03A76F-09E4-AE54-BC72-A46C10386396}"/>
              </a:ext>
            </a:extLst>
          </p:cNvPr>
          <p:cNvSpPr/>
          <p:nvPr/>
        </p:nvSpPr>
        <p:spPr>
          <a:xfrm>
            <a:off x="2349463" y="4812042"/>
            <a:ext cx="923801" cy="1572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16" name="楕円 15">
            <a:extLst>
              <a:ext uri="{FF2B5EF4-FFF2-40B4-BE49-F238E27FC236}">
                <a16:creationId xmlns:a16="http://schemas.microsoft.com/office/drawing/2014/main" id="{915A0513-61A8-6A2B-4889-BAA1CC4E9C53}"/>
              </a:ext>
            </a:extLst>
          </p:cNvPr>
          <p:cNvSpPr/>
          <p:nvPr/>
        </p:nvSpPr>
        <p:spPr>
          <a:xfrm>
            <a:off x="2811363" y="4533908"/>
            <a:ext cx="1595269" cy="1572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cxnSp>
        <p:nvCxnSpPr>
          <p:cNvPr id="24" name="直線コネクタ 23">
            <a:extLst>
              <a:ext uri="{FF2B5EF4-FFF2-40B4-BE49-F238E27FC236}">
                <a16:creationId xmlns:a16="http://schemas.microsoft.com/office/drawing/2014/main" id="{53A45FFC-5CE4-CDD1-42A3-E6CF51C57829}"/>
              </a:ext>
            </a:extLst>
          </p:cNvPr>
          <p:cNvCxnSpPr>
            <a:cxnSpLocks/>
          </p:cNvCxnSpPr>
          <p:nvPr/>
        </p:nvCxnSpPr>
        <p:spPr>
          <a:xfrm>
            <a:off x="818389" y="3591132"/>
            <a:ext cx="4160071"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矢印: 下 43">
            <a:extLst>
              <a:ext uri="{FF2B5EF4-FFF2-40B4-BE49-F238E27FC236}">
                <a16:creationId xmlns:a16="http://schemas.microsoft.com/office/drawing/2014/main" id="{F821A376-8CEB-1AF2-689E-3F8DB09909E9}"/>
              </a:ext>
            </a:extLst>
          </p:cNvPr>
          <p:cNvSpPr/>
          <p:nvPr/>
        </p:nvSpPr>
        <p:spPr>
          <a:xfrm>
            <a:off x="2475646" y="6083124"/>
            <a:ext cx="539195" cy="2324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D790AF36-5527-87A7-3522-4B77BF65C28F}"/>
              </a:ext>
            </a:extLst>
          </p:cNvPr>
          <p:cNvPicPr>
            <a:picLocks noChangeAspect="1"/>
          </p:cNvPicPr>
          <p:nvPr/>
        </p:nvPicPr>
        <p:blipFill>
          <a:blip r:embed="rId3"/>
          <a:srcRect b="21078"/>
          <a:stretch>
            <a:fillRect/>
          </a:stretch>
        </p:blipFill>
        <p:spPr>
          <a:xfrm>
            <a:off x="1572153" y="6782580"/>
            <a:ext cx="2640002" cy="1953749"/>
          </a:xfrm>
          <a:prstGeom prst="rect">
            <a:avLst/>
          </a:prstGeom>
        </p:spPr>
      </p:pic>
    </p:spTree>
    <p:extLst>
      <p:ext uri="{BB962C8B-B14F-4D97-AF65-F5344CB8AC3E}">
        <p14:creationId xmlns:p14="http://schemas.microsoft.com/office/powerpoint/2010/main" val="223996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D8121F-D6E9-BE24-4FB7-D41DD0198D1F}"/>
              </a:ext>
            </a:extLst>
          </p:cNvPr>
          <p:cNvSpPr>
            <a:spLocks noGrp="1"/>
          </p:cNvSpPr>
          <p:nvPr>
            <p:ph type="title"/>
          </p:nvPr>
        </p:nvSpPr>
        <p:spPr>
          <a:xfrm>
            <a:off x="255546" y="566530"/>
            <a:ext cx="6112324" cy="424220"/>
          </a:xfrm>
        </p:spPr>
        <p:txBody>
          <a:bodyPr>
            <a:noAutofit/>
          </a:bodyPr>
          <a:lstStyle/>
          <a:p>
            <a:r>
              <a:rPr kumimoji="1" lang="en-US" altLang="ja-JP" sz="2000" dirty="0"/>
              <a:t>3. Versioning and Development Management</a:t>
            </a:r>
            <a:endParaRPr kumimoji="1" lang="ja-JP" altLang="en-US" sz="2000" dirty="0"/>
          </a:p>
        </p:txBody>
      </p:sp>
      <p:sp>
        <p:nvSpPr>
          <p:cNvPr id="13" name="テキスト ボックス 12">
            <a:extLst>
              <a:ext uri="{FF2B5EF4-FFF2-40B4-BE49-F238E27FC236}">
                <a16:creationId xmlns:a16="http://schemas.microsoft.com/office/drawing/2014/main" id="{458A92ED-72A4-5963-B8F4-9A298F3969CC}"/>
              </a:ext>
            </a:extLst>
          </p:cNvPr>
          <p:cNvSpPr txBox="1"/>
          <p:nvPr/>
        </p:nvSpPr>
        <p:spPr>
          <a:xfrm>
            <a:off x="450989" y="1323605"/>
            <a:ext cx="5016361" cy="1702454"/>
          </a:xfrm>
          <a:prstGeom prst="rect">
            <a:avLst/>
          </a:prstGeom>
          <a:noFill/>
        </p:spPr>
        <p:txBody>
          <a:bodyPr wrap="square" rtlCol="0">
            <a:spAutoFit/>
          </a:bodyPr>
          <a:lstStyle/>
          <a:p>
            <a:r>
              <a:rPr lang="en-US" altLang="ja-JP" sz="1050" dirty="0"/>
              <a:t>Adding new features to user modules is essential. </a:t>
            </a:r>
          </a:p>
          <a:p>
            <a:endParaRPr lang="en-US" altLang="ja-JP" sz="1050" dirty="0"/>
          </a:p>
          <a:p>
            <a:r>
              <a:rPr lang="en-US" altLang="ja-JP" sz="1050" dirty="0"/>
              <a:t>ALAYA assumes </a:t>
            </a:r>
            <a:r>
              <a:rPr lang="en-US" altLang="ja-JP" sz="1050" b="1" dirty="0"/>
              <a:t>frequent version updates</a:t>
            </a:r>
            <a:r>
              <a:rPr lang="en-US" altLang="ja-JP" sz="1050" dirty="0"/>
              <a:t> typical of RAD (Rapid Application Development). Therefore, it provides mechanisms for:</a:t>
            </a:r>
          </a:p>
          <a:p>
            <a:pPr marL="171450" indent="-171450">
              <a:buFont typeface="Arial" panose="020B0604020202020204" pitchFamily="34" charset="0"/>
              <a:buChar char="•"/>
            </a:pPr>
            <a:r>
              <a:rPr lang="en-US" altLang="ja-JP" sz="1050" dirty="0"/>
              <a:t>Module updates</a:t>
            </a:r>
          </a:p>
          <a:p>
            <a:pPr marL="171450" indent="-171450">
              <a:buFont typeface="Arial" panose="020B0604020202020204" pitchFamily="34" charset="0"/>
              <a:buChar char="•"/>
            </a:pPr>
            <a:r>
              <a:rPr lang="en-US" altLang="ja-JP" sz="1050" dirty="0"/>
              <a:t>Version management</a:t>
            </a:r>
          </a:p>
          <a:p>
            <a:pPr marL="171450" indent="-171450">
              <a:buFont typeface="Arial" panose="020B0604020202020204" pitchFamily="34" charset="0"/>
              <a:buChar char="•"/>
            </a:pPr>
            <a:r>
              <a:rPr lang="en-US" altLang="ja-JP" sz="1050" dirty="0"/>
              <a:t>Automatic distribution of updated modules to clients</a:t>
            </a:r>
          </a:p>
          <a:p>
            <a:pPr marL="171450" indent="-171450">
              <a:buFont typeface="Arial" panose="020B0604020202020204" pitchFamily="34" charset="0"/>
              <a:buChar char="•"/>
            </a:pPr>
            <a:endParaRPr lang="en-US" altLang="ja-JP" sz="1050" dirty="0"/>
          </a:p>
          <a:p>
            <a:r>
              <a:rPr lang="en-US" altLang="ja-JP" sz="1050" dirty="0"/>
              <a:t>This ensures smooth deployment and consistent operation across all users.</a:t>
            </a:r>
          </a:p>
          <a:p>
            <a:endParaRPr lang="en-US" altLang="ja-JP" sz="1013" dirty="0"/>
          </a:p>
        </p:txBody>
      </p:sp>
      <p:sp>
        <p:nvSpPr>
          <p:cNvPr id="3" name="吹き出し: 角を丸めた四角形 2">
            <a:extLst>
              <a:ext uri="{FF2B5EF4-FFF2-40B4-BE49-F238E27FC236}">
                <a16:creationId xmlns:a16="http://schemas.microsoft.com/office/drawing/2014/main" id="{A3F7661B-5DB7-3F1A-669E-A5E36412FD83}"/>
              </a:ext>
            </a:extLst>
          </p:cNvPr>
          <p:cNvSpPr/>
          <p:nvPr/>
        </p:nvSpPr>
        <p:spPr>
          <a:xfrm>
            <a:off x="1901547" y="3525121"/>
            <a:ext cx="1255307" cy="983386"/>
          </a:xfrm>
          <a:prstGeom prst="wedgeRoundRectCallout">
            <a:avLst>
              <a:gd name="adj1" fmla="val -64111"/>
              <a:gd name="adj2" fmla="val 2941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pic>
        <p:nvPicPr>
          <p:cNvPr id="4" name="図 3">
            <a:extLst>
              <a:ext uri="{FF2B5EF4-FFF2-40B4-BE49-F238E27FC236}">
                <a16:creationId xmlns:a16="http://schemas.microsoft.com/office/drawing/2014/main" id="{1F392021-0DE2-A32A-565A-FADC5115A536}"/>
              </a:ext>
            </a:extLst>
          </p:cNvPr>
          <p:cNvPicPr>
            <a:picLocks noChangeAspect="1"/>
          </p:cNvPicPr>
          <p:nvPr/>
        </p:nvPicPr>
        <p:blipFill>
          <a:blip r:embed="rId2"/>
          <a:stretch>
            <a:fillRect/>
          </a:stretch>
        </p:blipFill>
        <p:spPr>
          <a:xfrm>
            <a:off x="2013254" y="3594579"/>
            <a:ext cx="150787" cy="131938"/>
          </a:xfrm>
          <a:prstGeom prst="rect">
            <a:avLst/>
          </a:prstGeom>
        </p:spPr>
      </p:pic>
      <p:cxnSp>
        <p:nvCxnSpPr>
          <p:cNvPr id="5" name="直線コネクタ 4">
            <a:extLst>
              <a:ext uri="{FF2B5EF4-FFF2-40B4-BE49-F238E27FC236}">
                <a16:creationId xmlns:a16="http://schemas.microsoft.com/office/drawing/2014/main" id="{68D30F41-4777-B72A-EDB6-8F2C9E2FB58F}"/>
              </a:ext>
            </a:extLst>
          </p:cNvPr>
          <p:cNvCxnSpPr>
            <a:cxnSpLocks/>
          </p:cNvCxnSpPr>
          <p:nvPr/>
        </p:nvCxnSpPr>
        <p:spPr>
          <a:xfrm>
            <a:off x="3634641" y="4377792"/>
            <a:ext cx="2191" cy="213513"/>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56D0224F-EC47-4959-1C97-01510237641A}"/>
              </a:ext>
            </a:extLst>
          </p:cNvPr>
          <p:cNvCxnSpPr>
            <a:cxnSpLocks/>
          </p:cNvCxnSpPr>
          <p:nvPr/>
        </p:nvCxnSpPr>
        <p:spPr>
          <a:xfrm>
            <a:off x="4387171" y="4370469"/>
            <a:ext cx="2191" cy="213513"/>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図 6" descr="グラフィカル ユーザー インターフェイス&#10;&#10;自動的に生成された説明">
            <a:extLst>
              <a:ext uri="{FF2B5EF4-FFF2-40B4-BE49-F238E27FC236}">
                <a16:creationId xmlns:a16="http://schemas.microsoft.com/office/drawing/2014/main" id="{A3DEA3EC-163A-9ECB-3B93-9A560AF8C3A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455705" y="4056913"/>
            <a:ext cx="455030" cy="291219"/>
          </a:xfrm>
          <a:prstGeom prst="rect">
            <a:avLst/>
          </a:prstGeom>
        </p:spPr>
      </p:pic>
      <p:sp>
        <p:nvSpPr>
          <p:cNvPr id="8" name="吹き出し: 角を丸めた四角形 7">
            <a:extLst>
              <a:ext uri="{FF2B5EF4-FFF2-40B4-BE49-F238E27FC236}">
                <a16:creationId xmlns:a16="http://schemas.microsoft.com/office/drawing/2014/main" id="{6BC7D539-21F9-7165-4E0C-C36D06E7E7A0}"/>
              </a:ext>
            </a:extLst>
          </p:cNvPr>
          <p:cNvSpPr/>
          <p:nvPr/>
        </p:nvSpPr>
        <p:spPr>
          <a:xfrm>
            <a:off x="3598615" y="3709256"/>
            <a:ext cx="977023" cy="279893"/>
          </a:xfrm>
          <a:prstGeom prst="wedgeRoundRectCallout">
            <a:avLst>
              <a:gd name="adj1" fmla="val -34452"/>
              <a:gd name="adj2" fmla="val 6578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pic>
        <p:nvPicPr>
          <p:cNvPr id="9" name="図 8">
            <a:extLst>
              <a:ext uri="{FF2B5EF4-FFF2-40B4-BE49-F238E27FC236}">
                <a16:creationId xmlns:a16="http://schemas.microsoft.com/office/drawing/2014/main" id="{34A558F2-9A79-B384-3FBE-2E7C1F8D98C2}"/>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410340" y="4018482"/>
            <a:ext cx="233025" cy="360116"/>
          </a:xfrm>
          <a:prstGeom prst="rect">
            <a:avLst/>
          </a:prstGeom>
        </p:spPr>
      </p:pic>
      <p:sp>
        <p:nvSpPr>
          <p:cNvPr id="10" name="テキスト ボックス 9">
            <a:extLst>
              <a:ext uri="{FF2B5EF4-FFF2-40B4-BE49-F238E27FC236}">
                <a16:creationId xmlns:a16="http://schemas.microsoft.com/office/drawing/2014/main" id="{BAA89A8B-51A4-976C-B4F6-4AA71FEAA904}"/>
              </a:ext>
            </a:extLst>
          </p:cNvPr>
          <p:cNvSpPr txBox="1"/>
          <p:nvPr/>
        </p:nvSpPr>
        <p:spPr>
          <a:xfrm>
            <a:off x="1108420" y="3692012"/>
            <a:ext cx="719514" cy="196208"/>
          </a:xfrm>
          <a:prstGeom prst="rect">
            <a:avLst/>
          </a:prstGeom>
          <a:noFill/>
        </p:spPr>
        <p:txBody>
          <a:bodyPr wrap="square" rtlCol="0">
            <a:spAutoFit/>
          </a:bodyPr>
          <a:lstStyle/>
          <a:p>
            <a:pPr algn="ctr"/>
            <a:r>
              <a:rPr lang="en-US" altLang="ja-JP" sz="675" dirty="0"/>
              <a:t>File Server</a:t>
            </a:r>
            <a:endParaRPr lang="ja-JP" altLang="en-US" sz="563" dirty="0"/>
          </a:p>
        </p:txBody>
      </p:sp>
      <p:pic>
        <p:nvPicPr>
          <p:cNvPr id="11" name="図 10" descr="グラフィカル ユーザー インターフェイス&#10;&#10;自動的に生成された説明">
            <a:extLst>
              <a:ext uri="{FF2B5EF4-FFF2-40B4-BE49-F238E27FC236}">
                <a16:creationId xmlns:a16="http://schemas.microsoft.com/office/drawing/2014/main" id="{C44AB1BC-DCF0-81FA-AE2A-D914350C77F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213855" y="4079086"/>
            <a:ext cx="455030" cy="291219"/>
          </a:xfrm>
          <a:prstGeom prst="rect">
            <a:avLst/>
          </a:prstGeom>
        </p:spPr>
      </p:pic>
      <p:pic>
        <p:nvPicPr>
          <p:cNvPr id="12" name="図 11">
            <a:extLst>
              <a:ext uri="{FF2B5EF4-FFF2-40B4-BE49-F238E27FC236}">
                <a16:creationId xmlns:a16="http://schemas.microsoft.com/office/drawing/2014/main" id="{B1DA035B-5EF6-0064-57ED-265F4D21288F}"/>
              </a:ext>
            </a:extLst>
          </p:cNvPr>
          <p:cNvPicPr>
            <a:picLocks noChangeAspect="1"/>
          </p:cNvPicPr>
          <p:nvPr/>
        </p:nvPicPr>
        <p:blipFill>
          <a:blip r:embed="rId7"/>
          <a:stretch>
            <a:fillRect/>
          </a:stretch>
        </p:blipFill>
        <p:spPr>
          <a:xfrm>
            <a:off x="3643216" y="3735650"/>
            <a:ext cx="153097" cy="179828"/>
          </a:xfrm>
          <a:prstGeom prst="rect">
            <a:avLst/>
          </a:prstGeom>
        </p:spPr>
      </p:pic>
      <p:sp>
        <p:nvSpPr>
          <p:cNvPr id="14" name="テキスト ボックス 13">
            <a:extLst>
              <a:ext uri="{FF2B5EF4-FFF2-40B4-BE49-F238E27FC236}">
                <a16:creationId xmlns:a16="http://schemas.microsoft.com/office/drawing/2014/main" id="{1122B6CF-4E77-075F-B7CA-0384DF853EAA}"/>
              </a:ext>
            </a:extLst>
          </p:cNvPr>
          <p:cNvSpPr txBox="1"/>
          <p:nvPr/>
        </p:nvSpPr>
        <p:spPr>
          <a:xfrm>
            <a:off x="3478286" y="3545098"/>
            <a:ext cx="1255306" cy="178960"/>
          </a:xfrm>
          <a:prstGeom prst="rect">
            <a:avLst/>
          </a:prstGeom>
          <a:noFill/>
        </p:spPr>
        <p:txBody>
          <a:bodyPr wrap="square" rtlCol="0">
            <a:spAutoFit/>
          </a:bodyPr>
          <a:lstStyle/>
          <a:p>
            <a:pPr algn="ctr"/>
            <a:r>
              <a:rPr lang="en-US" altLang="ja-JP" sz="563" dirty="0"/>
              <a:t>Script</a:t>
            </a:r>
            <a:r>
              <a:rPr lang="ja-JP" altLang="en-US" sz="563" dirty="0"/>
              <a:t>（</a:t>
            </a:r>
            <a:r>
              <a:rPr lang="en-US" altLang="ja-JP" sz="563" dirty="0"/>
              <a:t>Short</a:t>
            </a:r>
            <a:r>
              <a:rPr lang="ja-JP" altLang="en-US" sz="563" dirty="0"/>
              <a:t> </a:t>
            </a:r>
            <a:r>
              <a:rPr lang="en-US" altLang="ja-JP" sz="563" dirty="0"/>
              <a:t>cut)</a:t>
            </a:r>
          </a:p>
        </p:txBody>
      </p:sp>
      <p:cxnSp>
        <p:nvCxnSpPr>
          <p:cNvPr id="15" name="直線コネクタ 14">
            <a:extLst>
              <a:ext uri="{FF2B5EF4-FFF2-40B4-BE49-F238E27FC236}">
                <a16:creationId xmlns:a16="http://schemas.microsoft.com/office/drawing/2014/main" id="{90092DB9-8581-C434-DF75-92A61A0F7584}"/>
              </a:ext>
            </a:extLst>
          </p:cNvPr>
          <p:cNvCxnSpPr>
            <a:cxnSpLocks/>
          </p:cNvCxnSpPr>
          <p:nvPr/>
        </p:nvCxnSpPr>
        <p:spPr>
          <a:xfrm>
            <a:off x="1126635" y="4583981"/>
            <a:ext cx="3493604" cy="114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BE313BF7-CC90-65D2-EB67-5931AB95EC85}"/>
              </a:ext>
            </a:extLst>
          </p:cNvPr>
          <p:cNvCxnSpPr>
            <a:cxnSpLocks/>
            <a:stCxn id="9" idx="2"/>
          </p:cNvCxnSpPr>
          <p:nvPr/>
        </p:nvCxnSpPr>
        <p:spPr>
          <a:xfrm>
            <a:off x="1526853" y="4378598"/>
            <a:ext cx="0" cy="217157"/>
          </a:xfrm>
          <a:prstGeom prst="line">
            <a:avLst/>
          </a:prstGeom>
        </p:spPr>
        <p:style>
          <a:lnRef idx="1">
            <a:schemeClr val="accent1"/>
          </a:lnRef>
          <a:fillRef idx="0">
            <a:schemeClr val="accent1"/>
          </a:fillRef>
          <a:effectRef idx="0">
            <a:schemeClr val="accent1"/>
          </a:effectRef>
          <a:fontRef idx="minor">
            <a:schemeClr val="tx1"/>
          </a:fontRef>
        </p:style>
      </p:cxnSp>
      <p:pic>
        <p:nvPicPr>
          <p:cNvPr id="26" name="図 25">
            <a:extLst>
              <a:ext uri="{FF2B5EF4-FFF2-40B4-BE49-F238E27FC236}">
                <a16:creationId xmlns:a16="http://schemas.microsoft.com/office/drawing/2014/main" id="{E76D0283-A58B-AD90-E695-A0F1DB8451A2}"/>
              </a:ext>
            </a:extLst>
          </p:cNvPr>
          <p:cNvPicPr>
            <a:picLocks noChangeAspect="1"/>
          </p:cNvPicPr>
          <p:nvPr/>
        </p:nvPicPr>
        <p:blipFill>
          <a:blip r:embed="rId2"/>
          <a:stretch>
            <a:fillRect/>
          </a:stretch>
        </p:blipFill>
        <p:spPr>
          <a:xfrm>
            <a:off x="2213632" y="3768709"/>
            <a:ext cx="150787" cy="131938"/>
          </a:xfrm>
          <a:prstGeom prst="rect">
            <a:avLst/>
          </a:prstGeom>
        </p:spPr>
      </p:pic>
      <p:pic>
        <p:nvPicPr>
          <p:cNvPr id="27" name="図 26">
            <a:extLst>
              <a:ext uri="{FF2B5EF4-FFF2-40B4-BE49-F238E27FC236}">
                <a16:creationId xmlns:a16="http://schemas.microsoft.com/office/drawing/2014/main" id="{EE2BBD94-DF6B-FA4C-55EC-4786FAC3B272}"/>
              </a:ext>
            </a:extLst>
          </p:cNvPr>
          <p:cNvPicPr>
            <a:picLocks noChangeAspect="1"/>
          </p:cNvPicPr>
          <p:nvPr/>
        </p:nvPicPr>
        <p:blipFill>
          <a:blip r:embed="rId2"/>
          <a:stretch>
            <a:fillRect/>
          </a:stretch>
        </p:blipFill>
        <p:spPr>
          <a:xfrm>
            <a:off x="2213632" y="3948093"/>
            <a:ext cx="150787" cy="131938"/>
          </a:xfrm>
          <a:prstGeom prst="rect">
            <a:avLst/>
          </a:prstGeom>
        </p:spPr>
      </p:pic>
      <p:pic>
        <p:nvPicPr>
          <p:cNvPr id="28" name="図 27">
            <a:extLst>
              <a:ext uri="{FF2B5EF4-FFF2-40B4-BE49-F238E27FC236}">
                <a16:creationId xmlns:a16="http://schemas.microsoft.com/office/drawing/2014/main" id="{41B0F4FF-F785-D324-6462-D3058442166D}"/>
              </a:ext>
            </a:extLst>
          </p:cNvPr>
          <p:cNvPicPr>
            <a:picLocks noChangeAspect="1"/>
          </p:cNvPicPr>
          <p:nvPr/>
        </p:nvPicPr>
        <p:blipFill>
          <a:blip r:embed="rId2"/>
          <a:stretch>
            <a:fillRect/>
          </a:stretch>
        </p:blipFill>
        <p:spPr>
          <a:xfrm>
            <a:off x="2213845" y="4131410"/>
            <a:ext cx="150787" cy="131938"/>
          </a:xfrm>
          <a:prstGeom prst="rect">
            <a:avLst/>
          </a:prstGeom>
        </p:spPr>
      </p:pic>
      <p:sp>
        <p:nvSpPr>
          <p:cNvPr id="29" name="テキスト ボックス 28">
            <a:extLst>
              <a:ext uri="{FF2B5EF4-FFF2-40B4-BE49-F238E27FC236}">
                <a16:creationId xmlns:a16="http://schemas.microsoft.com/office/drawing/2014/main" id="{9260220D-69F3-5182-C2CA-3FB2362CBD2A}"/>
              </a:ext>
            </a:extLst>
          </p:cNvPr>
          <p:cNvSpPr txBox="1"/>
          <p:nvPr/>
        </p:nvSpPr>
        <p:spPr>
          <a:xfrm>
            <a:off x="2138499" y="3599994"/>
            <a:ext cx="925405" cy="265586"/>
          </a:xfrm>
          <a:prstGeom prst="rect">
            <a:avLst/>
          </a:prstGeom>
          <a:noFill/>
        </p:spPr>
        <p:txBody>
          <a:bodyPr wrap="square" rtlCol="0">
            <a:spAutoFit/>
          </a:bodyPr>
          <a:lstStyle/>
          <a:p>
            <a:r>
              <a:rPr lang="en-US" altLang="ja-JP" sz="563" dirty="0">
                <a:hlinkClick r:id="rId8" action="ppaction://hlinkfile"/>
              </a:rPr>
              <a:t>\\Server\</a:t>
            </a:r>
            <a:r>
              <a:rPr lang="en-US" altLang="ja-JP" sz="563" dirty="0"/>
              <a:t>AccessALAYA</a:t>
            </a:r>
            <a:endParaRPr lang="ja-JP" altLang="en-US" sz="563" dirty="0"/>
          </a:p>
        </p:txBody>
      </p:sp>
      <p:sp>
        <p:nvSpPr>
          <p:cNvPr id="39" name="テキスト ボックス 38">
            <a:extLst>
              <a:ext uri="{FF2B5EF4-FFF2-40B4-BE49-F238E27FC236}">
                <a16:creationId xmlns:a16="http://schemas.microsoft.com/office/drawing/2014/main" id="{A642DD5B-A968-868D-2FF1-93FE96234135}"/>
              </a:ext>
            </a:extLst>
          </p:cNvPr>
          <p:cNvSpPr txBox="1"/>
          <p:nvPr/>
        </p:nvSpPr>
        <p:spPr>
          <a:xfrm>
            <a:off x="2343308" y="3770729"/>
            <a:ext cx="656338" cy="178960"/>
          </a:xfrm>
          <a:prstGeom prst="rect">
            <a:avLst/>
          </a:prstGeom>
          <a:noFill/>
        </p:spPr>
        <p:txBody>
          <a:bodyPr wrap="square" rtlCol="0">
            <a:spAutoFit/>
          </a:bodyPr>
          <a:lstStyle/>
          <a:p>
            <a:r>
              <a:rPr lang="en-US" altLang="ja-JP" sz="563" dirty="0"/>
              <a:t>\ALAYADB</a:t>
            </a:r>
            <a:endParaRPr lang="ja-JP" altLang="en-US" sz="563" dirty="0"/>
          </a:p>
        </p:txBody>
      </p:sp>
      <p:sp>
        <p:nvSpPr>
          <p:cNvPr id="40" name="テキスト ボックス 39">
            <a:extLst>
              <a:ext uri="{FF2B5EF4-FFF2-40B4-BE49-F238E27FC236}">
                <a16:creationId xmlns:a16="http://schemas.microsoft.com/office/drawing/2014/main" id="{6909CB8F-2A77-C61F-8358-48A0B887D883}"/>
              </a:ext>
            </a:extLst>
          </p:cNvPr>
          <p:cNvSpPr txBox="1"/>
          <p:nvPr/>
        </p:nvSpPr>
        <p:spPr>
          <a:xfrm>
            <a:off x="2343308" y="3959447"/>
            <a:ext cx="662927" cy="178960"/>
          </a:xfrm>
          <a:prstGeom prst="rect">
            <a:avLst/>
          </a:prstGeom>
          <a:noFill/>
        </p:spPr>
        <p:txBody>
          <a:bodyPr wrap="square" rtlCol="0">
            <a:spAutoFit/>
          </a:bodyPr>
          <a:lstStyle/>
          <a:p>
            <a:r>
              <a:rPr lang="en-US" altLang="ja-JP" sz="563" dirty="0"/>
              <a:t>\</a:t>
            </a:r>
            <a:r>
              <a:rPr lang="en-US" altLang="ja-JP" sz="563" dirty="0" err="1"/>
              <a:t>ALAYAMenu</a:t>
            </a:r>
            <a:endParaRPr lang="ja-JP" altLang="en-US" sz="563" dirty="0"/>
          </a:p>
        </p:txBody>
      </p:sp>
      <p:sp>
        <p:nvSpPr>
          <p:cNvPr id="41" name="テキスト ボックス 40">
            <a:extLst>
              <a:ext uri="{FF2B5EF4-FFF2-40B4-BE49-F238E27FC236}">
                <a16:creationId xmlns:a16="http://schemas.microsoft.com/office/drawing/2014/main" id="{E1693433-233B-3447-9EBB-4D80F86601A8}"/>
              </a:ext>
            </a:extLst>
          </p:cNvPr>
          <p:cNvSpPr txBox="1"/>
          <p:nvPr/>
        </p:nvSpPr>
        <p:spPr>
          <a:xfrm>
            <a:off x="2332845" y="4146915"/>
            <a:ext cx="656338" cy="178960"/>
          </a:xfrm>
          <a:prstGeom prst="rect">
            <a:avLst/>
          </a:prstGeom>
          <a:noFill/>
        </p:spPr>
        <p:txBody>
          <a:bodyPr wrap="square" rtlCol="0">
            <a:spAutoFit/>
          </a:bodyPr>
          <a:lstStyle/>
          <a:p>
            <a:r>
              <a:rPr lang="en-US" altLang="ja-JP" sz="563" dirty="0"/>
              <a:t>\</a:t>
            </a:r>
            <a:r>
              <a:rPr lang="en-US" altLang="ja-JP" sz="563" dirty="0" err="1"/>
              <a:t>ALAYAScript</a:t>
            </a:r>
            <a:endParaRPr lang="ja-JP" altLang="en-US" sz="563" dirty="0"/>
          </a:p>
        </p:txBody>
      </p:sp>
      <p:sp>
        <p:nvSpPr>
          <p:cNvPr id="42" name="テキスト ボックス 41">
            <a:extLst>
              <a:ext uri="{FF2B5EF4-FFF2-40B4-BE49-F238E27FC236}">
                <a16:creationId xmlns:a16="http://schemas.microsoft.com/office/drawing/2014/main" id="{979466B6-D8DF-A36C-BAF9-C8B8F81D460D}"/>
              </a:ext>
            </a:extLst>
          </p:cNvPr>
          <p:cNvSpPr txBox="1"/>
          <p:nvPr/>
        </p:nvSpPr>
        <p:spPr>
          <a:xfrm>
            <a:off x="3754864" y="3743505"/>
            <a:ext cx="917982" cy="178960"/>
          </a:xfrm>
          <a:prstGeom prst="rect">
            <a:avLst/>
          </a:prstGeom>
          <a:noFill/>
        </p:spPr>
        <p:txBody>
          <a:bodyPr wrap="square" rtlCol="0">
            <a:spAutoFit/>
          </a:bodyPr>
          <a:lstStyle/>
          <a:p>
            <a:r>
              <a:rPr lang="en-US" altLang="ja-JP" sz="563" dirty="0"/>
              <a:t>ALAYA_Startup.vbs</a:t>
            </a:r>
          </a:p>
        </p:txBody>
      </p:sp>
      <p:pic>
        <p:nvPicPr>
          <p:cNvPr id="43" name="図 42">
            <a:extLst>
              <a:ext uri="{FF2B5EF4-FFF2-40B4-BE49-F238E27FC236}">
                <a16:creationId xmlns:a16="http://schemas.microsoft.com/office/drawing/2014/main" id="{07FE3B07-F881-3DD2-ED2D-61DA62AEF585}"/>
              </a:ext>
            </a:extLst>
          </p:cNvPr>
          <p:cNvPicPr>
            <a:picLocks noChangeAspect="1"/>
          </p:cNvPicPr>
          <p:nvPr/>
        </p:nvPicPr>
        <p:blipFill>
          <a:blip r:embed="rId2"/>
          <a:stretch>
            <a:fillRect/>
          </a:stretch>
        </p:blipFill>
        <p:spPr>
          <a:xfrm>
            <a:off x="2219342" y="4298209"/>
            <a:ext cx="150787" cy="131938"/>
          </a:xfrm>
          <a:prstGeom prst="rect">
            <a:avLst/>
          </a:prstGeom>
        </p:spPr>
      </p:pic>
      <p:sp>
        <p:nvSpPr>
          <p:cNvPr id="44" name="テキスト ボックス 43">
            <a:extLst>
              <a:ext uri="{FF2B5EF4-FFF2-40B4-BE49-F238E27FC236}">
                <a16:creationId xmlns:a16="http://schemas.microsoft.com/office/drawing/2014/main" id="{A06163D8-B987-4A5A-31E5-BD6147C10844}"/>
              </a:ext>
            </a:extLst>
          </p:cNvPr>
          <p:cNvSpPr txBox="1"/>
          <p:nvPr/>
        </p:nvSpPr>
        <p:spPr>
          <a:xfrm>
            <a:off x="2338341" y="4313714"/>
            <a:ext cx="656338" cy="178960"/>
          </a:xfrm>
          <a:prstGeom prst="rect">
            <a:avLst/>
          </a:prstGeom>
          <a:noFill/>
        </p:spPr>
        <p:txBody>
          <a:bodyPr wrap="square" rtlCol="0">
            <a:spAutoFit/>
          </a:bodyPr>
          <a:lstStyle/>
          <a:p>
            <a:r>
              <a:rPr lang="en-US" altLang="ja-JP" sz="563" dirty="0"/>
              <a:t>\</a:t>
            </a:r>
            <a:r>
              <a:rPr lang="en-US" altLang="ja-JP" sz="563" dirty="0" err="1"/>
              <a:t>DBBackup</a:t>
            </a:r>
            <a:endParaRPr lang="ja-JP" altLang="en-US" sz="563" dirty="0"/>
          </a:p>
        </p:txBody>
      </p:sp>
      <p:sp>
        <p:nvSpPr>
          <p:cNvPr id="46" name="テキスト ボックス 45">
            <a:extLst>
              <a:ext uri="{FF2B5EF4-FFF2-40B4-BE49-F238E27FC236}">
                <a16:creationId xmlns:a16="http://schemas.microsoft.com/office/drawing/2014/main" id="{266EA210-BCB2-B74B-2029-31C8242A1A69}"/>
              </a:ext>
            </a:extLst>
          </p:cNvPr>
          <p:cNvSpPr txBox="1"/>
          <p:nvPr/>
        </p:nvSpPr>
        <p:spPr>
          <a:xfrm>
            <a:off x="3598615" y="4386037"/>
            <a:ext cx="719514" cy="196208"/>
          </a:xfrm>
          <a:prstGeom prst="rect">
            <a:avLst/>
          </a:prstGeom>
          <a:noFill/>
        </p:spPr>
        <p:txBody>
          <a:bodyPr wrap="square" rtlCol="0">
            <a:spAutoFit/>
          </a:bodyPr>
          <a:lstStyle/>
          <a:p>
            <a:pPr algn="r"/>
            <a:r>
              <a:rPr lang="en-US" altLang="ja-JP" sz="675" dirty="0"/>
              <a:t>Clients</a:t>
            </a:r>
            <a:endParaRPr lang="ja-JP" altLang="en-US" sz="563" dirty="0"/>
          </a:p>
        </p:txBody>
      </p:sp>
      <p:sp>
        <p:nvSpPr>
          <p:cNvPr id="47" name="正方形/長方形 46">
            <a:extLst>
              <a:ext uri="{FF2B5EF4-FFF2-40B4-BE49-F238E27FC236}">
                <a16:creationId xmlns:a16="http://schemas.microsoft.com/office/drawing/2014/main" id="{4CE9D863-4ECE-7E5C-1753-4E1FA99BCF5C}"/>
              </a:ext>
            </a:extLst>
          </p:cNvPr>
          <p:cNvSpPr/>
          <p:nvPr/>
        </p:nvSpPr>
        <p:spPr>
          <a:xfrm>
            <a:off x="1116117" y="3338906"/>
            <a:ext cx="3625662" cy="13203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17" name="図 16">
            <a:extLst>
              <a:ext uri="{FF2B5EF4-FFF2-40B4-BE49-F238E27FC236}">
                <a16:creationId xmlns:a16="http://schemas.microsoft.com/office/drawing/2014/main" id="{1AF0759E-5799-DEF4-EDB1-F265BF095FD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31224" y="5130094"/>
            <a:ext cx="2983370" cy="2522420"/>
          </a:xfrm>
          <a:prstGeom prst="rect">
            <a:avLst/>
          </a:prstGeom>
        </p:spPr>
      </p:pic>
      <p:sp>
        <p:nvSpPr>
          <p:cNvPr id="18" name="テキスト ボックス 17">
            <a:extLst>
              <a:ext uri="{FF2B5EF4-FFF2-40B4-BE49-F238E27FC236}">
                <a16:creationId xmlns:a16="http://schemas.microsoft.com/office/drawing/2014/main" id="{A8472E92-FEBC-74F3-75D5-2895F117A519}"/>
              </a:ext>
            </a:extLst>
          </p:cNvPr>
          <p:cNvSpPr txBox="1"/>
          <p:nvPr/>
        </p:nvSpPr>
        <p:spPr>
          <a:xfrm>
            <a:off x="2088647" y="4836352"/>
            <a:ext cx="1468672" cy="24820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kumimoji="1" lang="en-US" altLang="ja-JP" sz="1013" dirty="0"/>
              <a:t>Administrator’s Menu.</a:t>
            </a:r>
            <a:endParaRPr kumimoji="1" lang="ja-JP" altLang="en-US" sz="1013" dirty="0"/>
          </a:p>
        </p:txBody>
      </p:sp>
    </p:spTree>
    <p:extLst>
      <p:ext uri="{BB962C8B-B14F-4D97-AF65-F5344CB8AC3E}">
        <p14:creationId xmlns:p14="http://schemas.microsoft.com/office/powerpoint/2010/main" val="3796534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EB8A68C-59F7-EA4A-A165-27A673BD861F}"/>
              </a:ext>
            </a:extLst>
          </p:cNvPr>
          <p:cNvSpPr txBox="1"/>
          <p:nvPr/>
        </p:nvSpPr>
        <p:spPr>
          <a:xfrm>
            <a:off x="1260872" y="7257452"/>
            <a:ext cx="4336256" cy="430887"/>
          </a:xfrm>
          <a:prstGeom prst="rect">
            <a:avLst/>
          </a:prstGeom>
          <a:noFill/>
        </p:spPr>
        <p:txBody>
          <a:bodyPr wrap="square" lIns="0" tIns="0" rIns="0" bIns="0" rtlCol="0">
            <a:spAutoFit/>
          </a:bodyPr>
          <a:lstStyle/>
          <a:p>
            <a:pPr algn="r"/>
            <a:r>
              <a:rPr kumimoji="1" lang="ja-JP" altLang="en-US" sz="1400" i="1" dirty="0">
                <a:latin typeface="Times New Roman" panose="02020603050405020304" pitchFamily="18" charset="0"/>
                <a:cs typeface="Times New Roman" panose="02020603050405020304" pitchFamily="18" charset="0"/>
              </a:rPr>
              <a:t>∀</a:t>
            </a:r>
            <a:r>
              <a:rPr kumimoji="1" lang="en-US" altLang="ja-JP" sz="1400" i="1" dirty="0">
                <a:latin typeface="Times New Roman" panose="02020603050405020304" pitchFamily="18" charset="0"/>
                <a:cs typeface="Times New Roman" panose="02020603050405020304" pitchFamily="18" charset="0"/>
              </a:rPr>
              <a:t>x</a:t>
            </a:r>
            <a:r>
              <a:rPr kumimoji="1" lang="ja-JP" altLang="en-US" sz="1400" i="1" dirty="0">
                <a:latin typeface="Times New Roman" panose="02020603050405020304" pitchFamily="18" charset="0"/>
                <a:cs typeface="Times New Roman" panose="02020603050405020304" pitchFamily="18" charset="0"/>
              </a:rPr>
              <a:t>∈</a:t>
            </a:r>
            <a:r>
              <a:rPr kumimoji="1" lang="en-US" altLang="ja-JP" sz="1400" i="1" dirty="0">
                <a:latin typeface="Times New Roman" panose="02020603050405020304" pitchFamily="18" charset="0"/>
                <a:cs typeface="Times New Roman" panose="02020603050405020304" pitchFamily="18" charset="0"/>
              </a:rPr>
              <a:t>P,{</a:t>
            </a:r>
            <a:r>
              <a:rPr kumimoji="1" lang="ja-JP" altLang="en-US" sz="1400" i="1" dirty="0">
                <a:latin typeface="Times New Roman" panose="02020603050405020304" pitchFamily="18" charset="0"/>
                <a:cs typeface="Times New Roman" panose="02020603050405020304" pitchFamily="18" charset="0"/>
              </a:rPr>
              <a:t>∃</a:t>
            </a:r>
            <a:r>
              <a:rPr kumimoji="1" lang="en-US" altLang="ja-JP" sz="1400" i="1" dirty="0">
                <a:latin typeface="Times New Roman" panose="02020603050405020304" pitchFamily="18" charset="0"/>
                <a:cs typeface="Times New Roman" panose="02020603050405020304" pitchFamily="18" charset="0"/>
              </a:rPr>
              <a:t>x</a:t>
            </a:r>
            <a:r>
              <a:rPr kumimoji="1" lang="ja-JP" altLang="en-US" sz="1400" i="1" dirty="0">
                <a:latin typeface="Times New Roman" panose="02020603050405020304" pitchFamily="18" charset="0"/>
                <a:cs typeface="Times New Roman" panose="02020603050405020304" pitchFamily="18" charset="0"/>
              </a:rPr>
              <a:t>∀</a:t>
            </a:r>
            <a:r>
              <a:rPr kumimoji="1" lang="en-US" altLang="ja-JP" sz="1400" i="1" dirty="0">
                <a:latin typeface="Times New Roman" panose="02020603050405020304" pitchFamily="18" charset="0"/>
                <a:cs typeface="Times New Roman" panose="02020603050405020304" pitchFamily="18" charset="0"/>
              </a:rPr>
              <a:t>y</a:t>
            </a:r>
            <a:r>
              <a:rPr kumimoji="1" lang="ja-JP" altLang="en-US" sz="1400" i="1" dirty="0">
                <a:latin typeface="Times New Roman" panose="02020603050405020304" pitchFamily="18" charset="0"/>
                <a:cs typeface="Times New Roman" panose="02020603050405020304" pitchFamily="18" charset="0"/>
              </a:rPr>
              <a:t>∈</a:t>
            </a:r>
            <a:r>
              <a:rPr kumimoji="1" lang="en-US" altLang="ja-JP" sz="1400" i="1" dirty="0">
                <a:latin typeface="Times New Roman" panose="02020603050405020304" pitchFamily="18" charset="0"/>
                <a:cs typeface="Times New Roman" panose="02020603050405020304" pitchFamily="18" charset="0"/>
              </a:rPr>
              <a:t>P</a:t>
            </a:r>
            <a:r>
              <a:rPr kumimoji="1" lang="ja-JP" altLang="en-US" sz="1400" i="1" dirty="0">
                <a:latin typeface="Times New Roman" panose="02020603050405020304" pitchFamily="18" charset="0"/>
                <a:cs typeface="Times New Roman" panose="02020603050405020304" pitchFamily="18" charset="0"/>
              </a:rPr>
              <a:t>｜</a:t>
            </a:r>
            <a:r>
              <a:rPr kumimoji="1" lang="en-US" altLang="ja-JP" sz="1400" i="1" dirty="0" err="1">
                <a:latin typeface="Times New Roman" panose="02020603050405020304" pitchFamily="18" charset="0"/>
                <a:cs typeface="Times New Roman" panose="02020603050405020304" pitchFamily="18" charset="0"/>
              </a:rPr>
              <a:t>x∈N</a:t>
            </a:r>
            <a:r>
              <a:rPr kumimoji="1" lang="en-US" altLang="ja-JP" sz="1400" i="1" dirty="0">
                <a:latin typeface="Times New Roman" panose="02020603050405020304" pitchFamily="18" charset="0"/>
                <a:cs typeface="Times New Roman" panose="02020603050405020304" pitchFamily="18" charset="0"/>
              </a:rPr>
              <a:t>,</a:t>
            </a:r>
            <a:r>
              <a:rPr kumimoji="1" lang="ja-JP" altLang="en-US" sz="1400" i="1" dirty="0">
                <a:latin typeface="Times New Roman" panose="02020603050405020304" pitchFamily="18" charset="0"/>
                <a:cs typeface="Times New Roman" panose="02020603050405020304" pitchFamily="18" charset="0"/>
              </a:rPr>
              <a:t> </a:t>
            </a:r>
            <a:r>
              <a:rPr kumimoji="1" lang="en-US" altLang="ja-JP" sz="1400" i="1" dirty="0" err="1">
                <a:latin typeface="Times New Roman" panose="02020603050405020304" pitchFamily="18" charset="0"/>
                <a:cs typeface="Times New Roman" panose="02020603050405020304" pitchFamily="18" charset="0"/>
              </a:rPr>
              <a:t>y∈N</a:t>
            </a:r>
            <a:r>
              <a:rPr kumimoji="1" lang="ja-JP" altLang="en-US" sz="1400" i="1" dirty="0">
                <a:latin typeface="Times New Roman" panose="02020603050405020304" pitchFamily="18" charset="0"/>
                <a:cs typeface="Times New Roman" panose="02020603050405020304" pitchFamily="18" charset="0"/>
              </a:rPr>
              <a:t> </a:t>
            </a:r>
            <a:r>
              <a:rPr kumimoji="1" lang="en-US" altLang="ja-JP" sz="1400" i="1" dirty="0">
                <a:latin typeface="Times New Roman" panose="02020603050405020304" pitchFamily="18" charset="0"/>
                <a:cs typeface="Times New Roman" panose="02020603050405020304" pitchFamily="18" charset="0"/>
              </a:rPr>
              <a:t>,y&lt;x/2,</a:t>
            </a:r>
            <a:r>
              <a:rPr kumimoji="1" lang="ja-JP" altLang="en-US" sz="1400" i="1" dirty="0">
                <a:latin typeface="Times New Roman" panose="02020603050405020304" pitchFamily="18" charset="0"/>
                <a:cs typeface="Times New Roman" panose="02020603050405020304" pitchFamily="18" charset="0"/>
              </a:rPr>
              <a:t> </a:t>
            </a:r>
            <a:r>
              <a:rPr kumimoji="1" lang="en-US" altLang="ja-JP" sz="1400" i="1" dirty="0">
                <a:latin typeface="Times New Roman" panose="02020603050405020304" pitchFamily="18" charset="0"/>
                <a:cs typeface="Times New Roman" panose="02020603050405020304" pitchFamily="18" charset="0"/>
              </a:rPr>
              <a:t>Mod(</a:t>
            </a:r>
            <a:r>
              <a:rPr kumimoji="1" lang="en-US" altLang="ja-JP" sz="1400" i="1" dirty="0" err="1">
                <a:latin typeface="Times New Roman" panose="02020603050405020304" pitchFamily="18" charset="0"/>
                <a:cs typeface="Times New Roman" panose="02020603050405020304" pitchFamily="18" charset="0"/>
              </a:rPr>
              <a:t>x,y</a:t>
            </a:r>
            <a:r>
              <a:rPr kumimoji="1" lang="en-US" altLang="ja-JP" sz="1400" i="1" dirty="0">
                <a:latin typeface="Times New Roman" panose="02020603050405020304" pitchFamily="18" charset="0"/>
                <a:cs typeface="Times New Roman" panose="02020603050405020304" pitchFamily="18" charset="0"/>
              </a:rPr>
              <a:t>)=0}</a:t>
            </a:r>
          </a:p>
          <a:p>
            <a:pPr algn="r"/>
            <a:r>
              <a:rPr kumimoji="1" lang="ja-JP" altLang="en-US" sz="1400" i="1" dirty="0">
                <a:latin typeface="Times New Roman" panose="02020603050405020304" pitchFamily="18" charset="0"/>
                <a:cs typeface="Times New Roman" panose="02020603050405020304" pitchFamily="18" charset="0"/>
              </a:rPr>
              <a:t> ⇒  </a:t>
            </a:r>
            <a:r>
              <a:rPr kumimoji="1" lang="en-US" altLang="ja-JP" sz="1400" i="1" dirty="0">
                <a:latin typeface="Times New Roman" panose="02020603050405020304" pitchFamily="18" charset="0"/>
                <a:cs typeface="Times New Roman" panose="02020603050405020304" pitchFamily="18" charset="0"/>
              </a:rPr>
              <a:t>x</a:t>
            </a:r>
            <a:r>
              <a:rPr kumimoji="1" lang="ja-JP" altLang="en-US" sz="1400" i="1" dirty="0">
                <a:latin typeface="Times New Roman" panose="02020603050405020304" pitchFamily="18" charset="0"/>
                <a:cs typeface="Times New Roman" panose="02020603050405020304" pitchFamily="18" charset="0"/>
              </a:rPr>
              <a:t>∈</a:t>
            </a:r>
            <a:r>
              <a:rPr kumimoji="1" lang="en-US" altLang="ja-JP" sz="1400" i="1" dirty="0" err="1">
                <a:latin typeface="Times New Roman" panose="02020603050405020304" pitchFamily="18" charset="0"/>
                <a:cs typeface="Times New Roman" panose="02020603050405020304" pitchFamily="18" charset="0"/>
              </a:rPr>
              <a:t>P,y</a:t>
            </a:r>
            <a:r>
              <a:rPr kumimoji="1" lang="ja-JP" altLang="en-US" sz="1400" i="1" dirty="0">
                <a:latin typeface="Times New Roman" panose="02020603050405020304" pitchFamily="18" charset="0"/>
                <a:cs typeface="Times New Roman" panose="02020603050405020304" pitchFamily="18" charset="0"/>
              </a:rPr>
              <a:t>∈</a:t>
            </a:r>
            <a:r>
              <a:rPr kumimoji="1" lang="en-US" altLang="ja-JP" sz="1400" i="1" dirty="0">
                <a:latin typeface="Times New Roman" panose="02020603050405020304" pitchFamily="18" charset="0"/>
                <a:cs typeface="Times New Roman" panose="02020603050405020304" pitchFamily="18" charset="0"/>
              </a:rPr>
              <a:t>P</a:t>
            </a:r>
            <a:endParaRPr kumimoji="1" lang="ja-JP" altLang="en-US" sz="1400" i="1" dirty="0">
              <a:latin typeface="Times New Roman" panose="02020603050405020304" pitchFamily="18" charset="0"/>
              <a:cs typeface="Times New Roman" panose="02020603050405020304" pitchFamily="18" charset="0"/>
            </a:endParaRPr>
          </a:p>
        </p:txBody>
      </p:sp>
      <p:sp>
        <p:nvSpPr>
          <p:cNvPr id="2" name="タイトル 1">
            <a:extLst>
              <a:ext uri="{FF2B5EF4-FFF2-40B4-BE49-F238E27FC236}">
                <a16:creationId xmlns:a16="http://schemas.microsoft.com/office/drawing/2014/main" id="{4BD8121F-D6E9-BE24-4FB7-D41DD0198D1F}"/>
              </a:ext>
            </a:extLst>
          </p:cNvPr>
          <p:cNvSpPr>
            <a:spLocks noGrp="1"/>
          </p:cNvSpPr>
          <p:nvPr>
            <p:ph type="title"/>
          </p:nvPr>
        </p:nvSpPr>
        <p:spPr>
          <a:xfrm>
            <a:off x="448627" y="320144"/>
            <a:ext cx="5970264" cy="465509"/>
          </a:xfrm>
        </p:spPr>
        <p:txBody>
          <a:bodyPr>
            <a:normAutofit fontScale="90000"/>
          </a:bodyPr>
          <a:lstStyle/>
          <a:p>
            <a:r>
              <a:rPr kumimoji="1" lang="en-US" altLang="ja-JP" dirty="0"/>
              <a:t>4. A theory-Based System</a:t>
            </a:r>
            <a:endParaRPr kumimoji="1" lang="ja-JP" altLang="en-US" dirty="0"/>
          </a:p>
        </p:txBody>
      </p:sp>
      <p:sp>
        <p:nvSpPr>
          <p:cNvPr id="13" name="テキスト ボックス 12">
            <a:extLst>
              <a:ext uri="{FF2B5EF4-FFF2-40B4-BE49-F238E27FC236}">
                <a16:creationId xmlns:a16="http://schemas.microsoft.com/office/drawing/2014/main" id="{458A92ED-72A4-5963-B8F4-9A298F3969CC}"/>
              </a:ext>
            </a:extLst>
          </p:cNvPr>
          <p:cNvSpPr txBox="1"/>
          <p:nvPr/>
        </p:nvSpPr>
        <p:spPr>
          <a:xfrm>
            <a:off x="300431" y="862034"/>
            <a:ext cx="5179619" cy="3859903"/>
          </a:xfrm>
          <a:prstGeom prst="rect">
            <a:avLst/>
          </a:prstGeom>
          <a:noFill/>
        </p:spPr>
        <p:txBody>
          <a:bodyPr wrap="square" rtlCol="0">
            <a:spAutoFit/>
          </a:bodyPr>
          <a:lstStyle/>
          <a:p>
            <a:r>
              <a:rPr lang="en-US" altLang="ja-JP" sz="1050" dirty="0"/>
              <a:t>Access ALAYA is built on </a:t>
            </a:r>
            <a:r>
              <a:rPr lang="en-US" altLang="ja-JP" sz="1050" b="1" dirty="0"/>
              <a:t>first‑order predicate logic</a:t>
            </a:r>
            <a:r>
              <a:rPr lang="en-US" altLang="ja-JP" sz="1050" dirty="0"/>
              <a:t> and </a:t>
            </a:r>
            <a:r>
              <a:rPr lang="en-US" altLang="ja-JP" sz="1050" b="1" dirty="0"/>
              <a:t>relational algebra</a:t>
            </a:r>
            <a:r>
              <a:rPr lang="en-US" altLang="ja-JP" sz="1050" dirty="0"/>
              <a:t>.</a:t>
            </a:r>
          </a:p>
          <a:p>
            <a:endParaRPr lang="en-US" altLang="ja-JP" sz="1050" dirty="0"/>
          </a:p>
          <a:p>
            <a:r>
              <a:rPr lang="en-US" altLang="ja-JP" sz="1050" dirty="0"/>
              <a:t>Predicate logic was introduced by Frege in the mid‑19th century, and relational algebra was presented by E. F. Codd in the late 20th century as a theoretical foundation for relational databases. These are classical theories that form the basis of modern relational database systems.</a:t>
            </a:r>
          </a:p>
          <a:p>
            <a:endParaRPr lang="en-US" altLang="ja-JP" sz="1050" dirty="0"/>
          </a:p>
          <a:p>
            <a:r>
              <a:rPr lang="en-US" altLang="ja-JP" sz="1050" dirty="0"/>
              <a:t>Some argue that practical system development should prioritize real‑world constraints over theory. Many developers believe that database normalization is an idealistic concept and that denormalization is the norm in real implementations.</a:t>
            </a:r>
          </a:p>
          <a:p>
            <a:endParaRPr lang="en-US" altLang="ja-JP" sz="1050" dirty="0"/>
          </a:p>
          <a:p>
            <a:r>
              <a:rPr lang="en-US" altLang="ja-JP" sz="1050" dirty="0"/>
              <a:t>However, there is a vast difference between:</a:t>
            </a:r>
          </a:p>
          <a:p>
            <a:r>
              <a:rPr lang="en-US" altLang="ja-JP" sz="1050" b="1" dirty="0"/>
              <a:t>Intentionally</a:t>
            </a:r>
            <a:r>
              <a:rPr lang="en-US" altLang="ja-JP" sz="1050" dirty="0"/>
              <a:t> relaxing normalization </a:t>
            </a:r>
            <a:r>
              <a:rPr lang="en-US" altLang="ja-JP" sz="1050" i="1" dirty="0"/>
              <a:t>with full understanding of the theory</a:t>
            </a:r>
            <a:r>
              <a:rPr lang="en-US" altLang="ja-JP" sz="1050" dirty="0"/>
              <a:t>, and</a:t>
            </a:r>
          </a:p>
          <a:p>
            <a:r>
              <a:rPr lang="en-US" altLang="ja-JP" sz="1050" b="1" dirty="0"/>
              <a:t>Ignoring</a:t>
            </a:r>
            <a:r>
              <a:rPr lang="en-US" altLang="ja-JP" sz="1050" dirty="0"/>
              <a:t> the theory from the beginning and building a denormalized structure.</a:t>
            </a:r>
          </a:p>
          <a:p>
            <a:endParaRPr lang="en-US" altLang="ja-JP" sz="1050" dirty="0"/>
          </a:p>
          <a:p>
            <a:r>
              <a:rPr lang="en-US" altLang="ja-JP" sz="1050" dirty="0"/>
              <a:t>System development should not rely solely on intuition or experience; it should be grounded in </a:t>
            </a:r>
            <a:r>
              <a:rPr lang="en-US" altLang="ja-JP" sz="1050" b="1" dirty="0"/>
              <a:t>sound theoretical principles</a:t>
            </a:r>
            <a:r>
              <a:rPr lang="en-US" altLang="ja-JP" sz="1050" dirty="0"/>
              <a:t>.</a:t>
            </a:r>
          </a:p>
          <a:p>
            <a:endParaRPr lang="en-US" altLang="ja-JP" sz="1050" dirty="0"/>
          </a:p>
          <a:p>
            <a:r>
              <a:rPr lang="en-US" altLang="ja-JP" sz="1050" dirty="0"/>
              <a:t>Access ALAYA places great importance on these foundational theories. Just as a building with a strong foundation withstands earthquakes and storms, a system built on solid theoretical principles is </a:t>
            </a:r>
            <a:r>
              <a:rPr lang="en-US" altLang="ja-JP" sz="1050" b="1" dirty="0"/>
              <a:t>robust and adaptable</a:t>
            </a:r>
            <a:r>
              <a:rPr lang="en-US" altLang="ja-JP" sz="1050" dirty="0"/>
              <a:t> to environmental changes and evolving business requirements.</a:t>
            </a:r>
          </a:p>
          <a:p>
            <a:pPr>
              <a:lnSpc>
                <a:spcPct val="150000"/>
              </a:lnSpc>
            </a:pPr>
            <a:endParaRPr kumimoji="1" lang="en-US" altLang="ja-JP" sz="1050" dirty="0"/>
          </a:p>
        </p:txBody>
      </p:sp>
      <p:pic>
        <p:nvPicPr>
          <p:cNvPr id="4" name="図 3">
            <a:extLst>
              <a:ext uri="{FF2B5EF4-FFF2-40B4-BE49-F238E27FC236}">
                <a16:creationId xmlns:a16="http://schemas.microsoft.com/office/drawing/2014/main" id="{59C8DAA8-34AF-A265-2DF1-25FEEA7EBF91}"/>
              </a:ext>
            </a:extLst>
          </p:cNvPr>
          <p:cNvPicPr>
            <a:picLocks noChangeAspect="1"/>
          </p:cNvPicPr>
          <p:nvPr/>
        </p:nvPicPr>
        <p:blipFill>
          <a:blip r:embed="rId2"/>
          <a:stretch>
            <a:fillRect/>
          </a:stretch>
        </p:blipFill>
        <p:spPr>
          <a:xfrm>
            <a:off x="336623" y="7303325"/>
            <a:ext cx="3525368" cy="2350245"/>
          </a:xfrm>
          <a:prstGeom prst="rect">
            <a:avLst/>
          </a:prstGeom>
          <a:effectLst>
            <a:softEdge rad="635000"/>
          </a:effectLst>
        </p:spPr>
      </p:pic>
      <p:pic>
        <p:nvPicPr>
          <p:cNvPr id="6" name="図 5">
            <a:extLst>
              <a:ext uri="{FF2B5EF4-FFF2-40B4-BE49-F238E27FC236}">
                <a16:creationId xmlns:a16="http://schemas.microsoft.com/office/drawing/2014/main" id="{3C842AAF-171A-E792-4CB6-D489107BF58E}"/>
              </a:ext>
            </a:extLst>
          </p:cNvPr>
          <p:cNvPicPr>
            <a:picLocks noChangeAspect="1"/>
          </p:cNvPicPr>
          <p:nvPr/>
        </p:nvPicPr>
        <p:blipFill>
          <a:blip r:embed="rId3"/>
          <a:stretch>
            <a:fillRect/>
          </a:stretch>
        </p:blipFill>
        <p:spPr>
          <a:xfrm>
            <a:off x="2521744" y="5324438"/>
            <a:ext cx="1689823" cy="1533438"/>
          </a:xfrm>
          <a:prstGeom prst="rect">
            <a:avLst/>
          </a:prstGeom>
        </p:spPr>
      </p:pic>
      <p:pic>
        <p:nvPicPr>
          <p:cNvPr id="7" name="図 6">
            <a:extLst>
              <a:ext uri="{FF2B5EF4-FFF2-40B4-BE49-F238E27FC236}">
                <a16:creationId xmlns:a16="http://schemas.microsoft.com/office/drawing/2014/main" id="{7093854F-B330-FBD7-1ECB-08C09438BDEA}"/>
              </a:ext>
            </a:extLst>
          </p:cNvPr>
          <p:cNvPicPr>
            <a:picLocks noChangeAspect="1"/>
          </p:cNvPicPr>
          <p:nvPr/>
        </p:nvPicPr>
        <p:blipFill>
          <a:blip r:embed="rId4"/>
          <a:stretch>
            <a:fillRect/>
          </a:stretch>
        </p:blipFill>
        <p:spPr>
          <a:xfrm>
            <a:off x="614626" y="5361621"/>
            <a:ext cx="1694168" cy="1542128"/>
          </a:xfrm>
          <a:prstGeom prst="rect">
            <a:avLst/>
          </a:prstGeom>
        </p:spPr>
      </p:pic>
      <p:pic>
        <p:nvPicPr>
          <p:cNvPr id="8" name="図 7">
            <a:extLst>
              <a:ext uri="{FF2B5EF4-FFF2-40B4-BE49-F238E27FC236}">
                <a16:creationId xmlns:a16="http://schemas.microsoft.com/office/drawing/2014/main" id="{5A4AA1EB-639D-7F81-045C-87D54F37E978}"/>
              </a:ext>
            </a:extLst>
          </p:cNvPr>
          <p:cNvPicPr>
            <a:picLocks noChangeAspect="1"/>
          </p:cNvPicPr>
          <p:nvPr/>
        </p:nvPicPr>
        <p:blipFill>
          <a:blip r:embed="rId5"/>
          <a:stretch>
            <a:fillRect/>
          </a:stretch>
        </p:blipFill>
        <p:spPr>
          <a:xfrm>
            <a:off x="4549207" y="5322979"/>
            <a:ext cx="1869684" cy="1619411"/>
          </a:xfrm>
          <a:prstGeom prst="rect">
            <a:avLst/>
          </a:prstGeom>
        </p:spPr>
      </p:pic>
    </p:spTree>
    <p:extLst>
      <p:ext uri="{BB962C8B-B14F-4D97-AF65-F5344CB8AC3E}">
        <p14:creationId xmlns:p14="http://schemas.microsoft.com/office/powerpoint/2010/main" val="2557250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22E6E7-13B0-31D2-F4D6-AACC767124BE}"/>
              </a:ext>
            </a:extLst>
          </p:cNvPr>
          <p:cNvSpPr>
            <a:spLocks noGrp="1"/>
          </p:cNvSpPr>
          <p:nvPr>
            <p:ph type="title"/>
          </p:nvPr>
        </p:nvSpPr>
        <p:spPr>
          <a:xfrm>
            <a:off x="457198" y="3901254"/>
            <a:ext cx="5687569" cy="2638395"/>
          </a:xfrm>
        </p:spPr>
        <p:txBody>
          <a:bodyPr>
            <a:normAutofit/>
          </a:bodyPr>
          <a:lstStyle/>
          <a:p>
            <a:r>
              <a:rPr lang="en-US" altLang="ja-JP" sz="2800" dirty="0"/>
              <a:t>Install and Environment settings</a:t>
            </a:r>
            <a:endParaRPr kumimoji="1" lang="ja-JP" altLang="en-US" sz="2800" dirty="0"/>
          </a:p>
        </p:txBody>
      </p:sp>
    </p:spTree>
    <p:extLst>
      <p:ext uri="{BB962C8B-B14F-4D97-AF65-F5344CB8AC3E}">
        <p14:creationId xmlns:p14="http://schemas.microsoft.com/office/powerpoint/2010/main" val="388919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0DB9FF-1B2E-AB82-0584-B11F2873F0D3}"/>
              </a:ext>
            </a:extLst>
          </p:cNvPr>
          <p:cNvSpPr>
            <a:spLocks noGrp="1"/>
          </p:cNvSpPr>
          <p:nvPr>
            <p:ph type="title"/>
          </p:nvPr>
        </p:nvSpPr>
        <p:spPr>
          <a:xfrm>
            <a:off x="357250" y="468362"/>
            <a:ext cx="4835626" cy="310463"/>
          </a:xfrm>
        </p:spPr>
        <p:txBody>
          <a:bodyPr>
            <a:normAutofit fontScale="90000"/>
          </a:bodyPr>
          <a:lstStyle/>
          <a:p>
            <a:r>
              <a:rPr kumimoji="1" lang="en-US" altLang="ja-JP" dirty="0"/>
              <a:t>Access</a:t>
            </a:r>
            <a:r>
              <a:rPr kumimoji="1" lang="ja-JP" altLang="en-US" dirty="0"/>
              <a:t> </a:t>
            </a:r>
            <a:r>
              <a:rPr kumimoji="1" lang="en-US" altLang="ja-JP" dirty="0"/>
              <a:t>ALAYA</a:t>
            </a:r>
            <a:r>
              <a:rPr kumimoji="1" lang="ja-JP" altLang="en-US" dirty="0"/>
              <a:t> </a:t>
            </a:r>
            <a:r>
              <a:rPr kumimoji="1" lang="en-US" altLang="ja-JP" dirty="0"/>
              <a:t>standard</a:t>
            </a:r>
            <a:r>
              <a:rPr kumimoji="1" lang="ja-JP" altLang="en-US" dirty="0"/>
              <a:t> </a:t>
            </a:r>
            <a:r>
              <a:rPr kumimoji="1" lang="en-US" altLang="ja-JP" dirty="0"/>
              <a:t>Modules</a:t>
            </a:r>
            <a:endParaRPr kumimoji="1" lang="ja-JP" altLang="en-US" dirty="0"/>
          </a:p>
        </p:txBody>
      </p:sp>
      <p:sp>
        <p:nvSpPr>
          <p:cNvPr id="29" name="テキスト ボックス 28">
            <a:extLst>
              <a:ext uri="{FF2B5EF4-FFF2-40B4-BE49-F238E27FC236}">
                <a16:creationId xmlns:a16="http://schemas.microsoft.com/office/drawing/2014/main" id="{28D0ACE9-634A-C5F0-214C-41C46B2D5336}"/>
              </a:ext>
            </a:extLst>
          </p:cNvPr>
          <p:cNvSpPr txBox="1"/>
          <p:nvPr/>
        </p:nvSpPr>
        <p:spPr>
          <a:xfrm>
            <a:off x="2799832" y="1114428"/>
            <a:ext cx="1869935" cy="276999"/>
          </a:xfrm>
          <a:prstGeom prst="rect">
            <a:avLst/>
          </a:prstGeom>
          <a:noFill/>
        </p:spPr>
        <p:txBody>
          <a:bodyPr wrap="none" rtlCol="0">
            <a:spAutoFit/>
          </a:bodyPr>
          <a:lstStyle/>
          <a:p>
            <a:r>
              <a:rPr kumimoji="1" lang="en-US" altLang="ja-JP" sz="1200" dirty="0"/>
              <a:t>ALAYA standard</a:t>
            </a:r>
            <a:r>
              <a:rPr kumimoji="1" lang="ja-JP" altLang="en-US" sz="1200" dirty="0"/>
              <a:t> </a:t>
            </a:r>
            <a:r>
              <a:rPr kumimoji="1" lang="en-US" altLang="ja-JP" sz="1200" dirty="0"/>
              <a:t>modules</a:t>
            </a:r>
            <a:endParaRPr kumimoji="1" lang="ja-JP" altLang="en-US" sz="1200" dirty="0"/>
          </a:p>
        </p:txBody>
      </p:sp>
      <p:sp>
        <p:nvSpPr>
          <p:cNvPr id="31" name="テキスト ボックス 30">
            <a:extLst>
              <a:ext uri="{FF2B5EF4-FFF2-40B4-BE49-F238E27FC236}">
                <a16:creationId xmlns:a16="http://schemas.microsoft.com/office/drawing/2014/main" id="{43646BD8-1207-01B9-1A4E-C8CBDA6773AA}"/>
              </a:ext>
            </a:extLst>
          </p:cNvPr>
          <p:cNvSpPr txBox="1"/>
          <p:nvPr/>
        </p:nvSpPr>
        <p:spPr>
          <a:xfrm>
            <a:off x="975439" y="7082946"/>
            <a:ext cx="5031662" cy="415498"/>
          </a:xfrm>
          <a:prstGeom prst="rect">
            <a:avLst/>
          </a:prstGeom>
          <a:noFill/>
        </p:spPr>
        <p:txBody>
          <a:bodyPr wrap="square" rtlCol="0">
            <a:spAutoFit/>
          </a:bodyPr>
          <a:lstStyle/>
          <a:p>
            <a:r>
              <a:rPr lang="en-US" altLang="ja-JP" sz="1050" dirty="0"/>
              <a:t>This contains sample shared tables. </a:t>
            </a:r>
          </a:p>
          <a:p>
            <a:r>
              <a:rPr lang="en-US" altLang="ja-JP" sz="1050" dirty="0"/>
              <a:t>During installation, this database is copied to the file server.</a:t>
            </a:r>
          </a:p>
        </p:txBody>
      </p:sp>
      <p:sp>
        <p:nvSpPr>
          <p:cNvPr id="33" name="テキスト ボックス 32">
            <a:extLst>
              <a:ext uri="{FF2B5EF4-FFF2-40B4-BE49-F238E27FC236}">
                <a16:creationId xmlns:a16="http://schemas.microsoft.com/office/drawing/2014/main" id="{FA1DA331-CCC3-7864-5751-86B150616FBD}"/>
              </a:ext>
            </a:extLst>
          </p:cNvPr>
          <p:cNvSpPr txBox="1"/>
          <p:nvPr/>
        </p:nvSpPr>
        <p:spPr>
          <a:xfrm>
            <a:off x="910863" y="3896669"/>
            <a:ext cx="5646158" cy="900246"/>
          </a:xfrm>
          <a:prstGeom prst="rect">
            <a:avLst/>
          </a:prstGeom>
          <a:noFill/>
        </p:spPr>
        <p:txBody>
          <a:bodyPr wrap="square" rtlCol="0">
            <a:spAutoFit/>
          </a:bodyPr>
          <a:lstStyle/>
          <a:p>
            <a:r>
              <a:rPr lang="en-US" altLang="ja-JP" sz="1050" dirty="0"/>
              <a:t>This is the GUI module that provides the user interface. </a:t>
            </a:r>
          </a:p>
          <a:p>
            <a:r>
              <a:rPr lang="en-US" altLang="ja-JP" sz="1050" dirty="0"/>
              <a:t>The module with the </a:t>
            </a:r>
            <a:r>
              <a:rPr lang="en-US" altLang="ja-JP" sz="1050" b="1" dirty="0"/>
              <a:t>highest version number</a:t>
            </a:r>
            <a:r>
              <a:rPr lang="en-US" altLang="ja-JP" sz="1050" dirty="0"/>
              <a:t> is treated as the </a:t>
            </a:r>
            <a:r>
              <a:rPr lang="en-US" altLang="ja-JP" sz="1050" i="1" dirty="0"/>
              <a:t>development module</a:t>
            </a:r>
            <a:r>
              <a:rPr lang="en-US" altLang="ja-JP" sz="1050" dirty="0"/>
              <a:t>, while the version specified in the </a:t>
            </a:r>
            <a:r>
              <a:rPr lang="en-US" altLang="ja-JP" sz="1050" b="1" dirty="0"/>
              <a:t>release definition file</a:t>
            </a:r>
            <a:r>
              <a:rPr lang="en-US" altLang="ja-JP" sz="1050" dirty="0"/>
              <a:t> is the </a:t>
            </a:r>
            <a:r>
              <a:rPr lang="en-US" altLang="ja-JP" sz="1050" i="1" dirty="0"/>
              <a:t>distribution module</a:t>
            </a:r>
            <a:r>
              <a:rPr lang="en-US" altLang="ja-JP" sz="1050" dirty="0"/>
              <a:t>. During version upgrades, the release definition file is updated by script, a new version number is assigned, and the development module is copied accordingly.</a:t>
            </a:r>
          </a:p>
        </p:txBody>
      </p:sp>
      <p:sp>
        <p:nvSpPr>
          <p:cNvPr id="39" name="テキスト ボックス 38">
            <a:extLst>
              <a:ext uri="{FF2B5EF4-FFF2-40B4-BE49-F238E27FC236}">
                <a16:creationId xmlns:a16="http://schemas.microsoft.com/office/drawing/2014/main" id="{0ABCB078-57AB-BDD6-DC5E-40E7446EA193}"/>
              </a:ext>
            </a:extLst>
          </p:cNvPr>
          <p:cNvSpPr txBox="1"/>
          <p:nvPr/>
        </p:nvSpPr>
        <p:spPr>
          <a:xfrm>
            <a:off x="880100" y="6805179"/>
            <a:ext cx="1259136" cy="253916"/>
          </a:xfrm>
          <a:prstGeom prst="rect">
            <a:avLst/>
          </a:prstGeom>
          <a:noFill/>
        </p:spPr>
        <p:txBody>
          <a:bodyPr wrap="square" rtlCol="0">
            <a:spAutoFit/>
          </a:bodyPr>
          <a:lstStyle/>
          <a:p>
            <a:r>
              <a:rPr lang="en-US" altLang="ja-JP" sz="1050" dirty="0" err="1"/>
              <a:t>AlayaDB</a:t>
            </a:r>
            <a:endParaRPr lang="en-US" altLang="ja-JP" sz="1050" dirty="0"/>
          </a:p>
        </p:txBody>
      </p:sp>
      <p:pic>
        <p:nvPicPr>
          <p:cNvPr id="41" name="Picture 8" descr="アクセス, 2013年 無料 アイコン の Simply Styled Icons">
            <a:extLst>
              <a:ext uri="{FF2B5EF4-FFF2-40B4-BE49-F238E27FC236}">
                <a16:creationId xmlns:a16="http://schemas.microsoft.com/office/drawing/2014/main" id="{965059F5-778C-A94B-8615-5A0562E06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694" y="3647123"/>
            <a:ext cx="346606" cy="346606"/>
          </a:xfrm>
          <a:prstGeom prst="rect">
            <a:avLst/>
          </a:prstGeom>
          <a:noFill/>
          <a:extLst>
            <a:ext uri="{909E8E84-426E-40DD-AFC4-6F175D3DCCD1}">
              <a14:hiddenFill xmlns:a14="http://schemas.microsoft.com/office/drawing/2010/main">
                <a:solidFill>
                  <a:srgbClr val="FFFFFF"/>
                </a:solidFill>
              </a14:hiddenFill>
            </a:ext>
          </a:extLst>
        </p:spPr>
      </p:pic>
      <p:sp>
        <p:nvSpPr>
          <p:cNvPr id="42" name="テキスト ボックス 41">
            <a:extLst>
              <a:ext uri="{FF2B5EF4-FFF2-40B4-BE49-F238E27FC236}">
                <a16:creationId xmlns:a16="http://schemas.microsoft.com/office/drawing/2014/main" id="{4CF12673-1787-00EE-2172-3F014D8E6589}"/>
              </a:ext>
            </a:extLst>
          </p:cNvPr>
          <p:cNvSpPr txBox="1"/>
          <p:nvPr/>
        </p:nvSpPr>
        <p:spPr>
          <a:xfrm>
            <a:off x="760430" y="3693468"/>
            <a:ext cx="4226097" cy="253916"/>
          </a:xfrm>
          <a:prstGeom prst="rect">
            <a:avLst/>
          </a:prstGeom>
          <a:noFill/>
        </p:spPr>
        <p:txBody>
          <a:bodyPr wrap="square" rtlCol="0">
            <a:spAutoFit/>
          </a:bodyPr>
          <a:lstStyle/>
          <a:p>
            <a:r>
              <a:rPr lang="en-US" altLang="ja-JP" sz="1050" dirty="0"/>
              <a:t>ALAYA Menu</a:t>
            </a:r>
            <a:r>
              <a:rPr lang="ja-JP" altLang="en-US" sz="1050" dirty="0"/>
              <a:t>**</a:t>
            </a:r>
            <a:r>
              <a:rPr lang="en-US" altLang="ja-JP" sz="1050" dirty="0"/>
              <a:t>.accdb</a:t>
            </a:r>
          </a:p>
        </p:txBody>
      </p:sp>
      <p:pic>
        <p:nvPicPr>
          <p:cNvPr id="43" name="図 42">
            <a:extLst>
              <a:ext uri="{FF2B5EF4-FFF2-40B4-BE49-F238E27FC236}">
                <a16:creationId xmlns:a16="http://schemas.microsoft.com/office/drawing/2014/main" id="{BBA53842-A729-9FE4-862E-1480248D01DB}"/>
              </a:ext>
            </a:extLst>
          </p:cNvPr>
          <p:cNvPicPr>
            <a:picLocks noChangeAspect="1"/>
          </p:cNvPicPr>
          <p:nvPr/>
        </p:nvPicPr>
        <p:blipFill>
          <a:blip r:embed="rId3"/>
          <a:stretch>
            <a:fillRect/>
          </a:stretch>
        </p:blipFill>
        <p:spPr>
          <a:xfrm>
            <a:off x="399514" y="4774468"/>
            <a:ext cx="346607" cy="407126"/>
          </a:xfrm>
          <a:prstGeom prst="rect">
            <a:avLst/>
          </a:prstGeom>
        </p:spPr>
      </p:pic>
      <p:sp>
        <p:nvSpPr>
          <p:cNvPr id="44" name="テキスト ボックス 43">
            <a:extLst>
              <a:ext uri="{FF2B5EF4-FFF2-40B4-BE49-F238E27FC236}">
                <a16:creationId xmlns:a16="http://schemas.microsoft.com/office/drawing/2014/main" id="{1961CCFE-E3F5-CB1B-9E9A-2A7836C99A29}"/>
              </a:ext>
            </a:extLst>
          </p:cNvPr>
          <p:cNvSpPr txBox="1"/>
          <p:nvPr/>
        </p:nvSpPr>
        <p:spPr>
          <a:xfrm>
            <a:off x="850899" y="5807622"/>
            <a:ext cx="3050826" cy="253916"/>
          </a:xfrm>
          <a:prstGeom prst="rect">
            <a:avLst/>
          </a:prstGeom>
          <a:noFill/>
        </p:spPr>
        <p:txBody>
          <a:bodyPr wrap="square" rtlCol="0">
            <a:spAutoFit/>
          </a:bodyPr>
          <a:lstStyle/>
          <a:p>
            <a:r>
              <a:rPr lang="en-US" altLang="ja-JP" sz="1050" dirty="0"/>
              <a:t>ALAYA</a:t>
            </a:r>
            <a:r>
              <a:rPr lang="ja-JP" altLang="en-US" sz="1050" dirty="0"/>
              <a:t> </a:t>
            </a:r>
            <a:r>
              <a:rPr lang="en-US" altLang="ja-JP" sz="1050" dirty="0" err="1"/>
              <a:t>Menu.rel</a:t>
            </a:r>
            <a:endParaRPr lang="en-US" altLang="ja-JP" sz="1050" dirty="0"/>
          </a:p>
        </p:txBody>
      </p:sp>
      <p:sp>
        <p:nvSpPr>
          <p:cNvPr id="46" name="テキスト ボックス 45">
            <a:extLst>
              <a:ext uri="{FF2B5EF4-FFF2-40B4-BE49-F238E27FC236}">
                <a16:creationId xmlns:a16="http://schemas.microsoft.com/office/drawing/2014/main" id="{B3462B65-6082-2506-D46D-396E7CED4E7C}"/>
              </a:ext>
            </a:extLst>
          </p:cNvPr>
          <p:cNvSpPr txBox="1"/>
          <p:nvPr/>
        </p:nvSpPr>
        <p:spPr>
          <a:xfrm>
            <a:off x="940934" y="5045526"/>
            <a:ext cx="5443451" cy="738664"/>
          </a:xfrm>
          <a:prstGeom prst="rect">
            <a:avLst/>
          </a:prstGeom>
          <a:noFill/>
        </p:spPr>
        <p:txBody>
          <a:bodyPr wrap="square" rtlCol="0">
            <a:spAutoFit/>
          </a:bodyPr>
          <a:lstStyle/>
          <a:p>
            <a:r>
              <a:rPr lang="en-US" altLang="ja-JP" sz="1050" dirty="0"/>
              <a:t>This is the startup script for launching the GUI module. </a:t>
            </a:r>
          </a:p>
          <a:p>
            <a:r>
              <a:rPr lang="en-US" altLang="ja-JP" sz="1050" dirty="0"/>
              <a:t>It is executed on client machines to automatically distribute updated modules and to open the administrator menu. A shortcut to this script should be distributed to all client users.</a:t>
            </a:r>
          </a:p>
        </p:txBody>
      </p:sp>
      <p:pic>
        <p:nvPicPr>
          <p:cNvPr id="21" name="図 20">
            <a:extLst>
              <a:ext uri="{FF2B5EF4-FFF2-40B4-BE49-F238E27FC236}">
                <a16:creationId xmlns:a16="http://schemas.microsoft.com/office/drawing/2014/main" id="{68868A10-883A-DA8F-CA9C-2716FE8991EA}"/>
              </a:ext>
            </a:extLst>
          </p:cNvPr>
          <p:cNvPicPr>
            <a:picLocks noChangeAspect="1"/>
          </p:cNvPicPr>
          <p:nvPr/>
        </p:nvPicPr>
        <p:blipFill>
          <a:blip r:embed="rId4"/>
          <a:stretch>
            <a:fillRect/>
          </a:stretch>
        </p:blipFill>
        <p:spPr>
          <a:xfrm>
            <a:off x="1357050" y="2509197"/>
            <a:ext cx="268065" cy="234557"/>
          </a:xfrm>
          <a:prstGeom prst="rect">
            <a:avLst/>
          </a:prstGeom>
        </p:spPr>
      </p:pic>
      <p:pic>
        <p:nvPicPr>
          <p:cNvPr id="22" name="図 21">
            <a:extLst>
              <a:ext uri="{FF2B5EF4-FFF2-40B4-BE49-F238E27FC236}">
                <a16:creationId xmlns:a16="http://schemas.microsoft.com/office/drawing/2014/main" id="{2F3C9F06-E845-12E2-7F28-8562DAF2F364}"/>
              </a:ext>
            </a:extLst>
          </p:cNvPr>
          <p:cNvPicPr>
            <a:picLocks noChangeAspect="1"/>
          </p:cNvPicPr>
          <p:nvPr/>
        </p:nvPicPr>
        <p:blipFill>
          <a:blip r:embed="rId4"/>
          <a:stretch>
            <a:fillRect/>
          </a:stretch>
        </p:blipFill>
        <p:spPr>
          <a:xfrm>
            <a:off x="1357050" y="1532994"/>
            <a:ext cx="268065" cy="234557"/>
          </a:xfrm>
          <a:prstGeom prst="rect">
            <a:avLst/>
          </a:prstGeom>
        </p:spPr>
      </p:pic>
      <p:pic>
        <p:nvPicPr>
          <p:cNvPr id="34" name="Picture 8" descr="アクセス, 2013年 無料 アイコン の Simply Styled Icons">
            <a:extLst>
              <a:ext uri="{FF2B5EF4-FFF2-40B4-BE49-F238E27FC236}">
                <a16:creationId xmlns:a16="http://schemas.microsoft.com/office/drawing/2014/main" id="{562B945C-DC01-777C-88F6-0F9415262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3786" y="1771356"/>
            <a:ext cx="208402" cy="208402"/>
          </a:xfrm>
          <a:prstGeom prst="rect">
            <a:avLst/>
          </a:prstGeom>
          <a:noFill/>
          <a:extLst>
            <a:ext uri="{909E8E84-426E-40DD-AFC4-6F175D3DCCD1}">
              <a14:hiddenFill xmlns:a14="http://schemas.microsoft.com/office/drawing/2010/main">
                <a:solidFill>
                  <a:srgbClr val="FFFFFF"/>
                </a:solidFill>
              </a14:hiddenFill>
            </a:ext>
          </a:extLst>
        </p:spPr>
      </p:pic>
      <p:sp>
        <p:nvSpPr>
          <p:cNvPr id="35" name="テキスト ボックス 34">
            <a:extLst>
              <a:ext uri="{FF2B5EF4-FFF2-40B4-BE49-F238E27FC236}">
                <a16:creationId xmlns:a16="http://schemas.microsoft.com/office/drawing/2014/main" id="{93488A6B-09BE-1618-CCDF-45CE06E253C2}"/>
              </a:ext>
            </a:extLst>
          </p:cNvPr>
          <p:cNvSpPr txBox="1"/>
          <p:nvPr/>
        </p:nvSpPr>
        <p:spPr>
          <a:xfrm>
            <a:off x="1609185" y="1514250"/>
            <a:ext cx="1557007"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a:t>
            </a:r>
            <a:r>
              <a:rPr kumimoji="1" lang="en-US" altLang="ja-JP" sz="900" dirty="0" err="1">
                <a:solidFill>
                  <a:prstClr val="black"/>
                </a:solidFill>
                <a:latin typeface="游ゴシック" panose="020F0502020204030204"/>
                <a:ea typeface="游ゴシック" panose="020B0400000000000000" pitchFamily="50" charset="-128"/>
              </a:rPr>
              <a:t>ALAYAMenu</a:t>
            </a:r>
            <a:endParaRPr kumimoji="1" lang="ja-JP" altLang="en-US" sz="900" dirty="0">
              <a:solidFill>
                <a:prstClr val="black"/>
              </a:solidFill>
              <a:latin typeface="游ゴシック" panose="020F0502020204030204"/>
              <a:ea typeface="游ゴシック" panose="020B0400000000000000" pitchFamily="50" charset="-128"/>
            </a:endParaRPr>
          </a:p>
        </p:txBody>
      </p:sp>
      <p:sp>
        <p:nvSpPr>
          <p:cNvPr id="40" name="テキスト ボックス 39">
            <a:extLst>
              <a:ext uri="{FF2B5EF4-FFF2-40B4-BE49-F238E27FC236}">
                <a16:creationId xmlns:a16="http://schemas.microsoft.com/office/drawing/2014/main" id="{6CB4B848-5AB8-03C4-4D93-0893AE058783}"/>
              </a:ext>
            </a:extLst>
          </p:cNvPr>
          <p:cNvSpPr txBox="1"/>
          <p:nvPr/>
        </p:nvSpPr>
        <p:spPr>
          <a:xfrm>
            <a:off x="1906238" y="1776335"/>
            <a:ext cx="2179526"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ALAYA</a:t>
            </a:r>
            <a:r>
              <a:rPr kumimoji="1" lang="ja-JP" altLang="en-US" sz="900" dirty="0">
                <a:solidFill>
                  <a:prstClr val="black"/>
                </a:solidFill>
                <a:latin typeface="游ゴシック" panose="020F0502020204030204"/>
                <a:ea typeface="游ゴシック" panose="020B0400000000000000" pitchFamily="50" charset="-128"/>
              </a:rPr>
              <a:t> </a:t>
            </a:r>
            <a:r>
              <a:rPr kumimoji="1" lang="en-US" altLang="ja-JP" sz="900" dirty="0">
                <a:solidFill>
                  <a:prstClr val="black"/>
                </a:solidFill>
                <a:latin typeface="游ゴシック" panose="020F0502020204030204"/>
                <a:ea typeface="游ゴシック" panose="020B0400000000000000" pitchFamily="50" charset="-128"/>
              </a:rPr>
              <a:t>Menu</a:t>
            </a:r>
            <a:r>
              <a:rPr kumimoji="1" lang="ja-JP" altLang="en-US" sz="900" dirty="0">
                <a:solidFill>
                  <a:prstClr val="black"/>
                </a:solidFill>
                <a:latin typeface="游ゴシック" panose="020F0502020204030204"/>
                <a:ea typeface="游ゴシック" panose="020B0400000000000000" pitchFamily="50" charset="-128"/>
              </a:rPr>
              <a:t> </a:t>
            </a:r>
            <a:r>
              <a:rPr kumimoji="1" lang="en-US" altLang="ja-JP" sz="900" dirty="0">
                <a:solidFill>
                  <a:prstClr val="black"/>
                </a:solidFill>
                <a:latin typeface="游ゴシック" panose="020F0502020204030204"/>
                <a:ea typeface="游ゴシック" panose="020B0400000000000000" pitchFamily="50" charset="-128"/>
              </a:rPr>
              <a:t>2.03.accdb</a:t>
            </a:r>
          </a:p>
        </p:txBody>
      </p:sp>
      <p:pic>
        <p:nvPicPr>
          <p:cNvPr id="45" name="図 44">
            <a:extLst>
              <a:ext uri="{FF2B5EF4-FFF2-40B4-BE49-F238E27FC236}">
                <a16:creationId xmlns:a16="http://schemas.microsoft.com/office/drawing/2014/main" id="{3DC72A7C-62AE-2C81-1902-B43B74A70423}"/>
              </a:ext>
            </a:extLst>
          </p:cNvPr>
          <p:cNvPicPr>
            <a:picLocks noChangeAspect="1"/>
          </p:cNvPicPr>
          <p:nvPr/>
        </p:nvPicPr>
        <p:blipFill>
          <a:blip r:embed="rId3"/>
          <a:stretch>
            <a:fillRect/>
          </a:stretch>
        </p:blipFill>
        <p:spPr>
          <a:xfrm>
            <a:off x="1737884" y="2026579"/>
            <a:ext cx="162094" cy="190397"/>
          </a:xfrm>
          <a:prstGeom prst="rect">
            <a:avLst/>
          </a:prstGeom>
        </p:spPr>
      </p:pic>
      <p:sp>
        <p:nvSpPr>
          <p:cNvPr id="47" name="テキスト ボックス 46">
            <a:extLst>
              <a:ext uri="{FF2B5EF4-FFF2-40B4-BE49-F238E27FC236}">
                <a16:creationId xmlns:a16="http://schemas.microsoft.com/office/drawing/2014/main" id="{C7593381-C4A0-4AAF-2A80-8EE9F1A250C6}"/>
              </a:ext>
            </a:extLst>
          </p:cNvPr>
          <p:cNvSpPr txBox="1"/>
          <p:nvPr/>
        </p:nvSpPr>
        <p:spPr>
          <a:xfrm>
            <a:off x="1906238" y="2018689"/>
            <a:ext cx="1895193"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ALAYA</a:t>
            </a:r>
            <a:r>
              <a:rPr kumimoji="1" lang="ja-JP" altLang="en-US" sz="900" dirty="0">
                <a:solidFill>
                  <a:prstClr val="black"/>
                </a:solidFill>
                <a:latin typeface="游ゴシック" panose="020F0502020204030204"/>
                <a:ea typeface="游ゴシック" panose="020B0400000000000000" pitchFamily="50" charset="-128"/>
              </a:rPr>
              <a:t>メニュー起動</a:t>
            </a:r>
            <a:r>
              <a:rPr kumimoji="1" lang="en-US" altLang="ja-JP" sz="900" dirty="0">
                <a:solidFill>
                  <a:prstClr val="black"/>
                </a:solidFill>
                <a:latin typeface="游ゴシック" panose="020F0502020204030204"/>
                <a:ea typeface="游ゴシック" panose="020B0400000000000000" pitchFamily="50" charset="-128"/>
              </a:rPr>
              <a:t>.</a:t>
            </a:r>
            <a:r>
              <a:rPr kumimoji="1" lang="en-US" altLang="ja-JP" sz="900" dirty="0" err="1">
                <a:solidFill>
                  <a:prstClr val="black"/>
                </a:solidFill>
                <a:latin typeface="游ゴシック" panose="020F0502020204030204"/>
                <a:ea typeface="游ゴシック" panose="020B0400000000000000" pitchFamily="50" charset="-128"/>
              </a:rPr>
              <a:t>vbs</a:t>
            </a:r>
            <a:endParaRPr kumimoji="1" lang="en-US" altLang="ja-JP" sz="900" dirty="0">
              <a:solidFill>
                <a:prstClr val="black"/>
              </a:solidFill>
              <a:latin typeface="游ゴシック" panose="020F0502020204030204"/>
              <a:ea typeface="游ゴシック" panose="020B0400000000000000" pitchFamily="50" charset="-128"/>
            </a:endParaRPr>
          </a:p>
        </p:txBody>
      </p:sp>
      <p:pic>
        <p:nvPicPr>
          <p:cNvPr id="48" name="図 47">
            <a:extLst>
              <a:ext uri="{FF2B5EF4-FFF2-40B4-BE49-F238E27FC236}">
                <a16:creationId xmlns:a16="http://schemas.microsoft.com/office/drawing/2014/main" id="{549D50E7-8F7A-AC67-A8D3-E2D6DE67E8D5}"/>
              </a:ext>
            </a:extLst>
          </p:cNvPr>
          <p:cNvPicPr>
            <a:picLocks noChangeAspect="1"/>
          </p:cNvPicPr>
          <p:nvPr/>
        </p:nvPicPr>
        <p:blipFill>
          <a:blip r:embed="rId5"/>
          <a:stretch>
            <a:fillRect/>
          </a:stretch>
        </p:blipFill>
        <p:spPr>
          <a:xfrm>
            <a:off x="1699692" y="2270941"/>
            <a:ext cx="224211" cy="224211"/>
          </a:xfrm>
          <a:prstGeom prst="rect">
            <a:avLst/>
          </a:prstGeom>
        </p:spPr>
      </p:pic>
      <p:sp>
        <p:nvSpPr>
          <p:cNvPr id="49" name="テキスト ボックス 48">
            <a:extLst>
              <a:ext uri="{FF2B5EF4-FFF2-40B4-BE49-F238E27FC236}">
                <a16:creationId xmlns:a16="http://schemas.microsoft.com/office/drawing/2014/main" id="{4147DE0C-7DBE-162D-F0A6-90792C614D12}"/>
              </a:ext>
            </a:extLst>
          </p:cNvPr>
          <p:cNvSpPr txBox="1"/>
          <p:nvPr/>
        </p:nvSpPr>
        <p:spPr>
          <a:xfrm>
            <a:off x="1593401" y="2503365"/>
            <a:ext cx="914464"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\ALAYADB</a:t>
            </a:r>
            <a:endParaRPr kumimoji="1" lang="ja-JP" altLang="en-US" sz="900" dirty="0">
              <a:solidFill>
                <a:prstClr val="black"/>
              </a:solidFill>
              <a:latin typeface="游ゴシック" panose="020F0502020204030204"/>
              <a:ea typeface="游ゴシック" panose="020B0400000000000000" pitchFamily="50" charset="-128"/>
            </a:endParaRPr>
          </a:p>
        </p:txBody>
      </p:sp>
      <p:sp>
        <p:nvSpPr>
          <p:cNvPr id="51" name="テキスト ボックス 50">
            <a:extLst>
              <a:ext uri="{FF2B5EF4-FFF2-40B4-BE49-F238E27FC236}">
                <a16:creationId xmlns:a16="http://schemas.microsoft.com/office/drawing/2014/main" id="{5768F726-E436-9825-22B7-B994F5CF75D0}"/>
              </a:ext>
            </a:extLst>
          </p:cNvPr>
          <p:cNvSpPr txBox="1"/>
          <p:nvPr/>
        </p:nvSpPr>
        <p:spPr>
          <a:xfrm>
            <a:off x="907422" y="1065007"/>
            <a:ext cx="1301994"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\AccessALAYA.zip</a:t>
            </a:r>
            <a:endParaRPr kumimoji="1" lang="ja-JP" altLang="en-US" sz="900" dirty="0">
              <a:solidFill>
                <a:prstClr val="black"/>
              </a:solidFill>
              <a:latin typeface="游ゴシック" panose="020F0502020204030204"/>
              <a:ea typeface="游ゴシック" panose="020B0400000000000000" pitchFamily="50" charset="-128"/>
            </a:endParaRPr>
          </a:p>
        </p:txBody>
      </p:sp>
      <p:sp>
        <p:nvSpPr>
          <p:cNvPr id="52" name="テキスト ボックス 51">
            <a:extLst>
              <a:ext uri="{FF2B5EF4-FFF2-40B4-BE49-F238E27FC236}">
                <a16:creationId xmlns:a16="http://schemas.microsoft.com/office/drawing/2014/main" id="{390F9B3F-8C14-22DC-F08B-388A5C38AE74}"/>
              </a:ext>
            </a:extLst>
          </p:cNvPr>
          <p:cNvSpPr txBox="1"/>
          <p:nvPr/>
        </p:nvSpPr>
        <p:spPr>
          <a:xfrm>
            <a:off x="1899978" y="2253936"/>
            <a:ext cx="1833964"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ALAYA</a:t>
            </a:r>
            <a:r>
              <a:rPr kumimoji="1" lang="ja-JP" altLang="en-US" sz="900" dirty="0">
                <a:solidFill>
                  <a:prstClr val="black"/>
                </a:solidFill>
                <a:latin typeface="游ゴシック" panose="020F0502020204030204"/>
                <a:ea typeface="游ゴシック" panose="020B0400000000000000" pitchFamily="50" charset="-128"/>
              </a:rPr>
              <a:t>メニュー</a:t>
            </a:r>
            <a:r>
              <a:rPr kumimoji="1" lang="en-US" altLang="ja-JP" sz="900" dirty="0">
                <a:solidFill>
                  <a:prstClr val="black"/>
                </a:solidFill>
                <a:latin typeface="游ゴシック" panose="020F0502020204030204"/>
                <a:ea typeface="游ゴシック" panose="020B0400000000000000" pitchFamily="50" charset="-128"/>
              </a:rPr>
              <a:t>.def</a:t>
            </a:r>
          </a:p>
        </p:txBody>
      </p:sp>
      <p:pic>
        <p:nvPicPr>
          <p:cNvPr id="55" name="図 54">
            <a:extLst>
              <a:ext uri="{FF2B5EF4-FFF2-40B4-BE49-F238E27FC236}">
                <a16:creationId xmlns:a16="http://schemas.microsoft.com/office/drawing/2014/main" id="{583B49C2-F625-A9BD-95CB-D2FC62E9F22E}"/>
              </a:ext>
            </a:extLst>
          </p:cNvPr>
          <p:cNvPicPr>
            <a:picLocks noChangeAspect="1"/>
          </p:cNvPicPr>
          <p:nvPr/>
        </p:nvPicPr>
        <p:blipFill>
          <a:blip r:embed="rId6"/>
          <a:stretch>
            <a:fillRect/>
          </a:stretch>
        </p:blipFill>
        <p:spPr>
          <a:xfrm>
            <a:off x="502607" y="936015"/>
            <a:ext cx="482114" cy="482114"/>
          </a:xfrm>
          <a:prstGeom prst="rect">
            <a:avLst/>
          </a:prstGeom>
        </p:spPr>
      </p:pic>
      <p:sp>
        <p:nvSpPr>
          <p:cNvPr id="59" name="正方形/長方形 58">
            <a:extLst>
              <a:ext uri="{FF2B5EF4-FFF2-40B4-BE49-F238E27FC236}">
                <a16:creationId xmlns:a16="http://schemas.microsoft.com/office/drawing/2014/main" id="{9BBCE3CB-053E-4A08-F2FA-49BB149371F3}"/>
              </a:ext>
            </a:extLst>
          </p:cNvPr>
          <p:cNvSpPr/>
          <p:nvPr/>
        </p:nvSpPr>
        <p:spPr>
          <a:xfrm>
            <a:off x="473615" y="945612"/>
            <a:ext cx="5910770" cy="2501876"/>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0" i="0" u="none" strike="noStrike" kern="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endParaRPr>
          </a:p>
        </p:txBody>
      </p:sp>
      <p:pic>
        <p:nvPicPr>
          <p:cNvPr id="4" name="図 3">
            <a:extLst>
              <a:ext uri="{FF2B5EF4-FFF2-40B4-BE49-F238E27FC236}">
                <a16:creationId xmlns:a16="http://schemas.microsoft.com/office/drawing/2014/main" id="{66F182B1-A71C-F7D3-56A7-22D9685A2A5F}"/>
              </a:ext>
            </a:extLst>
          </p:cNvPr>
          <p:cNvPicPr>
            <a:picLocks noChangeAspect="1"/>
          </p:cNvPicPr>
          <p:nvPr/>
        </p:nvPicPr>
        <p:blipFill>
          <a:blip r:embed="rId5"/>
          <a:stretch>
            <a:fillRect/>
          </a:stretch>
        </p:blipFill>
        <p:spPr>
          <a:xfrm>
            <a:off x="403764" y="5786052"/>
            <a:ext cx="376022" cy="376022"/>
          </a:xfrm>
          <a:prstGeom prst="rect">
            <a:avLst/>
          </a:prstGeom>
        </p:spPr>
      </p:pic>
      <p:sp>
        <p:nvSpPr>
          <p:cNvPr id="6" name="テキスト ボックス 5">
            <a:extLst>
              <a:ext uri="{FF2B5EF4-FFF2-40B4-BE49-F238E27FC236}">
                <a16:creationId xmlns:a16="http://schemas.microsoft.com/office/drawing/2014/main" id="{487A1236-91B8-C826-A210-E58A06CEFD18}"/>
              </a:ext>
            </a:extLst>
          </p:cNvPr>
          <p:cNvSpPr txBox="1"/>
          <p:nvPr/>
        </p:nvSpPr>
        <p:spPr>
          <a:xfrm>
            <a:off x="979152" y="6047856"/>
            <a:ext cx="5027949" cy="577081"/>
          </a:xfrm>
          <a:prstGeom prst="rect">
            <a:avLst/>
          </a:prstGeom>
          <a:noFill/>
        </p:spPr>
        <p:txBody>
          <a:bodyPr wrap="square" rtlCol="0">
            <a:spAutoFit/>
          </a:bodyPr>
          <a:lstStyle/>
          <a:p>
            <a:r>
              <a:rPr lang="en-US" altLang="ja-JP" sz="1050" dirty="0"/>
              <a:t>This is the </a:t>
            </a:r>
            <a:r>
              <a:rPr lang="en-US" altLang="ja-JP" sz="1050" b="1" dirty="0"/>
              <a:t>release definition file</a:t>
            </a:r>
            <a:r>
              <a:rPr lang="en-US" altLang="ja-JP" sz="1050" dirty="0"/>
              <a:t>. It is a simple text file that contains the name of the menu module designated for distribution. The startup script references this file to determine which version of the menu module should be launched.</a:t>
            </a:r>
            <a:endParaRPr kumimoji="1" lang="en-US" altLang="ja-JP" sz="1050" dirty="0"/>
          </a:p>
        </p:txBody>
      </p:sp>
      <p:pic>
        <p:nvPicPr>
          <p:cNvPr id="7" name="図 6">
            <a:extLst>
              <a:ext uri="{FF2B5EF4-FFF2-40B4-BE49-F238E27FC236}">
                <a16:creationId xmlns:a16="http://schemas.microsoft.com/office/drawing/2014/main" id="{9DE7F105-7DE2-2F8E-A156-79AA65135875}"/>
              </a:ext>
            </a:extLst>
          </p:cNvPr>
          <p:cNvPicPr>
            <a:picLocks noChangeAspect="1"/>
          </p:cNvPicPr>
          <p:nvPr/>
        </p:nvPicPr>
        <p:blipFill>
          <a:blip r:embed="rId4"/>
          <a:stretch>
            <a:fillRect/>
          </a:stretch>
        </p:blipFill>
        <p:spPr>
          <a:xfrm>
            <a:off x="975438" y="1283623"/>
            <a:ext cx="268065" cy="234557"/>
          </a:xfrm>
          <a:prstGeom prst="rect">
            <a:avLst/>
          </a:prstGeom>
        </p:spPr>
      </p:pic>
      <p:sp>
        <p:nvSpPr>
          <p:cNvPr id="8" name="テキスト ボックス 7">
            <a:extLst>
              <a:ext uri="{FF2B5EF4-FFF2-40B4-BE49-F238E27FC236}">
                <a16:creationId xmlns:a16="http://schemas.microsoft.com/office/drawing/2014/main" id="{8D4F033C-3B96-6BE5-FE44-D411A355C4C6}"/>
              </a:ext>
            </a:extLst>
          </p:cNvPr>
          <p:cNvSpPr txBox="1"/>
          <p:nvPr/>
        </p:nvSpPr>
        <p:spPr>
          <a:xfrm>
            <a:off x="1258568" y="1276799"/>
            <a:ext cx="1301994"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a:t>
            </a:r>
            <a:r>
              <a:rPr kumimoji="1" lang="en-US" altLang="ja-JP" sz="900" dirty="0" err="1">
                <a:solidFill>
                  <a:prstClr val="black"/>
                </a:solidFill>
                <a:latin typeface="游ゴシック" panose="020F0502020204030204"/>
                <a:ea typeface="游ゴシック" panose="020B0400000000000000" pitchFamily="50" charset="-128"/>
              </a:rPr>
              <a:t>AccessALAYA</a:t>
            </a:r>
            <a:endParaRPr kumimoji="1" lang="ja-JP" altLang="en-US" sz="900" dirty="0">
              <a:solidFill>
                <a:prstClr val="black"/>
              </a:solidFill>
              <a:latin typeface="游ゴシック" panose="020F0502020204030204"/>
              <a:ea typeface="游ゴシック" panose="020B0400000000000000" pitchFamily="50" charset="-128"/>
            </a:endParaRPr>
          </a:p>
        </p:txBody>
      </p:sp>
      <p:pic>
        <p:nvPicPr>
          <p:cNvPr id="11" name="図 10">
            <a:extLst>
              <a:ext uri="{FF2B5EF4-FFF2-40B4-BE49-F238E27FC236}">
                <a16:creationId xmlns:a16="http://schemas.microsoft.com/office/drawing/2014/main" id="{852D74CF-854F-BC04-F748-528A1C9340E0}"/>
              </a:ext>
            </a:extLst>
          </p:cNvPr>
          <p:cNvPicPr>
            <a:picLocks noChangeAspect="1"/>
          </p:cNvPicPr>
          <p:nvPr/>
        </p:nvPicPr>
        <p:blipFill>
          <a:blip r:embed="rId4"/>
          <a:stretch>
            <a:fillRect/>
          </a:stretch>
        </p:blipFill>
        <p:spPr>
          <a:xfrm>
            <a:off x="1357050" y="2795034"/>
            <a:ext cx="268065" cy="234557"/>
          </a:xfrm>
          <a:prstGeom prst="rect">
            <a:avLst/>
          </a:prstGeom>
        </p:spPr>
      </p:pic>
      <p:sp>
        <p:nvSpPr>
          <p:cNvPr id="12" name="テキスト ボックス 11">
            <a:extLst>
              <a:ext uri="{FF2B5EF4-FFF2-40B4-BE49-F238E27FC236}">
                <a16:creationId xmlns:a16="http://schemas.microsoft.com/office/drawing/2014/main" id="{283B8E51-D311-11CD-65B3-401CA3B36AF9}"/>
              </a:ext>
            </a:extLst>
          </p:cNvPr>
          <p:cNvSpPr txBox="1"/>
          <p:nvPr/>
        </p:nvSpPr>
        <p:spPr>
          <a:xfrm>
            <a:off x="1593401" y="2813586"/>
            <a:ext cx="1714608"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\ALAYA</a:t>
            </a:r>
            <a:r>
              <a:rPr kumimoji="1" lang="ja-JP" altLang="en-US" sz="900" dirty="0">
                <a:solidFill>
                  <a:prstClr val="black"/>
                </a:solidFill>
                <a:latin typeface="游ゴシック" panose="020F0502020204030204"/>
                <a:ea typeface="游ゴシック" panose="020B0400000000000000" pitchFamily="50" charset="-128"/>
              </a:rPr>
              <a:t> </a:t>
            </a:r>
            <a:r>
              <a:rPr kumimoji="1" lang="en-US" altLang="ja-JP" sz="900" dirty="0">
                <a:solidFill>
                  <a:prstClr val="black"/>
                </a:solidFill>
                <a:latin typeface="游ゴシック" panose="020F0502020204030204"/>
                <a:ea typeface="游ゴシック" panose="020B0400000000000000" pitchFamily="50" charset="-128"/>
              </a:rPr>
              <a:t>Installer</a:t>
            </a:r>
            <a:endParaRPr kumimoji="1" lang="ja-JP" altLang="en-US" sz="900" dirty="0">
              <a:solidFill>
                <a:prstClr val="black"/>
              </a:solidFill>
              <a:latin typeface="游ゴシック" panose="020F0502020204030204"/>
              <a:ea typeface="游ゴシック" panose="020B0400000000000000" pitchFamily="50" charset="-128"/>
            </a:endParaRPr>
          </a:p>
        </p:txBody>
      </p:sp>
      <p:pic>
        <p:nvPicPr>
          <p:cNvPr id="13" name="図 12">
            <a:extLst>
              <a:ext uri="{FF2B5EF4-FFF2-40B4-BE49-F238E27FC236}">
                <a16:creationId xmlns:a16="http://schemas.microsoft.com/office/drawing/2014/main" id="{7B5B3DBC-BFAA-20F8-0BDB-5FA9A7C6852E}"/>
              </a:ext>
            </a:extLst>
          </p:cNvPr>
          <p:cNvPicPr>
            <a:picLocks noChangeAspect="1"/>
          </p:cNvPicPr>
          <p:nvPr/>
        </p:nvPicPr>
        <p:blipFill>
          <a:blip r:embed="rId4"/>
          <a:stretch>
            <a:fillRect/>
          </a:stretch>
        </p:blipFill>
        <p:spPr>
          <a:xfrm>
            <a:off x="1357050" y="3100292"/>
            <a:ext cx="268065" cy="234557"/>
          </a:xfrm>
          <a:prstGeom prst="rect">
            <a:avLst/>
          </a:prstGeom>
        </p:spPr>
      </p:pic>
      <p:sp>
        <p:nvSpPr>
          <p:cNvPr id="14" name="テキスト ボックス 13">
            <a:extLst>
              <a:ext uri="{FF2B5EF4-FFF2-40B4-BE49-F238E27FC236}">
                <a16:creationId xmlns:a16="http://schemas.microsoft.com/office/drawing/2014/main" id="{943AFAD7-33A8-DC4F-509E-FCCE07A62B2E}"/>
              </a:ext>
            </a:extLst>
          </p:cNvPr>
          <p:cNvSpPr txBox="1"/>
          <p:nvPr/>
        </p:nvSpPr>
        <p:spPr>
          <a:xfrm>
            <a:off x="1593400" y="3106652"/>
            <a:ext cx="1572791" cy="230832"/>
          </a:xfrm>
          <a:prstGeom prst="rect">
            <a:avLst/>
          </a:prstGeom>
          <a:noFill/>
        </p:spPr>
        <p:txBody>
          <a:bodyPr wrap="square" rtlCol="0">
            <a:spAutoFit/>
          </a:bodyPr>
          <a:lstStyle/>
          <a:p>
            <a:pPr defTabSz="914400"/>
            <a:r>
              <a:rPr kumimoji="1" lang="en-US" altLang="ja-JP" sz="900" dirty="0">
                <a:solidFill>
                  <a:prstClr val="black"/>
                </a:solidFill>
                <a:latin typeface="游ゴシック" panose="020F0502020204030204"/>
                <a:ea typeface="游ゴシック" panose="020B0400000000000000" pitchFamily="50" charset="-128"/>
              </a:rPr>
              <a:t>\Starting </a:t>
            </a:r>
            <a:r>
              <a:rPr kumimoji="1" lang="en-US" altLang="ja-JP" sz="900" dirty="0" err="1">
                <a:solidFill>
                  <a:prstClr val="black"/>
                </a:solidFill>
                <a:latin typeface="游ゴシック" panose="020F0502020204030204"/>
                <a:ea typeface="游ゴシック" panose="020B0400000000000000" pitchFamily="50" charset="-128"/>
              </a:rPr>
              <a:t>AccessALAYA</a:t>
            </a:r>
            <a:endParaRPr kumimoji="1" lang="ja-JP" altLang="en-US" sz="900" dirty="0">
              <a:solidFill>
                <a:prstClr val="black"/>
              </a:solidFill>
              <a:latin typeface="游ゴシック" panose="020F0502020204030204"/>
              <a:ea typeface="游ゴシック" panose="020B0400000000000000" pitchFamily="50" charset="-128"/>
            </a:endParaRPr>
          </a:p>
        </p:txBody>
      </p:sp>
      <p:pic>
        <p:nvPicPr>
          <p:cNvPr id="15" name="図 14">
            <a:extLst>
              <a:ext uri="{FF2B5EF4-FFF2-40B4-BE49-F238E27FC236}">
                <a16:creationId xmlns:a16="http://schemas.microsoft.com/office/drawing/2014/main" id="{FB97FDEA-6617-24FD-8EA6-F69F34893139}"/>
              </a:ext>
            </a:extLst>
          </p:cNvPr>
          <p:cNvPicPr>
            <a:picLocks noChangeAspect="1"/>
          </p:cNvPicPr>
          <p:nvPr/>
        </p:nvPicPr>
        <p:blipFill>
          <a:blip r:embed="rId4"/>
          <a:stretch>
            <a:fillRect/>
          </a:stretch>
        </p:blipFill>
        <p:spPr>
          <a:xfrm>
            <a:off x="508832" y="6824538"/>
            <a:ext cx="268065" cy="234557"/>
          </a:xfrm>
          <a:prstGeom prst="rect">
            <a:avLst/>
          </a:prstGeom>
        </p:spPr>
      </p:pic>
      <p:sp>
        <p:nvSpPr>
          <p:cNvPr id="17" name="テキスト ボックス 16">
            <a:extLst>
              <a:ext uri="{FF2B5EF4-FFF2-40B4-BE49-F238E27FC236}">
                <a16:creationId xmlns:a16="http://schemas.microsoft.com/office/drawing/2014/main" id="{173E816B-1789-295E-DEC7-906051F1B283}"/>
              </a:ext>
            </a:extLst>
          </p:cNvPr>
          <p:cNvSpPr txBox="1"/>
          <p:nvPr/>
        </p:nvSpPr>
        <p:spPr>
          <a:xfrm>
            <a:off x="880100" y="7612200"/>
            <a:ext cx="1259136" cy="253916"/>
          </a:xfrm>
          <a:prstGeom prst="rect">
            <a:avLst/>
          </a:prstGeom>
          <a:noFill/>
        </p:spPr>
        <p:txBody>
          <a:bodyPr wrap="square" rtlCol="0">
            <a:spAutoFit/>
          </a:bodyPr>
          <a:lstStyle/>
          <a:p>
            <a:r>
              <a:rPr lang="en-US" altLang="ja-JP" sz="1050" dirty="0"/>
              <a:t>Alaya</a:t>
            </a:r>
            <a:r>
              <a:rPr lang="ja-JP" altLang="en-US" sz="1050" dirty="0"/>
              <a:t> </a:t>
            </a:r>
            <a:r>
              <a:rPr lang="en-US" altLang="ja-JP" sz="1050" dirty="0"/>
              <a:t>Installer</a:t>
            </a:r>
          </a:p>
        </p:txBody>
      </p:sp>
      <p:pic>
        <p:nvPicPr>
          <p:cNvPr id="18" name="図 17">
            <a:extLst>
              <a:ext uri="{FF2B5EF4-FFF2-40B4-BE49-F238E27FC236}">
                <a16:creationId xmlns:a16="http://schemas.microsoft.com/office/drawing/2014/main" id="{D2C8210D-4D7E-05D1-DD60-50CFBD5D895F}"/>
              </a:ext>
            </a:extLst>
          </p:cNvPr>
          <p:cNvPicPr>
            <a:picLocks noChangeAspect="1"/>
          </p:cNvPicPr>
          <p:nvPr/>
        </p:nvPicPr>
        <p:blipFill>
          <a:blip r:embed="rId4"/>
          <a:stretch>
            <a:fillRect/>
          </a:stretch>
        </p:blipFill>
        <p:spPr>
          <a:xfrm>
            <a:off x="508832" y="7641339"/>
            <a:ext cx="268065" cy="234557"/>
          </a:xfrm>
          <a:prstGeom prst="rect">
            <a:avLst/>
          </a:prstGeom>
        </p:spPr>
      </p:pic>
      <p:sp>
        <p:nvSpPr>
          <p:cNvPr id="19" name="テキスト ボックス 18">
            <a:extLst>
              <a:ext uri="{FF2B5EF4-FFF2-40B4-BE49-F238E27FC236}">
                <a16:creationId xmlns:a16="http://schemas.microsoft.com/office/drawing/2014/main" id="{2560A736-A71A-5FCB-6CA8-8638CF84AD82}"/>
              </a:ext>
            </a:extLst>
          </p:cNvPr>
          <p:cNvSpPr txBox="1"/>
          <p:nvPr/>
        </p:nvSpPr>
        <p:spPr>
          <a:xfrm>
            <a:off x="1001005" y="8601716"/>
            <a:ext cx="5646159" cy="253916"/>
          </a:xfrm>
          <a:prstGeom prst="rect">
            <a:avLst/>
          </a:prstGeom>
          <a:noFill/>
        </p:spPr>
        <p:txBody>
          <a:bodyPr wrap="square" rtlCol="0">
            <a:spAutoFit/>
          </a:bodyPr>
          <a:lstStyle/>
          <a:p>
            <a:r>
              <a:rPr lang="en-US" altLang="ja-JP" sz="1050" dirty="0"/>
              <a:t>This is the folder that contains the document you are currently reading.</a:t>
            </a:r>
            <a:endParaRPr kumimoji="1" lang="ja-JP" altLang="en-US" sz="1050" dirty="0"/>
          </a:p>
        </p:txBody>
      </p:sp>
      <p:sp>
        <p:nvSpPr>
          <p:cNvPr id="20" name="テキスト ボックス 19">
            <a:extLst>
              <a:ext uri="{FF2B5EF4-FFF2-40B4-BE49-F238E27FC236}">
                <a16:creationId xmlns:a16="http://schemas.microsoft.com/office/drawing/2014/main" id="{6A5CB88C-1603-E78E-47B3-7491DE6C46AB}"/>
              </a:ext>
            </a:extLst>
          </p:cNvPr>
          <p:cNvSpPr txBox="1"/>
          <p:nvPr/>
        </p:nvSpPr>
        <p:spPr>
          <a:xfrm>
            <a:off x="880100" y="8361482"/>
            <a:ext cx="1506840" cy="253916"/>
          </a:xfrm>
          <a:prstGeom prst="rect">
            <a:avLst/>
          </a:prstGeom>
          <a:noFill/>
        </p:spPr>
        <p:txBody>
          <a:bodyPr wrap="square" rtlCol="0">
            <a:spAutoFit/>
          </a:bodyPr>
          <a:lstStyle/>
          <a:p>
            <a:r>
              <a:rPr lang="en-US" altLang="ja-JP" sz="1050" dirty="0"/>
              <a:t>Starting ALAYA</a:t>
            </a:r>
          </a:p>
        </p:txBody>
      </p:sp>
      <p:pic>
        <p:nvPicPr>
          <p:cNvPr id="23" name="図 22">
            <a:extLst>
              <a:ext uri="{FF2B5EF4-FFF2-40B4-BE49-F238E27FC236}">
                <a16:creationId xmlns:a16="http://schemas.microsoft.com/office/drawing/2014/main" id="{6203692D-D571-2480-D048-386CBAB6D175}"/>
              </a:ext>
            </a:extLst>
          </p:cNvPr>
          <p:cNvPicPr>
            <a:picLocks noChangeAspect="1"/>
          </p:cNvPicPr>
          <p:nvPr/>
        </p:nvPicPr>
        <p:blipFill>
          <a:blip r:embed="rId4"/>
          <a:stretch>
            <a:fillRect/>
          </a:stretch>
        </p:blipFill>
        <p:spPr>
          <a:xfrm>
            <a:off x="508832" y="8381565"/>
            <a:ext cx="268065" cy="234557"/>
          </a:xfrm>
          <a:prstGeom prst="rect">
            <a:avLst/>
          </a:prstGeom>
        </p:spPr>
      </p:pic>
      <p:sp>
        <p:nvSpPr>
          <p:cNvPr id="27" name="テキスト ボックス 26">
            <a:extLst>
              <a:ext uri="{FF2B5EF4-FFF2-40B4-BE49-F238E27FC236}">
                <a16:creationId xmlns:a16="http://schemas.microsoft.com/office/drawing/2014/main" id="{70052546-8F88-AEDC-68C5-69776282ACBE}"/>
              </a:ext>
            </a:extLst>
          </p:cNvPr>
          <p:cNvSpPr txBox="1"/>
          <p:nvPr/>
        </p:nvSpPr>
        <p:spPr>
          <a:xfrm>
            <a:off x="966314" y="7896606"/>
            <a:ext cx="5315733" cy="415498"/>
          </a:xfrm>
          <a:prstGeom prst="rect">
            <a:avLst/>
          </a:prstGeom>
          <a:noFill/>
        </p:spPr>
        <p:txBody>
          <a:bodyPr wrap="square" rtlCol="0">
            <a:spAutoFit/>
          </a:bodyPr>
          <a:lstStyle/>
          <a:p>
            <a:r>
              <a:rPr lang="en-US" altLang="ja-JP" sz="1050" dirty="0"/>
              <a:t>This folder contains the installer used to deploy the ALAYA modules onto the file server.</a:t>
            </a:r>
          </a:p>
        </p:txBody>
      </p:sp>
      <p:sp>
        <p:nvSpPr>
          <p:cNvPr id="3" name="矢印: 右 2">
            <a:extLst>
              <a:ext uri="{FF2B5EF4-FFF2-40B4-BE49-F238E27FC236}">
                <a16:creationId xmlns:a16="http://schemas.microsoft.com/office/drawing/2014/main" id="{16C1F0B3-6253-796F-795C-FB50719594FC}"/>
              </a:ext>
            </a:extLst>
          </p:cNvPr>
          <p:cNvSpPr/>
          <p:nvPr/>
        </p:nvSpPr>
        <p:spPr>
          <a:xfrm flipH="1">
            <a:off x="3024373" y="2748480"/>
            <a:ext cx="378168" cy="3551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990ABB23-1B49-3BA6-198E-C57CEB403A87}"/>
              </a:ext>
            </a:extLst>
          </p:cNvPr>
          <p:cNvSpPr txBox="1"/>
          <p:nvPr/>
        </p:nvSpPr>
        <p:spPr>
          <a:xfrm>
            <a:off x="3727104" y="2756566"/>
            <a:ext cx="1614545" cy="307777"/>
          </a:xfrm>
          <a:prstGeom prst="rect">
            <a:avLst/>
          </a:prstGeom>
        </p:spPr>
        <p:style>
          <a:lnRef idx="1">
            <a:schemeClr val="accent4"/>
          </a:lnRef>
          <a:fillRef idx="2">
            <a:schemeClr val="accent4"/>
          </a:fillRef>
          <a:effectRef idx="1">
            <a:schemeClr val="accent4"/>
          </a:effectRef>
          <a:fontRef idx="minor">
            <a:schemeClr val="dk1"/>
          </a:fontRef>
        </p:style>
        <p:txBody>
          <a:bodyPr wrap="none" rtlCol="0" anchor="ctr">
            <a:spAutoFit/>
          </a:bodyPr>
          <a:lstStyle/>
          <a:p>
            <a:pPr algn="ctr"/>
            <a:r>
              <a:rPr kumimoji="1" lang="en-US" altLang="ja-JP" sz="1400" dirty="0"/>
              <a:t>Installer is here !</a:t>
            </a:r>
            <a:endParaRPr kumimoji="1" lang="ja-JP" altLang="en-US" sz="1400" dirty="0"/>
          </a:p>
        </p:txBody>
      </p:sp>
      <p:sp>
        <p:nvSpPr>
          <p:cNvPr id="28" name="テキスト ボックス 27">
            <a:extLst>
              <a:ext uri="{FF2B5EF4-FFF2-40B4-BE49-F238E27FC236}">
                <a16:creationId xmlns:a16="http://schemas.microsoft.com/office/drawing/2014/main" id="{EFF78D24-013D-3EB6-9DEB-3C7F87D6A562}"/>
              </a:ext>
            </a:extLst>
          </p:cNvPr>
          <p:cNvSpPr txBox="1"/>
          <p:nvPr/>
        </p:nvSpPr>
        <p:spPr>
          <a:xfrm>
            <a:off x="765045" y="4846293"/>
            <a:ext cx="3050826" cy="253916"/>
          </a:xfrm>
          <a:prstGeom prst="rect">
            <a:avLst/>
          </a:prstGeom>
          <a:noFill/>
        </p:spPr>
        <p:txBody>
          <a:bodyPr wrap="square" rtlCol="0">
            <a:spAutoFit/>
          </a:bodyPr>
          <a:lstStyle/>
          <a:p>
            <a:r>
              <a:rPr lang="en-US" altLang="ja-JP" sz="1050" dirty="0"/>
              <a:t>Start</a:t>
            </a:r>
            <a:r>
              <a:rPr lang="ja-JP" altLang="en-US" sz="1050" dirty="0"/>
              <a:t> </a:t>
            </a:r>
            <a:r>
              <a:rPr lang="en-US" altLang="ja-JP" sz="1050" dirty="0"/>
              <a:t>ALAYA.vbs</a:t>
            </a:r>
          </a:p>
        </p:txBody>
      </p:sp>
    </p:spTree>
    <p:extLst>
      <p:ext uri="{BB962C8B-B14F-4D97-AF65-F5344CB8AC3E}">
        <p14:creationId xmlns:p14="http://schemas.microsoft.com/office/powerpoint/2010/main" val="2921826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0DB9FF-1B2E-AB82-0584-B11F2873F0D3}"/>
              </a:ext>
            </a:extLst>
          </p:cNvPr>
          <p:cNvSpPr>
            <a:spLocks noGrp="1"/>
          </p:cNvSpPr>
          <p:nvPr>
            <p:ph type="title"/>
          </p:nvPr>
        </p:nvSpPr>
        <p:spPr>
          <a:xfrm>
            <a:off x="355126" y="440761"/>
            <a:ext cx="4835626" cy="376103"/>
          </a:xfrm>
        </p:spPr>
        <p:txBody>
          <a:bodyPr>
            <a:normAutofit fontScale="90000"/>
          </a:bodyPr>
          <a:lstStyle/>
          <a:p>
            <a:r>
              <a:rPr kumimoji="1" lang="en-US" altLang="ja-JP" dirty="0"/>
              <a:t>Installation</a:t>
            </a:r>
            <a:endParaRPr kumimoji="1" lang="ja-JP" altLang="en-US" dirty="0"/>
          </a:p>
        </p:txBody>
      </p:sp>
      <p:sp>
        <p:nvSpPr>
          <p:cNvPr id="29" name="テキスト ボックス 28">
            <a:extLst>
              <a:ext uri="{FF2B5EF4-FFF2-40B4-BE49-F238E27FC236}">
                <a16:creationId xmlns:a16="http://schemas.microsoft.com/office/drawing/2014/main" id="{28D0ACE9-634A-C5F0-214C-41C46B2D5336}"/>
              </a:ext>
            </a:extLst>
          </p:cNvPr>
          <p:cNvSpPr txBox="1"/>
          <p:nvPr/>
        </p:nvSpPr>
        <p:spPr>
          <a:xfrm>
            <a:off x="303104" y="951382"/>
            <a:ext cx="6394838" cy="3785652"/>
          </a:xfrm>
          <a:prstGeom prst="rect">
            <a:avLst/>
          </a:prstGeom>
          <a:noFill/>
        </p:spPr>
        <p:txBody>
          <a:bodyPr wrap="square" rtlCol="0">
            <a:spAutoFit/>
          </a:bodyPr>
          <a:lstStyle/>
          <a:p>
            <a:r>
              <a:rPr kumimoji="1" lang="ja-JP" altLang="en-US" sz="1200" dirty="0"/>
              <a:t>　</a:t>
            </a:r>
            <a:r>
              <a:rPr lang="en-US" altLang="ja-JP" sz="1200" dirty="0"/>
              <a:t>The installer is located in the </a:t>
            </a:r>
            <a:r>
              <a:rPr lang="en-US" altLang="ja-JP" sz="1200" b="1" dirty="0"/>
              <a:t>“ALAYA Installer”</a:t>
            </a:r>
            <a:r>
              <a:rPr lang="en-US" altLang="ja-JP" sz="1200" dirty="0"/>
              <a:t> folder. Launch the installer with the </a:t>
            </a:r>
            <a:r>
              <a:rPr lang="en-US" altLang="ja-JP" sz="1200" b="1" dirty="0"/>
              <a:t>highest version number</a:t>
            </a:r>
            <a:r>
              <a:rPr lang="en-US" altLang="ja-JP" sz="1200" dirty="0"/>
              <a:t>, as that is the latest release.</a:t>
            </a:r>
          </a:p>
          <a:p>
            <a:r>
              <a:rPr lang="en-US" altLang="ja-JP" sz="1200" dirty="0"/>
              <a:t>When you start the installer, the following configuration menu will appear. You need to configure </a:t>
            </a:r>
            <a:r>
              <a:rPr lang="en-US" altLang="ja-JP" sz="1200" b="1" dirty="0"/>
              <a:t>three items</a:t>
            </a:r>
            <a:r>
              <a:rPr lang="en-US" altLang="ja-JP" sz="1200" dirty="0"/>
              <a:t>:</a:t>
            </a:r>
          </a:p>
          <a:p>
            <a:endParaRPr lang="en-US" altLang="ja-JP" sz="1200" dirty="0"/>
          </a:p>
          <a:p>
            <a:pPr marL="171450" indent="-171450">
              <a:buFont typeface="Arial" panose="020B0604020202020204" pitchFamily="34" charset="0"/>
              <a:buChar char="•"/>
            </a:pPr>
            <a:r>
              <a:rPr lang="ja-JP" altLang="en-US" sz="1200" b="1" dirty="0"/>
              <a:t> </a:t>
            </a:r>
            <a:r>
              <a:rPr lang="en-US" altLang="ja-JP" sz="1200" b="1" dirty="0" err="1"/>
              <a:t>ProjectName</a:t>
            </a:r>
            <a:endParaRPr lang="en-US" altLang="ja-JP" sz="1200" b="1" dirty="0"/>
          </a:p>
          <a:p>
            <a:r>
              <a:rPr lang="en-US" altLang="ja-JP" sz="1200" dirty="0"/>
              <a:t>  The name of the project to be installed. Choose a name that is easy for your team or group to recognize.</a:t>
            </a:r>
          </a:p>
          <a:p>
            <a:endParaRPr lang="en-US" altLang="ja-JP" sz="1200" dirty="0"/>
          </a:p>
          <a:p>
            <a:pPr marL="171450" indent="-171450">
              <a:buFont typeface="Arial" panose="020B0604020202020204" pitchFamily="34" charset="0"/>
              <a:buChar char="•"/>
            </a:pPr>
            <a:r>
              <a:rPr lang="en-US" altLang="ja-JP" sz="1200" b="1" dirty="0"/>
              <a:t>Install Folder</a:t>
            </a:r>
          </a:p>
          <a:p>
            <a:r>
              <a:rPr lang="en-US" altLang="ja-JP" sz="1200" dirty="0"/>
              <a:t>Specify the </a:t>
            </a:r>
            <a:r>
              <a:rPr lang="en-US" altLang="ja-JP" sz="1200" b="1" dirty="0"/>
              <a:t>network folder</a:t>
            </a:r>
            <a:r>
              <a:rPr lang="en-US" altLang="ja-JP" sz="1200" dirty="0"/>
              <a:t> where ALAYA will be installed. If you are not using ALAYA in a group and only need it for personal use, you may specify a </a:t>
            </a:r>
            <a:r>
              <a:rPr lang="en-US" altLang="ja-JP" sz="1200" b="1" dirty="0"/>
              <a:t>local drive</a:t>
            </a:r>
            <a:r>
              <a:rPr lang="en-US" altLang="ja-JP" sz="1200" dirty="0"/>
              <a:t> instead.</a:t>
            </a:r>
          </a:p>
          <a:p>
            <a:endParaRPr lang="en-US" altLang="ja-JP" sz="1200" dirty="0"/>
          </a:p>
          <a:p>
            <a:pPr marL="171450" indent="-171450">
              <a:buFont typeface="Arial" panose="020B0604020202020204" pitchFamily="34" charset="0"/>
              <a:buChar char="•"/>
            </a:pPr>
            <a:r>
              <a:rPr lang="en-US" altLang="ja-JP" sz="1200" b="1" dirty="0"/>
              <a:t>Client PC(Work Folder)</a:t>
            </a:r>
          </a:p>
          <a:p>
            <a:r>
              <a:rPr lang="en-US" altLang="ja-JP" sz="1200" dirty="0"/>
              <a:t>Specify a </a:t>
            </a:r>
            <a:r>
              <a:rPr lang="en-US" altLang="ja-JP" sz="1200" b="1" dirty="0"/>
              <a:t>local folder</a:t>
            </a:r>
            <a:r>
              <a:rPr lang="en-US" altLang="ja-JP" sz="1200" dirty="0"/>
              <a:t> used for client‑side module operations. When the startup script is executed, the distribution module will be copied here and launched automatically.</a:t>
            </a:r>
          </a:p>
          <a:p>
            <a:r>
              <a:rPr lang="en-US" altLang="ja-JP" sz="1200" dirty="0"/>
              <a:t>After configuring these three items, click </a:t>
            </a:r>
            <a:r>
              <a:rPr lang="en-US" altLang="ja-JP" sz="1200" b="1" dirty="0"/>
              <a:t>Install</a:t>
            </a:r>
            <a:r>
              <a:rPr lang="en-US" altLang="ja-JP" sz="1200" dirty="0"/>
              <a:t>. The required modules will be copied to the designated locations.</a:t>
            </a:r>
          </a:p>
          <a:p>
            <a:endParaRPr lang="en-US" altLang="ja-JP" sz="1200" dirty="0"/>
          </a:p>
          <a:p>
            <a:endParaRPr lang="en-US" altLang="ja-JP" sz="1200" dirty="0"/>
          </a:p>
        </p:txBody>
      </p:sp>
      <p:pic>
        <p:nvPicPr>
          <p:cNvPr id="5" name="図 4">
            <a:extLst>
              <a:ext uri="{FF2B5EF4-FFF2-40B4-BE49-F238E27FC236}">
                <a16:creationId xmlns:a16="http://schemas.microsoft.com/office/drawing/2014/main" id="{D9B44596-6AE5-285D-12DA-A3FC2A5FB6CC}"/>
              </a:ext>
            </a:extLst>
          </p:cNvPr>
          <p:cNvPicPr>
            <a:picLocks noChangeAspect="1"/>
          </p:cNvPicPr>
          <p:nvPr/>
        </p:nvPicPr>
        <p:blipFill>
          <a:blip r:embed="rId2"/>
          <a:stretch>
            <a:fillRect/>
          </a:stretch>
        </p:blipFill>
        <p:spPr>
          <a:xfrm>
            <a:off x="355126" y="4404360"/>
            <a:ext cx="5936077" cy="4001850"/>
          </a:xfrm>
          <a:prstGeom prst="rect">
            <a:avLst/>
          </a:prstGeom>
        </p:spPr>
      </p:pic>
      <p:sp>
        <p:nvSpPr>
          <p:cNvPr id="3" name="タイトル 1">
            <a:extLst>
              <a:ext uri="{FF2B5EF4-FFF2-40B4-BE49-F238E27FC236}">
                <a16:creationId xmlns:a16="http://schemas.microsoft.com/office/drawing/2014/main" id="{C1EB8EB4-3B90-295E-A601-EB3943F8D4B5}"/>
              </a:ext>
            </a:extLst>
          </p:cNvPr>
          <p:cNvSpPr txBox="1">
            <a:spLocks/>
          </p:cNvSpPr>
          <p:nvPr/>
        </p:nvSpPr>
        <p:spPr>
          <a:xfrm>
            <a:off x="434951" y="8614057"/>
            <a:ext cx="2466745" cy="372869"/>
          </a:xfrm>
          <a:prstGeom prst="rect">
            <a:avLst/>
          </a:prstGeom>
        </p:spPr>
        <p:txBody>
          <a:bodyPr vert="horz" lIns="91440" tIns="45720" rIns="91440" bIns="45720" rtlCol="0" anchor="t">
            <a:normAutofit fontScale="90000" lnSpcReduction="20000"/>
          </a:bodyPr>
          <a:lstStyle>
            <a:lvl1pPr algn="l" defTabSz="342900" rtl="0" eaLnBrk="1" latinLnBrk="0" hangingPunct="1">
              <a:spcBef>
                <a:spcPct val="0"/>
              </a:spcBef>
              <a:buNone/>
              <a:defRPr kumimoji="1" sz="27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2400" dirty="0"/>
              <a:t>Uninstallation</a:t>
            </a:r>
            <a:endParaRPr lang="ja-JP" altLang="en-US" sz="2400" dirty="0"/>
          </a:p>
        </p:txBody>
      </p:sp>
      <p:sp>
        <p:nvSpPr>
          <p:cNvPr id="4" name="テキスト ボックス 3">
            <a:extLst>
              <a:ext uri="{FF2B5EF4-FFF2-40B4-BE49-F238E27FC236}">
                <a16:creationId xmlns:a16="http://schemas.microsoft.com/office/drawing/2014/main" id="{2624348A-1BBC-DB5B-72B5-C1E10B07E5B1}"/>
              </a:ext>
            </a:extLst>
          </p:cNvPr>
          <p:cNvSpPr txBox="1"/>
          <p:nvPr/>
        </p:nvSpPr>
        <p:spPr>
          <a:xfrm>
            <a:off x="434951" y="8986926"/>
            <a:ext cx="5988098" cy="461665"/>
          </a:xfrm>
          <a:prstGeom prst="rect">
            <a:avLst/>
          </a:prstGeom>
          <a:noFill/>
        </p:spPr>
        <p:txBody>
          <a:bodyPr wrap="square" rtlCol="0">
            <a:spAutoFit/>
          </a:bodyPr>
          <a:lstStyle/>
          <a:p>
            <a:r>
              <a:rPr lang="en-US" altLang="ja-JP" sz="1200" dirty="0"/>
              <a:t>ALAYA does </a:t>
            </a:r>
            <a:r>
              <a:rPr lang="en-US" altLang="ja-JP" sz="1200" b="1" dirty="0"/>
              <a:t>not</a:t>
            </a:r>
            <a:r>
              <a:rPr lang="en-US" altLang="ja-JP" sz="1200" dirty="0"/>
              <a:t> modify the Windows registry. To uninstall, simply </a:t>
            </a:r>
            <a:r>
              <a:rPr lang="en-US" altLang="ja-JP" sz="1200" b="1" dirty="0"/>
              <a:t>delete the contents of the installation folder</a:t>
            </a:r>
            <a:r>
              <a:rPr lang="en-US" altLang="ja-JP" sz="1200" dirty="0"/>
              <a:t>. This completes the uninstallation process.</a:t>
            </a:r>
            <a:endParaRPr kumimoji="1" lang="ja-JP" altLang="en-US" sz="1200" dirty="0"/>
          </a:p>
        </p:txBody>
      </p:sp>
    </p:spTree>
    <p:extLst>
      <p:ext uri="{BB962C8B-B14F-4D97-AF65-F5344CB8AC3E}">
        <p14:creationId xmlns:p14="http://schemas.microsoft.com/office/powerpoint/2010/main" val="124398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3266AE6-F63C-F9CD-A359-B1EE5EF5C259}"/>
              </a:ext>
            </a:extLst>
          </p:cNvPr>
          <p:cNvPicPr>
            <a:picLocks noChangeAspect="1"/>
          </p:cNvPicPr>
          <p:nvPr/>
        </p:nvPicPr>
        <p:blipFill>
          <a:blip r:embed="rId2"/>
          <a:stretch>
            <a:fillRect/>
          </a:stretch>
        </p:blipFill>
        <p:spPr>
          <a:xfrm>
            <a:off x="526605" y="3388640"/>
            <a:ext cx="3313728" cy="2594028"/>
          </a:xfrm>
          <a:prstGeom prst="rect">
            <a:avLst/>
          </a:prstGeom>
        </p:spPr>
      </p:pic>
      <p:pic>
        <p:nvPicPr>
          <p:cNvPr id="8" name="図 7">
            <a:extLst>
              <a:ext uri="{FF2B5EF4-FFF2-40B4-BE49-F238E27FC236}">
                <a16:creationId xmlns:a16="http://schemas.microsoft.com/office/drawing/2014/main" id="{2FAB8303-A628-08F6-4EE5-942393AE0399}"/>
              </a:ext>
            </a:extLst>
          </p:cNvPr>
          <p:cNvPicPr>
            <a:picLocks noChangeAspect="1"/>
          </p:cNvPicPr>
          <p:nvPr/>
        </p:nvPicPr>
        <p:blipFill>
          <a:blip r:embed="rId3"/>
          <a:srcRect t="25146"/>
          <a:stretch>
            <a:fillRect/>
          </a:stretch>
        </p:blipFill>
        <p:spPr>
          <a:xfrm>
            <a:off x="474374" y="2217891"/>
            <a:ext cx="1709682" cy="1200329"/>
          </a:xfrm>
          <a:prstGeom prst="rect">
            <a:avLst/>
          </a:prstGeom>
        </p:spPr>
      </p:pic>
      <p:sp>
        <p:nvSpPr>
          <p:cNvPr id="2" name="タイトル 1">
            <a:extLst>
              <a:ext uri="{FF2B5EF4-FFF2-40B4-BE49-F238E27FC236}">
                <a16:creationId xmlns:a16="http://schemas.microsoft.com/office/drawing/2014/main" id="{3E0DB9FF-1B2E-AB82-0584-B11F2873F0D3}"/>
              </a:ext>
            </a:extLst>
          </p:cNvPr>
          <p:cNvSpPr>
            <a:spLocks noGrp="1"/>
          </p:cNvSpPr>
          <p:nvPr>
            <p:ph type="title"/>
          </p:nvPr>
        </p:nvSpPr>
        <p:spPr>
          <a:xfrm>
            <a:off x="441034" y="413372"/>
            <a:ext cx="4835626" cy="452957"/>
          </a:xfrm>
        </p:spPr>
        <p:txBody>
          <a:bodyPr>
            <a:normAutofit fontScale="90000"/>
          </a:bodyPr>
          <a:lstStyle/>
          <a:p>
            <a:r>
              <a:rPr kumimoji="1" lang="en-US" altLang="ja-JP" dirty="0"/>
              <a:t>Startup Test</a:t>
            </a:r>
            <a:endParaRPr kumimoji="1" lang="ja-JP" altLang="en-US" dirty="0"/>
          </a:p>
        </p:txBody>
      </p:sp>
      <p:sp>
        <p:nvSpPr>
          <p:cNvPr id="29" name="テキスト ボックス 28">
            <a:extLst>
              <a:ext uri="{FF2B5EF4-FFF2-40B4-BE49-F238E27FC236}">
                <a16:creationId xmlns:a16="http://schemas.microsoft.com/office/drawing/2014/main" id="{28D0ACE9-634A-C5F0-214C-41C46B2D5336}"/>
              </a:ext>
            </a:extLst>
          </p:cNvPr>
          <p:cNvSpPr txBox="1"/>
          <p:nvPr/>
        </p:nvSpPr>
        <p:spPr>
          <a:xfrm>
            <a:off x="263603" y="929935"/>
            <a:ext cx="6101047" cy="1200329"/>
          </a:xfrm>
          <a:prstGeom prst="rect">
            <a:avLst/>
          </a:prstGeom>
          <a:noFill/>
        </p:spPr>
        <p:txBody>
          <a:bodyPr wrap="square" rtlCol="0">
            <a:spAutoFit/>
          </a:bodyPr>
          <a:lstStyle/>
          <a:p>
            <a:r>
              <a:rPr lang="en-US" altLang="ja-JP" sz="1200" dirty="0"/>
              <a:t>Inside the installation folder, the GUI module will be copied into </a:t>
            </a:r>
            <a:r>
              <a:rPr lang="en-US" altLang="ja-JP" sz="1200" b="1" dirty="0"/>
              <a:t>“</a:t>
            </a:r>
            <a:r>
              <a:rPr lang="en-US" altLang="ja-JP" sz="1200" b="1" dirty="0" err="1"/>
              <a:t>AlayaMenu</a:t>
            </a:r>
            <a:r>
              <a:rPr lang="en-US" altLang="ja-JP" sz="1200" b="1" dirty="0"/>
              <a:t>”</a:t>
            </a:r>
            <a:r>
              <a:rPr lang="en-US" altLang="ja-JP" sz="1200" dirty="0"/>
              <a:t>. Run the startup script. If both </a:t>
            </a:r>
            <a:r>
              <a:rPr lang="en-US" altLang="ja-JP" sz="1200" b="1" dirty="0"/>
              <a:t>Normal Mode</a:t>
            </a:r>
            <a:r>
              <a:rPr lang="en-US" altLang="ja-JP" sz="1200" dirty="0"/>
              <a:t> and </a:t>
            </a:r>
            <a:r>
              <a:rPr lang="en-US" altLang="ja-JP" sz="1200" b="1" dirty="0"/>
              <a:t>Admin Mode</a:t>
            </a:r>
            <a:r>
              <a:rPr lang="en-US" altLang="ja-JP" sz="1200" dirty="0"/>
              <a:t> launch successfully, the installation is complete.</a:t>
            </a:r>
          </a:p>
          <a:p>
            <a:r>
              <a:rPr lang="en-US" altLang="ja-JP" sz="1200" dirty="0"/>
              <a:t>At the startup dialog:</a:t>
            </a:r>
          </a:p>
          <a:p>
            <a:pPr marL="171450" indent="-171450">
              <a:buFont typeface="Arial" panose="020B0604020202020204" pitchFamily="34" charset="0"/>
              <a:buChar char="•"/>
            </a:pPr>
            <a:r>
              <a:rPr lang="en-US" altLang="ja-JP" sz="1200" dirty="0"/>
              <a:t>Press </a:t>
            </a:r>
            <a:r>
              <a:rPr lang="en-US" altLang="ja-JP" sz="1200" b="1" dirty="0"/>
              <a:t>Enter -&gt;</a:t>
            </a:r>
            <a:r>
              <a:rPr lang="ja-JP" altLang="en-US" sz="1200" b="1" dirty="0"/>
              <a:t> </a:t>
            </a:r>
            <a:r>
              <a:rPr lang="en-US" altLang="ja-JP" sz="1200" b="1" dirty="0"/>
              <a:t>Normal</a:t>
            </a:r>
            <a:r>
              <a:rPr lang="ja-JP" altLang="en-US" sz="1200" b="1" dirty="0"/>
              <a:t> </a:t>
            </a:r>
            <a:r>
              <a:rPr lang="en-US" altLang="ja-JP" sz="1200" b="1" dirty="0"/>
              <a:t>Mode</a:t>
            </a:r>
          </a:p>
          <a:p>
            <a:pPr marL="171450" indent="-171450">
              <a:buFont typeface="Arial" panose="020B0604020202020204" pitchFamily="34" charset="0"/>
              <a:buChar char="•"/>
            </a:pPr>
            <a:r>
              <a:rPr lang="en-US" altLang="ja-JP" sz="1200" dirty="0"/>
              <a:t>Type </a:t>
            </a:r>
            <a:r>
              <a:rPr lang="en-US" altLang="ja-JP" sz="1200" b="1" dirty="0"/>
              <a:t>“ad”</a:t>
            </a:r>
            <a:r>
              <a:rPr lang="en-US" altLang="ja-JP" sz="1200" dirty="0"/>
              <a:t> and press </a:t>
            </a:r>
            <a:r>
              <a:rPr lang="en-US" altLang="ja-JP" sz="1200" b="1" dirty="0"/>
              <a:t>Enter</a:t>
            </a:r>
            <a:r>
              <a:rPr lang="ja-JP" altLang="en-US" sz="1200" b="1" dirty="0"/>
              <a:t> </a:t>
            </a:r>
            <a:r>
              <a:rPr lang="en-US" altLang="ja-JP" sz="1200" b="1" dirty="0"/>
              <a:t>-&gt;</a:t>
            </a:r>
            <a:r>
              <a:rPr lang="ja-JP" altLang="en-US" sz="1200" b="1" dirty="0"/>
              <a:t> </a:t>
            </a:r>
            <a:r>
              <a:rPr lang="en-US" altLang="ja-JP" sz="1200" b="1" dirty="0"/>
              <a:t>Admin</a:t>
            </a:r>
            <a:r>
              <a:rPr lang="ja-JP" altLang="en-US" sz="1200" b="1" dirty="0"/>
              <a:t> </a:t>
            </a:r>
            <a:r>
              <a:rPr lang="en-US" altLang="ja-JP" sz="1200" b="1" dirty="0"/>
              <a:t>Mode</a:t>
            </a:r>
            <a:endParaRPr lang="en-US" altLang="ja-JP" sz="1200" dirty="0"/>
          </a:p>
        </p:txBody>
      </p:sp>
      <p:sp>
        <p:nvSpPr>
          <p:cNvPr id="6" name="テキスト ボックス 5">
            <a:extLst>
              <a:ext uri="{FF2B5EF4-FFF2-40B4-BE49-F238E27FC236}">
                <a16:creationId xmlns:a16="http://schemas.microsoft.com/office/drawing/2014/main" id="{F07D12F3-C3B3-706F-0B84-EEF94C9EDA4C}"/>
              </a:ext>
            </a:extLst>
          </p:cNvPr>
          <p:cNvSpPr txBox="1"/>
          <p:nvPr/>
        </p:nvSpPr>
        <p:spPr>
          <a:xfrm>
            <a:off x="441034" y="6277944"/>
            <a:ext cx="2156478" cy="2616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100" b="1" dirty="0"/>
              <a:t>Press</a:t>
            </a:r>
            <a:r>
              <a:rPr kumimoji="1" lang="ja-JP" altLang="en-US" sz="1100" b="1" dirty="0"/>
              <a:t> </a:t>
            </a:r>
            <a:r>
              <a:rPr kumimoji="1" lang="en-US" altLang="ja-JP" sz="1100" b="1" dirty="0"/>
              <a:t>Enter</a:t>
            </a:r>
            <a:r>
              <a:rPr kumimoji="1" lang="ja-JP" altLang="en-US" sz="1100" b="1" dirty="0"/>
              <a:t> → </a:t>
            </a:r>
            <a:r>
              <a:rPr kumimoji="1" lang="en-US" altLang="ja-JP" sz="1100" b="1" dirty="0" err="1"/>
              <a:t>Normmalmode</a:t>
            </a:r>
            <a:endParaRPr kumimoji="1" lang="ja-JP" altLang="en-US" sz="1100" b="1" dirty="0"/>
          </a:p>
        </p:txBody>
      </p:sp>
      <p:sp>
        <p:nvSpPr>
          <p:cNvPr id="5" name="テキスト ボックス 4">
            <a:extLst>
              <a:ext uri="{FF2B5EF4-FFF2-40B4-BE49-F238E27FC236}">
                <a16:creationId xmlns:a16="http://schemas.microsoft.com/office/drawing/2014/main" id="{D2679D20-F0F5-A5B6-AEB5-F7337A8647CB}"/>
              </a:ext>
            </a:extLst>
          </p:cNvPr>
          <p:cNvSpPr txBox="1"/>
          <p:nvPr/>
        </p:nvSpPr>
        <p:spPr>
          <a:xfrm>
            <a:off x="3282656" y="6277944"/>
            <a:ext cx="1994004" cy="2616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100" b="1" dirty="0"/>
              <a:t>‘ad’+ Enter </a:t>
            </a:r>
            <a:r>
              <a:rPr kumimoji="1" lang="ja-JP" altLang="en-US" sz="1100" b="1" dirty="0"/>
              <a:t>→ </a:t>
            </a:r>
            <a:r>
              <a:rPr kumimoji="1" lang="en-US" altLang="ja-JP" sz="1100" b="1" dirty="0"/>
              <a:t>Admin</a:t>
            </a:r>
            <a:r>
              <a:rPr kumimoji="1" lang="ja-JP" altLang="en-US" sz="1100" b="1" dirty="0"/>
              <a:t> </a:t>
            </a:r>
            <a:r>
              <a:rPr kumimoji="1" lang="en-US" altLang="ja-JP" sz="1100" b="1" dirty="0"/>
              <a:t>mode</a:t>
            </a:r>
            <a:endParaRPr kumimoji="1" lang="ja-JP" altLang="en-US" sz="1100" b="1" dirty="0"/>
          </a:p>
        </p:txBody>
      </p:sp>
      <p:pic>
        <p:nvPicPr>
          <p:cNvPr id="10" name="図 9">
            <a:extLst>
              <a:ext uri="{FF2B5EF4-FFF2-40B4-BE49-F238E27FC236}">
                <a16:creationId xmlns:a16="http://schemas.microsoft.com/office/drawing/2014/main" id="{EB1AE273-CA70-31FF-19C5-FCB871631285}"/>
              </a:ext>
            </a:extLst>
          </p:cNvPr>
          <p:cNvPicPr>
            <a:picLocks noChangeAspect="1"/>
          </p:cNvPicPr>
          <p:nvPr/>
        </p:nvPicPr>
        <p:blipFill>
          <a:blip r:embed="rId4"/>
          <a:stretch>
            <a:fillRect/>
          </a:stretch>
        </p:blipFill>
        <p:spPr>
          <a:xfrm>
            <a:off x="2290678" y="2655488"/>
            <a:ext cx="310010" cy="364138"/>
          </a:xfrm>
          <a:prstGeom prst="rect">
            <a:avLst/>
          </a:prstGeom>
        </p:spPr>
      </p:pic>
      <p:sp>
        <p:nvSpPr>
          <p:cNvPr id="17" name="矢印: 下 16">
            <a:extLst>
              <a:ext uri="{FF2B5EF4-FFF2-40B4-BE49-F238E27FC236}">
                <a16:creationId xmlns:a16="http://schemas.microsoft.com/office/drawing/2014/main" id="{6DB1BC39-31D5-84FE-ADB3-E5C7A938A877}"/>
              </a:ext>
            </a:extLst>
          </p:cNvPr>
          <p:cNvSpPr/>
          <p:nvPr/>
        </p:nvSpPr>
        <p:spPr>
          <a:xfrm>
            <a:off x="1868382" y="3229699"/>
            <a:ext cx="729130" cy="2673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C3A2EE6E-5FD4-95D0-5EE0-B1A460EA2565}"/>
              </a:ext>
            </a:extLst>
          </p:cNvPr>
          <p:cNvSpPr txBox="1"/>
          <p:nvPr/>
        </p:nvSpPr>
        <p:spPr>
          <a:xfrm>
            <a:off x="2647381" y="2693321"/>
            <a:ext cx="2963055" cy="369332"/>
          </a:xfrm>
          <a:prstGeom prst="rect">
            <a:avLst/>
          </a:prstGeom>
          <a:noFill/>
        </p:spPr>
        <p:txBody>
          <a:bodyPr wrap="none" rtlCol="0">
            <a:spAutoFit/>
          </a:bodyPr>
          <a:lstStyle/>
          <a:p>
            <a:r>
              <a:rPr kumimoji="1" lang="en-US" altLang="ja-JP" dirty="0"/>
              <a:t>[ProjectName]_Startup.vbs</a:t>
            </a:r>
            <a:endParaRPr kumimoji="1" lang="ja-JP" altLang="en-US" dirty="0"/>
          </a:p>
        </p:txBody>
      </p:sp>
      <p:pic>
        <p:nvPicPr>
          <p:cNvPr id="15" name="図 14">
            <a:extLst>
              <a:ext uri="{FF2B5EF4-FFF2-40B4-BE49-F238E27FC236}">
                <a16:creationId xmlns:a16="http://schemas.microsoft.com/office/drawing/2014/main" id="{138A5628-3DDD-101F-B5C9-D918159A45E1}"/>
              </a:ext>
            </a:extLst>
          </p:cNvPr>
          <p:cNvPicPr>
            <a:picLocks noChangeAspect="1"/>
          </p:cNvPicPr>
          <p:nvPr/>
        </p:nvPicPr>
        <p:blipFill>
          <a:blip r:embed="rId5"/>
          <a:stretch>
            <a:fillRect/>
          </a:stretch>
        </p:blipFill>
        <p:spPr>
          <a:xfrm>
            <a:off x="123903" y="6742339"/>
            <a:ext cx="2767362" cy="2493261"/>
          </a:xfrm>
          <a:prstGeom prst="rect">
            <a:avLst/>
          </a:prstGeom>
        </p:spPr>
      </p:pic>
      <p:pic>
        <p:nvPicPr>
          <p:cNvPr id="20" name="図 19">
            <a:extLst>
              <a:ext uri="{FF2B5EF4-FFF2-40B4-BE49-F238E27FC236}">
                <a16:creationId xmlns:a16="http://schemas.microsoft.com/office/drawing/2014/main" id="{AFF4C607-8E3D-A36D-0D68-F72BB60C838D}"/>
              </a:ext>
            </a:extLst>
          </p:cNvPr>
          <p:cNvPicPr>
            <a:picLocks noChangeAspect="1"/>
          </p:cNvPicPr>
          <p:nvPr/>
        </p:nvPicPr>
        <p:blipFill>
          <a:blip r:embed="rId6"/>
          <a:stretch>
            <a:fillRect/>
          </a:stretch>
        </p:blipFill>
        <p:spPr>
          <a:xfrm>
            <a:off x="3117748" y="6742339"/>
            <a:ext cx="3471676" cy="2750289"/>
          </a:xfrm>
          <a:prstGeom prst="rect">
            <a:avLst/>
          </a:prstGeom>
        </p:spPr>
      </p:pic>
      <p:cxnSp>
        <p:nvCxnSpPr>
          <p:cNvPr id="22" name="直線矢印コネクタ 21">
            <a:extLst>
              <a:ext uri="{FF2B5EF4-FFF2-40B4-BE49-F238E27FC236}">
                <a16:creationId xmlns:a16="http://schemas.microsoft.com/office/drawing/2014/main" id="{3DB290CC-B178-94F5-2DB7-491F78E47D09}"/>
              </a:ext>
            </a:extLst>
          </p:cNvPr>
          <p:cNvCxnSpPr>
            <a:cxnSpLocks/>
            <a:stCxn id="4" idx="2"/>
            <a:endCxn id="6" idx="0"/>
          </p:cNvCxnSpPr>
          <p:nvPr/>
        </p:nvCxnSpPr>
        <p:spPr>
          <a:xfrm flipH="1">
            <a:off x="1519273" y="5982668"/>
            <a:ext cx="664196" cy="295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199850C7-DFFC-737C-3DEE-725AE4D3BB1D}"/>
              </a:ext>
            </a:extLst>
          </p:cNvPr>
          <p:cNvCxnSpPr>
            <a:cxnSpLocks/>
            <a:stCxn id="4" idx="2"/>
          </p:cNvCxnSpPr>
          <p:nvPr/>
        </p:nvCxnSpPr>
        <p:spPr>
          <a:xfrm>
            <a:off x="2183469" y="5982668"/>
            <a:ext cx="1316093" cy="295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180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0DB9FF-1B2E-AB82-0584-B11F2873F0D3}"/>
              </a:ext>
            </a:extLst>
          </p:cNvPr>
          <p:cNvSpPr>
            <a:spLocks noGrp="1"/>
          </p:cNvSpPr>
          <p:nvPr>
            <p:ph type="title"/>
          </p:nvPr>
        </p:nvSpPr>
        <p:spPr>
          <a:xfrm>
            <a:off x="441034" y="413372"/>
            <a:ext cx="4835626" cy="452957"/>
          </a:xfrm>
        </p:spPr>
        <p:txBody>
          <a:bodyPr>
            <a:normAutofit fontScale="90000"/>
          </a:bodyPr>
          <a:lstStyle/>
          <a:p>
            <a:r>
              <a:rPr kumimoji="1" lang="en-US" altLang="ja-JP" dirty="0"/>
              <a:t>Tips</a:t>
            </a:r>
            <a:endParaRPr kumimoji="1" lang="ja-JP" altLang="en-US" dirty="0"/>
          </a:p>
        </p:txBody>
      </p:sp>
      <p:sp>
        <p:nvSpPr>
          <p:cNvPr id="29" name="テキスト ボックス 28">
            <a:extLst>
              <a:ext uri="{FF2B5EF4-FFF2-40B4-BE49-F238E27FC236}">
                <a16:creationId xmlns:a16="http://schemas.microsoft.com/office/drawing/2014/main" id="{28D0ACE9-634A-C5F0-214C-41C46B2D5336}"/>
              </a:ext>
            </a:extLst>
          </p:cNvPr>
          <p:cNvSpPr txBox="1"/>
          <p:nvPr/>
        </p:nvSpPr>
        <p:spPr>
          <a:xfrm>
            <a:off x="274320" y="4274757"/>
            <a:ext cx="6357048" cy="1384995"/>
          </a:xfrm>
          <a:prstGeom prst="rect">
            <a:avLst/>
          </a:prstGeom>
          <a:noFill/>
        </p:spPr>
        <p:txBody>
          <a:bodyPr wrap="square" rtlCol="0">
            <a:spAutoFit/>
          </a:bodyPr>
          <a:lstStyle/>
          <a:p>
            <a:r>
              <a:rPr lang="en-US" altLang="ja-JP" sz="1200" dirty="0"/>
              <a:t>You may also encounter a </a:t>
            </a:r>
            <a:r>
              <a:rPr lang="en-US" altLang="ja-JP" sz="1200" b="1" dirty="0"/>
              <a:t>Security Risk</a:t>
            </a:r>
            <a:r>
              <a:rPr lang="en-US" altLang="ja-JP" sz="1200" dirty="0"/>
              <a:t> message that blocks execution. If this happens, either:</a:t>
            </a:r>
          </a:p>
          <a:p>
            <a:pPr marL="171450" indent="-171450">
              <a:buFont typeface="Arial" panose="020B0604020202020204" pitchFamily="34" charset="0"/>
              <a:buChar char="•"/>
            </a:pPr>
            <a:r>
              <a:rPr lang="en-US" altLang="ja-JP" sz="1200" dirty="0"/>
              <a:t>Unblock the module in its </a:t>
            </a:r>
            <a:r>
              <a:rPr lang="en-US" altLang="ja-JP" sz="1200" b="1" dirty="0"/>
              <a:t>file properties</a:t>
            </a:r>
            <a:r>
              <a:rPr lang="en-US" altLang="ja-JP" sz="1200" dirty="0"/>
              <a:t>, or</a:t>
            </a:r>
          </a:p>
          <a:p>
            <a:pPr marL="171450" indent="-171450">
              <a:buFont typeface="Arial" panose="020B0604020202020204" pitchFamily="34" charset="0"/>
              <a:buChar char="•"/>
            </a:pPr>
            <a:r>
              <a:rPr lang="en-US" altLang="ja-JP" sz="1200" dirty="0"/>
              <a:t>Add the installation network folder to </a:t>
            </a:r>
            <a:r>
              <a:rPr lang="en-US" altLang="ja-JP" sz="1200" b="1" dirty="0"/>
              <a:t>Trusted Locations</a:t>
            </a:r>
            <a:r>
              <a:rPr lang="en-US" altLang="ja-JP" sz="1200" dirty="0"/>
              <a:t> in Access. </a:t>
            </a:r>
          </a:p>
          <a:p>
            <a:endParaRPr lang="en-US" altLang="ja-JP" sz="1200" dirty="0"/>
          </a:p>
          <a:p>
            <a:r>
              <a:rPr lang="en-US" altLang="ja-JP" sz="1200" dirty="0"/>
              <a:t>This will allow the module to run normally.</a:t>
            </a:r>
          </a:p>
          <a:p>
            <a:endParaRPr lang="en-US" altLang="ja-JP" sz="1200" dirty="0"/>
          </a:p>
        </p:txBody>
      </p:sp>
      <p:pic>
        <p:nvPicPr>
          <p:cNvPr id="11" name="図 10">
            <a:extLst>
              <a:ext uri="{FF2B5EF4-FFF2-40B4-BE49-F238E27FC236}">
                <a16:creationId xmlns:a16="http://schemas.microsoft.com/office/drawing/2014/main" id="{1C361BFB-E109-0C57-FE1C-6795AEE72257}"/>
              </a:ext>
            </a:extLst>
          </p:cNvPr>
          <p:cNvPicPr>
            <a:picLocks noChangeAspect="1"/>
          </p:cNvPicPr>
          <p:nvPr/>
        </p:nvPicPr>
        <p:blipFill>
          <a:blip r:embed="rId2"/>
          <a:stretch>
            <a:fillRect/>
          </a:stretch>
        </p:blipFill>
        <p:spPr>
          <a:xfrm>
            <a:off x="407707" y="5759354"/>
            <a:ext cx="6265285" cy="2401997"/>
          </a:xfrm>
          <a:prstGeom prst="rect">
            <a:avLst/>
          </a:prstGeom>
        </p:spPr>
      </p:pic>
      <p:sp>
        <p:nvSpPr>
          <p:cNvPr id="3" name="テキスト ボックス 2">
            <a:extLst>
              <a:ext uri="{FF2B5EF4-FFF2-40B4-BE49-F238E27FC236}">
                <a16:creationId xmlns:a16="http://schemas.microsoft.com/office/drawing/2014/main" id="{A25C8563-45BA-EAB6-9605-333206AA3927}"/>
              </a:ext>
            </a:extLst>
          </p:cNvPr>
          <p:cNvSpPr txBox="1"/>
          <p:nvPr/>
        </p:nvSpPr>
        <p:spPr>
          <a:xfrm>
            <a:off x="713465" y="8479960"/>
            <a:ext cx="4759636" cy="276999"/>
          </a:xfrm>
          <a:prstGeom prst="rect">
            <a:avLst/>
          </a:prstGeom>
          <a:noFill/>
        </p:spPr>
        <p:txBody>
          <a:bodyPr wrap="none" rtlCol="0">
            <a:spAutoFit/>
          </a:bodyPr>
          <a:lstStyle/>
          <a:p>
            <a:r>
              <a:rPr kumimoji="1" lang="ja-JP" altLang="en-US" sz="1200" dirty="0">
                <a:hlinkClick r:id="rId3"/>
              </a:rPr>
              <a:t>インターネットからのマクロは</a:t>
            </a:r>
            <a:r>
              <a:rPr kumimoji="1" lang="en-US" altLang="ja-JP" sz="1200" dirty="0">
                <a:hlinkClick r:id="rId3"/>
              </a:rPr>
              <a:t>Office</a:t>
            </a:r>
            <a:r>
              <a:rPr kumimoji="1" lang="ja-JP" altLang="en-US" sz="1200" dirty="0">
                <a:hlinkClick r:id="rId3"/>
              </a:rPr>
              <a:t>では規定でブロックされます</a:t>
            </a:r>
            <a:endParaRPr kumimoji="1" lang="ja-JP" altLang="en-US" sz="1200" dirty="0"/>
          </a:p>
        </p:txBody>
      </p:sp>
      <p:pic>
        <p:nvPicPr>
          <p:cNvPr id="6" name="図 5">
            <a:extLst>
              <a:ext uri="{FF2B5EF4-FFF2-40B4-BE49-F238E27FC236}">
                <a16:creationId xmlns:a16="http://schemas.microsoft.com/office/drawing/2014/main" id="{C12821A2-78AE-B975-098C-1796BF3B2E28}"/>
              </a:ext>
            </a:extLst>
          </p:cNvPr>
          <p:cNvPicPr>
            <a:picLocks noChangeAspect="1"/>
          </p:cNvPicPr>
          <p:nvPr/>
        </p:nvPicPr>
        <p:blipFill>
          <a:blip r:embed="rId4"/>
          <a:stretch>
            <a:fillRect/>
          </a:stretch>
        </p:blipFill>
        <p:spPr>
          <a:xfrm>
            <a:off x="400087" y="1603656"/>
            <a:ext cx="6265285" cy="2361101"/>
          </a:xfrm>
          <a:prstGeom prst="rect">
            <a:avLst/>
          </a:prstGeom>
        </p:spPr>
      </p:pic>
      <p:sp>
        <p:nvSpPr>
          <p:cNvPr id="7" name="テキスト ボックス 6">
            <a:extLst>
              <a:ext uri="{FF2B5EF4-FFF2-40B4-BE49-F238E27FC236}">
                <a16:creationId xmlns:a16="http://schemas.microsoft.com/office/drawing/2014/main" id="{1B0BD813-0C05-97F1-F18C-10216C8F84A0}"/>
              </a:ext>
            </a:extLst>
          </p:cNvPr>
          <p:cNvSpPr txBox="1"/>
          <p:nvPr/>
        </p:nvSpPr>
        <p:spPr>
          <a:xfrm>
            <a:off x="192628" y="957325"/>
            <a:ext cx="6438740" cy="646331"/>
          </a:xfrm>
          <a:prstGeom prst="rect">
            <a:avLst/>
          </a:prstGeom>
          <a:noFill/>
        </p:spPr>
        <p:txBody>
          <a:bodyPr wrap="square" rtlCol="0">
            <a:spAutoFit/>
          </a:bodyPr>
          <a:lstStyle/>
          <a:p>
            <a:r>
              <a:rPr lang="en-US" altLang="ja-JP" sz="1200" dirty="0"/>
              <a:t>When running a downloaded module for the first time, Windows may display a </a:t>
            </a:r>
            <a:r>
              <a:rPr lang="en-US" altLang="ja-JP" sz="1200" b="1" dirty="0"/>
              <a:t>Security Warning</a:t>
            </a:r>
            <a:r>
              <a:rPr lang="en-US" altLang="ja-JP" sz="1200" dirty="0"/>
              <a:t>. In this case, click </a:t>
            </a:r>
            <a:r>
              <a:rPr lang="en-US" altLang="ja-JP" sz="1200" b="1" dirty="0"/>
              <a:t>“Enable Content”</a:t>
            </a:r>
            <a:r>
              <a:rPr lang="en-US" altLang="ja-JP" sz="1200" dirty="0"/>
              <a:t> to allow execution. After enabling it once, the warning will not appear again.</a:t>
            </a:r>
            <a:endParaRPr kumimoji="1" lang="en-US" altLang="ja-JP" sz="1200" dirty="0"/>
          </a:p>
        </p:txBody>
      </p:sp>
    </p:spTree>
    <p:extLst>
      <p:ext uri="{BB962C8B-B14F-4D97-AF65-F5344CB8AC3E}">
        <p14:creationId xmlns:p14="http://schemas.microsoft.com/office/powerpoint/2010/main" val="837084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0DB9FF-1B2E-AB82-0584-B11F2873F0D3}"/>
              </a:ext>
            </a:extLst>
          </p:cNvPr>
          <p:cNvSpPr>
            <a:spLocks noGrp="1"/>
          </p:cNvSpPr>
          <p:nvPr>
            <p:ph type="title"/>
          </p:nvPr>
        </p:nvSpPr>
        <p:spPr>
          <a:xfrm>
            <a:off x="342934" y="440761"/>
            <a:ext cx="4835626" cy="412018"/>
          </a:xfrm>
        </p:spPr>
        <p:txBody>
          <a:bodyPr>
            <a:normAutofit fontScale="90000"/>
          </a:bodyPr>
          <a:lstStyle/>
          <a:p>
            <a:r>
              <a:rPr kumimoji="1" lang="en-US" altLang="ja-JP" dirty="0"/>
              <a:t>Alaya startup script overview.</a:t>
            </a:r>
            <a:endParaRPr kumimoji="1" lang="ja-JP" altLang="en-US" dirty="0"/>
          </a:p>
        </p:txBody>
      </p:sp>
      <p:sp>
        <p:nvSpPr>
          <p:cNvPr id="29" name="テキスト ボックス 28">
            <a:extLst>
              <a:ext uri="{FF2B5EF4-FFF2-40B4-BE49-F238E27FC236}">
                <a16:creationId xmlns:a16="http://schemas.microsoft.com/office/drawing/2014/main" id="{28D0ACE9-634A-C5F0-214C-41C46B2D5336}"/>
              </a:ext>
            </a:extLst>
          </p:cNvPr>
          <p:cNvSpPr txBox="1"/>
          <p:nvPr/>
        </p:nvSpPr>
        <p:spPr>
          <a:xfrm>
            <a:off x="453669" y="1000492"/>
            <a:ext cx="5459451" cy="1015663"/>
          </a:xfrm>
          <a:prstGeom prst="rect">
            <a:avLst/>
          </a:prstGeom>
          <a:noFill/>
        </p:spPr>
        <p:txBody>
          <a:bodyPr wrap="square" rtlCol="0">
            <a:spAutoFit/>
          </a:bodyPr>
          <a:lstStyle/>
          <a:p>
            <a:r>
              <a:rPr lang="en-US" altLang="ja-JP" sz="1200" dirty="0"/>
              <a:t>The ALAYA startup script ([</a:t>
            </a:r>
            <a:r>
              <a:rPr lang="en-US" altLang="ja-JP" sz="1200" dirty="0" err="1"/>
              <a:t>ProjectName</a:t>
            </a:r>
            <a:r>
              <a:rPr lang="en-US" altLang="ja-JP" sz="1200" dirty="0"/>
              <a:t>]_Startup.vbs) is a plain text file and can be edited freely. The code is not complex, so you should be able to understand its behavior by reading it.</a:t>
            </a:r>
          </a:p>
          <a:p>
            <a:r>
              <a:rPr lang="en-US" altLang="ja-JP" sz="1200" dirty="0"/>
              <a:t>Below is an explanation of the script variables and internal functions for reference.</a:t>
            </a:r>
          </a:p>
        </p:txBody>
      </p:sp>
      <p:graphicFrame>
        <p:nvGraphicFramePr>
          <p:cNvPr id="99" name="表 99">
            <a:extLst>
              <a:ext uri="{FF2B5EF4-FFF2-40B4-BE49-F238E27FC236}">
                <a16:creationId xmlns:a16="http://schemas.microsoft.com/office/drawing/2014/main" id="{8D3F4A65-1348-5AF2-D1BB-245C6713FEB2}"/>
              </a:ext>
            </a:extLst>
          </p:cNvPr>
          <p:cNvGraphicFramePr>
            <a:graphicFrameLocks noGrp="1"/>
          </p:cNvGraphicFramePr>
          <p:nvPr/>
        </p:nvGraphicFramePr>
        <p:xfrm>
          <a:off x="619393" y="2441312"/>
          <a:ext cx="5523100" cy="2802259"/>
        </p:xfrm>
        <a:graphic>
          <a:graphicData uri="http://schemas.openxmlformats.org/drawingml/2006/table">
            <a:tbl>
              <a:tblPr firstRow="1" bandRow="1">
                <a:tableStyleId>{5940675A-B579-460E-94D1-54222C63F5DA}</a:tableStyleId>
              </a:tblPr>
              <a:tblGrid>
                <a:gridCol w="1087487">
                  <a:extLst>
                    <a:ext uri="{9D8B030D-6E8A-4147-A177-3AD203B41FA5}">
                      <a16:colId xmlns:a16="http://schemas.microsoft.com/office/drawing/2014/main" val="234657308"/>
                    </a:ext>
                  </a:extLst>
                </a:gridCol>
                <a:gridCol w="4435613">
                  <a:extLst>
                    <a:ext uri="{9D8B030D-6E8A-4147-A177-3AD203B41FA5}">
                      <a16:colId xmlns:a16="http://schemas.microsoft.com/office/drawing/2014/main" val="1540276655"/>
                    </a:ext>
                  </a:extLst>
                </a:gridCol>
              </a:tblGrid>
              <a:tr h="462915">
                <a:tc>
                  <a:txBody>
                    <a:bodyPr/>
                    <a:lstStyle/>
                    <a:p>
                      <a:r>
                        <a:rPr kumimoji="1" lang="en-US" altLang="ja-JP" sz="1000" b="1" dirty="0" err="1">
                          <a:latin typeface="ＭＳ ゴシック" panose="020B0609070205080204" pitchFamily="49" charset="-128"/>
                          <a:ea typeface="ＭＳ ゴシック" panose="020B0609070205080204" pitchFamily="49" charset="-128"/>
                        </a:rPr>
                        <a:t>ModuleName</a:t>
                      </a:r>
                      <a:endParaRPr kumimoji="1" lang="ja-JP" altLang="en-US" sz="1000" b="1" dirty="0">
                        <a:latin typeface="ＭＳ ゴシック" panose="020B0609070205080204" pitchFamily="49" charset="-128"/>
                        <a:ea typeface="ＭＳ ゴシック" panose="020B0609070205080204" pitchFamily="49" charset="-128"/>
                      </a:endParaRPr>
                    </a:p>
                  </a:txBody>
                  <a:tcPr marL="51435" marR="51435" marT="25718" marB="25718"/>
                </a:tc>
                <a:tc>
                  <a:txBody>
                    <a:bodyPr/>
                    <a:lstStyle/>
                    <a:p>
                      <a:r>
                        <a:rPr lang="en-US" altLang="ja-JP" sz="1000" dirty="0">
                          <a:effectLst/>
                        </a:rPr>
                        <a:t>The name of the GUI module used by end users. </a:t>
                      </a:r>
                    </a:p>
                    <a:p>
                      <a:r>
                        <a:rPr lang="en-US" altLang="ja-JP" sz="1000" dirty="0">
                          <a:effectLst/>
                        </a:rPr>
                        <a:t>This is typically set to the </a:t>
                      </a:r>
                      <a:r>
                        <a:rPr lang="en-US" altLang="ja-JP" sz="1000" b="1" dirty="0">
                          <a:effectLst/>
                        </a:rPr>
                        <a:t>Project Name</a:t>
                      </a:r>
                      <a:r>
                        <a:rPr lang="en-US" altLang="ja-JP" sz="1000" dirty="0">
                          <a:effectLst/>
                        </a:rPr>
                        <a:t>.</a:t>
                      </a:r>
                      <a:endParaRPr lang="en-US" altLang="ja-JP" sz="1000" dirty="0"/>
                    </a:p>
                  </a:txBody>
                  <a:tcPr marL="51435" marR="51435" marT="25718" marB="25718"/>
                </a:tc>
                <a:extLst>
                  <a:ext uri="{0D108BD9-81ED-4DB2-BD59-A6C34878D82A}">
                    <a16:rowId xmlns:a16="http://schemas.microsoft.com/office/drawing/2014/main" val="2247349700"/>
                  </a:ext>
                </a:extLst>
              </a:tr>
              <a:tr h="257175">
                <a:tc>
                  <a:txBody>
                    <a:bodyPr/>
                    <a:lstStyle/>
                    <a:p>
                      <a:r>
                        <a:rPr kumimoji="1" lang="en-US" altLang="ja-JP" sz="1000" b="1" dirty="0" err="1">
                          <a:latin typeface="ＭＳ ゴシック" panose="020B0609070205080204" pitchFamily="49" charset="-128"/>
                          <a:ea typeface="ＭＳ ゴシック" panose="020B0609070205080204" pitchFamily="49" charset="-128"/>
                        </a:rPr>
                        <a:t>ReleaseDef</a:t>
                      </a:r>
                      <a:endParaRPr kumimoji="1" lang="ja-JP" altLang="en-US" sz="1000" b="1" dirty="0">
                        <a:latin typeface="ＭＳ ゴシック" panose="020B0609070205080204" pitchFamily="49" charset="-128"/>
                        <a:ea typeface="ＭＳ ゴシック" panose="020B0609070205080204" pitchFamily="49" charset="-128"/>
                      </a:endParaRPr>
                    </a:p>
                  </a:txBody>
                  <a:tcPr marL="51435" marR="51435" marT="25718" marB="25718"/>
                </a:tc>
                <a:tc>
                  <a:txBody>
                    <a:bodyPr/>
                    <a:lstStyle/>
                    <a:p>
                      <a:r>
                        <a:rPr lang="en-US" altLang="ja-JP" sz="1000" dirty="0"/>
                        <a:t>The name of the </a:t>
                      </a:r>
                      <a:r>
                        <a:rPr lang="en-US" altLang="ja-JP" sz="1000" b="1" dirty="0"/>
                        <a:t>release definition file</a:t>
                      </a:r>
                      <a:r>
                        <a:rPr lang="en-US" altLang="ja-JP" sz="1000" dirty="0"/>
                        <a:t>. </a:t>
                      </a:r>
                    </a:p>
                    <a:p>
                      <a:r>
                        <a:rPr lang="en-US" altLang="ja-JP" sz="1000" dirty="0"/>
                        <a:t>The default format is usually: </a:t>
                      </a:r>
                      <a:r>
                        <a:rPr lang="en-US" altLang="ja-JP" sz="1000" b="1" dirty="0"/>
                        <a:t>ProjectName.def</a:t>
                      </a:r>
                      <a:r>
                        <a:rPr lang="en-US" altLang="ja-JP" sz="1000" dirty="0"/>
                        <a:t> —but any filename is acceptable.</a:t>
                      </a:r>
                      <a:endParaRPr kumimoji="1" lang="en-US" altLang="ja-JP" sz="1000" dirty="0">
                        <a:latin typeface="+mj-ea"/>
                        <a:ea typeface="+mj-ea"/>
                      </a:endParaRPr>
                    </a:p>
                  </a:txBody>
                  <a:tcPr marL="51435" marR="51435" marT="25718" marB="25718"/>
                </a:tc>
                <a:extLst>
                  <a:ext uri="{0D108BD9-81ED-4DB2-BD59-A6C34878D82A}">
                    <a16:rowId xmlns:a16="http://schemas.microsoft.com/office/drawing/2014/main" val="1384385851"/>
                  </a:ext>
                </a:extLst>
              </a:tr>
              <a:tr h="257175">
                <a:tc>
                  <a:txBody>
                    <a:bodyPr/>
                    <a:lstStyle/>
                    <a:p>
                      <a:r>
                        <a:rPr kumimoji="1" lang="en-US" altLang="ja-JP" sz="1000" b="1" dirty="0" err="1">
                          <a:latin typeface="ＭＳ ゴシック" panose="020B0609070205080204" pitchFamily="49" charset="-128"/>
                          <a:ea typeface="ＭＳ ゴシック" panose="020B0609070205080204" pitchFamily="49" charset="-128"/>
                        </a:rPr>
                        <a:t>LoclFolder</a:t>
                      </a:r>
                      <a:endParaRPr kumimoji="1" lang="ja-JP" altLang="en-US" sz="1000" b="1" dirty="0">
                        <a:latin typeface="ＭＳ ゴシック" panose="020B0609070205080204" pitchFamily="49" charset="-128"/>
                        <a:ea typeface="ＭＳ ゴシック" panose="020B0609070205080204" pitchFamily="49" charset="-128"/>
                      </a:endParaRPr>
                    </a:p>
                  </a:txBody>
                  <a:tcPr marL="51435" marR="51435" marT="25718" marB="25718"/>
                </a:tc>
                <a:tc>
                  <a:txBody>
                    <a:bodyPr/>
                    <a:lstStyle/>
                    <a:p>
                      <a:r>
                        <a:rPr lang="en-US" altLang="ja-JP" sz="1000" dirty="0"/>
                        <a:t>The local working folder on the client PC. </a:t>
                      </a:r>
                    </a:p>
                    <a:p>
                      <a:r>
                        <a:rPr lang="en-US" altLang="ja-JP" sz="1000" dirty="0"/>
                        <a:t>The distribution module is copied from the network folder into this location and launched from here.</a:t>
                      </a:r>
                      <a:endParaRPr kumimoji="1" lang="en-US" altLang="ja-JP" sz="1000" dirty="0">
                        <a:latin typeface="+mj-ea"/>
                        <a:ea typeface="+mj-ea"/>
                      </a:endParaRPr>
                    </a:p>
                  </a:txBody>
                  <a:tcPr marL="51435" marR="51435" marT="25718" marB="25718"/>
                </a:tc>
                <a:extLst>
                  <a:ext uri="{0D108BD9-81ED-4DB2-BD59-A6C34878D82A}">
                    <a16:rowId xmlns:a16="http://schemas.microsoft.com/office/drawing/2014/main" val="750548996"/>
                  </a:ext>
                </a:extLst>
              </a:tr>
              <a:tr h="257175">
                <a:tc>
                  <a:txBody>
                    <a:bodyPr/>
                    <a:lstStyle/>
                    <a:p>
                      <a:r>
                        <a:rPr kumimoji="1" lang="en-US" altLang="ja-JP" sz="1000" b="1" dirty="0" err="1">
                          <a:latin typeface="ＭＳ ゴシック" panose="020B0609070205080204" pitchFamily="49" charset="-128"/>
                          <a:ea typeface="ＭＳ ゴシック" panose="020B0609070205080204" pitchFamily="49" charset="-128"/>
                        </a:rPr>
                        <a:t>MenuFolder</a:t>
                      </a:r>
                      <a:endParaRPr kumimoji="1" lang="ja-JP" altLang="en-US" sz="1000" b="1" dirty="0">
                        <a:latin typeface="ＭＳ ゴシック" panose="020B0609070205080204" pitchFamily="49" charset="-128"/>
                        <a:ea typeface="ＭＳ ゴシック" panose="020B0609070205080204" pitchFamily="49" charset="-128"/>
                      </a:endParaRPr>
                    </a:p>
                  </a:txBody>
                  <a:tcPr marL="51435" marR="51435" marT="25718" marB="25718"/>
                </a:tc>
                <a:tc>
                  <a:txBody>
                    <a:bodyPr/>
                    <a:lstStyle/>
                    <a:p>
                      <a:r>
                        <a:rPr lang="en-US" altLang="ja-JP" sz="1000" dirty="0">
                          <a:effectLst/>
                        </a:rPr>
                        <a:t>The folder where the GUI module is stored. </a:t>
                      </a:r>
                    </a:p>
                    <a:p>
                      <a:r>
                        <a:rPr lang="en-US" altLang="ja-JP" sz="1000" dirty="0">
                          <a:effectLst/>
                        </a:rPr>
                        <a:t>Specify the folder that contains the module referenced by </a:t>
                      </a:r>
                      <a:r>
                        <a:rPr lang="en-US" altLang="ja-JP" sz="1000" b="1" dirty="0" err="1">
                          <a:effectLst/>
                        </a:rPr>
                        <a:t>ModuleName</a:t>
                      </a:r>
                      <a:r>
                        <a:rPr lang="en-US" altLang="ja-JP" sz="1000" dirty="0">
                          <a:effectLst/>
                        </a:rPr>
                        <a:t>.</a:t>
                      </a:r>
                      <a:endParaRPr lang="en-US" altLang="ja-JP" sz="1000" dirty="0"/>
                    </a:p>
                    <a:p>
                      <a:r>
                        <a:rPr lang="en-US" altLang="ja-JP" sz="1000" dirty="0">
                          <a:effectLst/>
                        </a:rPr>
                        <a:t>By default, this is the folder where the script itself resides. If you distribute the script </a:t>
                      </a:r>
                      <a:r>
                        <a:rPr lang="en-US" altLang="ja-JP" sz="1000" i="1" dirty="0">
                          <a:effectLst/>
                        </a:rPr>
                        <a:t>directly</a:t>
                      </a:r>
                      <a:r>
                        <a:rPr lang="en-US" altLang="ja-JP" sz="1000" dirty="0">
                          <a:effectLst/>
                        </a:rPr>
                        <a:t> to clients (instead of distributing a shortcut), specify an </a:t>
                      </a:r>
                      <a:r>
                        <a:rPr lang="en-US" altLang="ja-JP" sz="1000" b="1" dirty="0">
                          <a:effectLst/>
                        </a:rPr>
                        <a:t>absolute path</a:t>
                      </a:r>
                      <a:r>
                        <a:rPr lang="en-US" altLang="ja-JP" sz="1000" dirty="0">
                          <a:effectLst/>
                        </a:rPr>
                        <a:t>.</a:t>
                      </a:r>
                      <a:endParaRPr lang="en-US" altLang="ja-JP" sz="1000" dirty="0"/>
                    </a:p>
                  </a:txBody>
                  <a:tcPr marL="51435" marR="51435" marT="25718" marB="25718"/>
                </a:tc>
                <a:extLst>
                  <a:ext uri="{0D108BD9-81ED-4DB2-BD59-A6C34878D82A}">
                    <a16:rowId xmlns:a16="http://schemas.microsoft.com/office/drawing/2014/main" val="2924358089"/>
                  </a:ext>
                </a:extLst>
              </a:tr>
              <a:tr h="257175">
                <a:tc>
                  <a:txBody>
                    <a:bodyPr/>
                    <a:lstStyle/>
                    <a:p>
                      <a:r>
                        <a:rPr kumimoji="1" lang="en-US" altLang="ja-JP" sz="1000" b="1" dirty="0">
                          <a:latin typeface="ＭＳ ゴシック" panose="020B0609070205080204" pitchFamily="49" charset="-128"/>
                          <a:ea typeface="ＭＳ ゴシック" panose="020B0609070205080204" pitchFamily="49" charset="-128"/>
                        </a:rPr>
                        <a:t>DBGFLG</a:t>
                      </a:r>
                      <a:endParaRPr kumimoji="1" lang="ja-JP" altLang="en-US" sz="1000" b="1" dirty="0">
                        <a:latin typeface="ＭＳ ゴシック" panose="020B0609070205080204" pitchFamily="49" charset="-128"/>
                        <a:ea typeface="ＭＳ ゴシック" panose="020B0609070205080204" pitchFamily="49" charset="-128"/>
                      </a:endParaRPr>
                    </a:p>
                  </a:txBody>
                  <a:tcPr marL="51435" marR="51435" marT="25718" marB="25718"/>
                </a:tc>
                <a:tc>
                  <a:txBody>
                    <a:bodyPr/>
                    <a:lstStyle/>
                    <a:p>
                      <a:r>
                        <a:rPr lang="en-US" altLang="ja-JP" sz="1000" dirty="0">
                          <a:effectLst/>
                        </a:rPr>
                        <a:t>When set to </a:t>
                      </a:r>
                      <a:r>
                        <a:rPr lang="en-US" altLang="ja-JP" sz="1000" b="1" dirty="0">
                          <a:effectLst/>
                        </a:rPr>
                        <a:t>True</a:t>
                      </a:r>
                      <a:r>
                        <a:rPr lang="en-US" altLang="ja-JP" sz="1000" dirty="0">
                          <a:effectLst/>
                        </a:rPr>
                        <a:t>, the script outputs trace information. </a:t>
                      </a:r>
                    </a:p>
                    <a:p>
                      <a:r>
                        <a:rPr lang="en-US" altLang="ja-JP" sz="1000" dirty="0">
                          <a:effectLst/>
                        </a:rPr>
                        <a:t>Enable this option if the script is not working correctly and you need to debug its behavior.</a:t>
                      </a:r>
                      <a:endParaRPr lang="en-US" altLang="ja-JP" sz="1000" dirty="0"/>
                    </a:p>
                  </a:txBody>
                  <a:tcPr marL="51435" marR="51435" marT="25718" marB="25718"/>
                </a:tc>
                <a:extLst>
                  <a:ext uri="{0D108BD9-81ED-4DB2-BD59-A6C34878D82A}">
                    <a16:rowId xmlns:a16="http://schemas.microsoft.com/office/drawing/2014/main" val="3991843752"/>
                  </a:ext>
                </a:extLst>
              </a:tr>
            </a:tbl>
          </a:graphicData>
        </a:graphic>
      </p:graphicFrame>
      <p:graphicFrame>
        <p:nvGraphicFramePr>
          <p:cNvPr id="52" name="表 34">
            <a:extLst>
              <a:ext uri="{FF2B5EF4-FFF2-40B4-BE49-F238E27FC236}">
                <a16:creationId xmlns:a16="http://schemas.microsoft.com/office/drawing/2014/main" id="{7BCFBAED-C715-857C-FB30-51F7258593FA}"/>
              </a:ext>
            </a:extLst>
          </p:cNvPr>
          <p:cNvGraphicFramePr>
            <a:graphicFrameLocks noGrp="1"/>
          </p:cNvGraphicFramePr>
          <p:nvPr>
            <p:ph idx="1"/>
          </p:nvPr>
        </p:nvGraphicFramePr>
        <p:xfrm>
          <a:off x="619393" y="5931074"/>
          <a:ext cx="5523100" cy="2190760"/>
        </p:xfrm>
        <a:graphic>
          <a:graphicData uri="http://schemas.openxmlformats.org/drawingml/2006/table">
            <a:tbl>
              <a:tblPr firstRow="1" bandRow="1">
                <a:tableStyleId>{5940675A-B579-460E-94D1-54222C63F5DA}</a:tableStyleId>
              </a:tblPr>
              <a:tblGrid>
                <a:gridCol w="1307158">
                  <a:extLst>
                    <a:ext uri="{9D8B030D-6E8A-4147-A177-3AD203B41FA5}">
                      <a16:colId xmlns:a16="http://schemas.microsoft.com/office/drawing/2014/main" val="1493125197"/>
                    </a:ext>
                  </a:extLst>
                </a:gridCol>
                <a:gridCol w="4215942">
                  <a:extLst>
                    <a:ext uri="{9D8B030D-6E8A-4147-A177-3AD203B41FA5}">
                      <a16:colId xmlns:a16="http://schemas.microsoft.com/office/drawing/2014/main" val="4145240839"/>
                    </a:ext>
                  </a:extLst>
                </a:gridCol>
              </a:tblGrid>
              <a:tr h="154305">
                <a:tc>
                  <a:txBody>
                    <a:bodyPr/>
                    <a:lstStyle/>
                    <a:p>
                      <a:r>
                        <a:rPr kumimoji="1" lang="ja-JP" altLang="en-US" sz="1100" dirty="0"/>
                        <a:t>内部関数</a:t>
                      </a:r>
                    </a:p>
                  </a:txBody>
                  <a:tcPr marL="51435" marR="51435" marT="25718" marB="25718">
                    <a:solidFill>
                      <a:srgbClr val="92D050"/>
                    </a:solidFill>
                  </a:tcPr>
                </a:tc>
                <a:tc>
                  <a:txBody>
                    <a:bodyPr/>
                    <a:lstStyle/>
                    <a:p>
                      <a:r>
                        <a:rPr kumimoji="1" lang="ja-JP" altLang="en-US" sz="1100" dirty="0"/>
                        <a:t>機能</a:t>
                      </a:r>
                    </a:p>
                  </a:txBody>
                  <a:tcPr marL="51435" marR="51435" marT="25718" marB="25718">
                    <a:solidFill>
                      <a:srgbClr val="92D050"/>
                    </a:solidFill>
                  </a:tcPr>
                </a:tc>
                <a:extLst>
                  <a:ext uri="{0D108BD9-81ED-4DB2-BD59-A6C34878D82A}">
                    <a16:rowId xmlns:a16="http://schemas.microsoft.com/office/drawing/2014/main" val="766252469"/>
                  </a:ext>
                </a:extLst>
              </a:tr>
              <a:tr h="154305">
                <a:tc>
                  <a:txBody>
                    <a:bodyPr/>
                    <a:lstStyle/>
                    <a:p>
                      <a:r>
                        <a:rPr kumimoji="1" lang="en-US" altLang="ja-JP" sz="1100" dirty="0" err="1"/>
                        <a:t>RunNormalMenu</a:t>
                      </a:r>
                      <a:endParaRPr kumimoji="1" lang="ja-JP" altLang="en-US" sz="1100" dirty="0"/>
                    </a:p>
                  </a:txBody>
                  <a:tcPr marL="51435" marR="51435" marT="25718" marB="25718"/>
                </a:tc>
                <a:tc>
                  <a:txBody>
                    <a:bodyPr/>
                    <a:lstStyle/>
                    <a:p>
                      <a:r>
                        <a:rPr kumimoji="1" lang="en-US" altLang="ja-JP" sz="1100" dirty="0"/>
                        <a:t>Run the Main module in normal mode.</a:t>
                      </a:r>
                      <a:endParaRPr kumimoji="1" lang="ja-JP" altLang="en-US" sz="1100" dirty="0"/>
                    </a:p>
                  </a:txBody>
                  <a:tcPr marL="51435" marR="51435" marT="25718" marB="25718"/>
                </a:tc>
                <a:extLst>
                  <a:ext uri="{0D108BD9-81ED-4DB2-BD59-A6C34878D82A}">
                    <a16:rowId xmlns:a16="http://schemas.microsoft.com/office/drawing/2014/main" val="3271834914"/>
                  </a:ext>
                </a:extLst>
              </a:tr>
              <a:tr h="154305">
                <a:tc>
                  <a:txBody>
                    <a:bodyPr/>
                    <a:lstStyle/>
                    <a:p>
                      <a:r>
                        <a:rPr kumimoji="1" lang="en-US" altLang="ja-JP" sz="1100" dirty="0" err="1"/>
                        <a:t>RunAdminMenu</a:t>
                      </a:r>
                      <a:endParaRPr kumimoji="1" lang="ja-JP" altLang="en-US" sz="1100" dirty="0"/>
                    </a:p>
                  </a:txBody>
                  <a:tcPr marL="51435" marR="51435" marT="25718" marB="25718"/>
                </a:tc>
                <a:tc>
                  <a:txBody>
                    <a:bodyPr/>
                    <a:lstStyle/>
                    <a:p>
                      <a:r>
                        <a:rPr kumimoji="1" lang="en-US" altLang="ja-JP" sz="1100" dirty="0"/>
                        <a:t>Run the main module in Administrator’s mode.</a:t>
                      </a:r>
                      <a:endParaRPr kumimoji="1" lang="ja-JP" altLang="en-US" sz="1100" dirty="0"/>
                    </a:p>
                  </a:txBody>
                  <a:tcPr marL="51435" marR="51435" marT="25718" marB="25718"/>
                </a:tc>
                <a:extLst>
                  <a:ext uri="{0D108BD9-81ED-4DB2-BD59-A6C34878D82A}">
                    <a16:rowId xmlns:a16="http://schemas.microsoft.com/office/drawing/2014/main" val="358284093"/>
                  </a:ext>
                </a:extLst>
              </a:tr>
              <a:tr h="154305">
                <a:tc>
                  <a:txBody>
                    <a:bodyPr/>
                    <a:lstStyle/>
                    <a:p>
                      <a:r>
                        <a:rPr kumimoji="1" lang="en-US" altLang="ja-JP" sz="1100" dirty="0" err="1"/>
                        <a:t>GetDevModule</a:t>
                      </a:r>
                      <a:endParaRPr kumimoji="1" lang="ja-JP" altLang="en-US" sz="1100" dirty="0"/>
                    </a:p>
                  </a:txBody>
                  <a:tcPr marL="51435" marR="51435" marT="25718" marB="25718"/>
                </a:tc>
                <a:tc>
                  <a:txBody>
                    <a:bodyPr/>
                    <a:lstStyle/>
                    <a:p>
                      <a:r>
                        <a:rPr kumimoji="1" lang="en-US" altLang="ja-JP" sz="1100" dirty="0"/>
                        <a:t>Return the name of the development module.</a:t>
                      </a:r>
                      <a:endParaRPr kumimoji="1" lang="ja-JP" altLang="en-US" sz="1100" dirty="0"/>
                    </a:p>
                  </a:txBody>
                  <a:tcPr marL="51435" marR="51435" marT="25718" marB="25718"/>
                </a:tc>
                <a:extLst>
                  <a:ext uri="{0D108BD9-81ED-4DB2-BD59-A6C34878D82A}">
                    <a16:rowId xmlns:a16="http://schemas.microsoft.com/office/drawing/2014/main" val="1112588647"/>
                  </a:ext>
                </a:extLst>
              </a:tr>
              <a:tr h="154305">
                <a:tc>
                  <a:txBody>
                    <a:bodyPr/>
                    <a:lstStyle/>
                    <a:p>
                      <a:r>
                        <a:rPr kumimoji="1" lang="en-US" altLang="ja-JP" sz="1100" dirty="0" err="1"/>
                        <a:t>GelRelModule</a:t>
                      </a:r>
                      <a:endParaRPr kumimoji="1" lang="ja-JP" altLang="en-US" sz="1100" dirty="0"/>
                    </a:p>
                  </a:txBody>
                  <a:tcPr marL="51435" marR="51435" marT="25718" marB="25718"/>
                </a:tc>
                <a:tc>
                  <a:txBody>
                    <a:bodyPr/>
                    <a:lstStyle/>
                    <a:p>
                      <a:r>
                        <a:rPr kumimoji="1" lang="en-US" altLang="ja-JP" sz="1100" dirty="0"/>
                        <a:t>Return the name of the distribution module.</a:t>
                      </a:r>
                      <a:endParaRPr kumimoji="1" lang="ja-JP" altLang="en-US" sz="1100" dirty="0"/>
                    </a:p>
                  </a:txBody>
                  <a:tcPr marL="51435" marR="51435" marT="25718" marB="25718"/>
                </a:tc>
                <a:extLst>
                  <a:ext uri="{0D108BD9-81ED-4DB2-BD59-A6C34878D82A}">
                    <a16:rowId xmlns:a16="http://schemas.microsoft.com/office/drawing/2014/main" val="826933377"/>
                  </a:ext>
                </a:extLst>
              </a:tr>
              <a:tr h="154305">
                <a:tc>
                  <a:txBody>
                    <a:bodyPr/>
                    <a:lstStyle/>
                    <a:p>
                      <a:r>
                        <a:rPr kumimoji="1" lang="en-US" altLang="ja-JP" sz="1100" dirty="0" err="1"/>
                        <a:t>GetLocModule</a:t>
                      </a:r>
                      <a:endParaRPr kumimoji="1" lang="ja-JP" altLang="en-US" sz="1100" dirty="0"/>
                    </a:p>
                  </a:txBody>
                  <a:tcPr marL="51435" marR="51435" marT="25718" marB="25718"/>
                </a:tc>
                <a:tc>
                  <a:txBody>
                    <a:bodyPr/>
                    <a:lstStyle/>
                    <a:p>
                      <a:r>
                        <a:rPr kumimoji="1" lang="en-US" altLang="ja-JP" sz="1100" dirty="0"/>
                        <a:t>Return the name of the local module in the client PC.</a:t>
                      </a:r>
                      <a:endParaRPr kumimoji="1" lang="ja-JP" altLang="en-US" sz="1100" dirty="0"/>
                    </a:p>
                  </a:txBody>
                  <a:tcPr marL="51435" marR="51435" marT="25718" marB="25718"/>
                </a:tc>
                <a:extLst>
                  <a:ext uri="{0D108BD9-81ED-4DB2-BD59-A6C34878D82A}">
                    <a16:rowId xmlns:a16="http://schemas.microsoft.com/office/drawing/2014/main" val="3820642318"/>
                  </a:ext>
                </a:extLst>
              </a:tr>
              <a:tr h="154305">
                <a:tc>
                  <a:txBody>
                    <a:bodyPr/>
                    <a:lstStyle/>
                    <a:p>
                      <a:r>
                        <a:rPr kumimoji="1" lang="en-US" altLang="ja-JP" sz="1100" dirty="0" err="1"/>
                        <a:t>CreateDevModule</a:t>
                      </a:r>
                      <a:endParaRPr kumimoji="1" lang="ja-JP" altLang="en-US" sz="1100" dirty="0"/>
                    </a:p>
                  </a:txBody>
                  <a:tcPr marL="51435" marR="51435" marT="25718" marB="25718"/>
                </a:tc>
                <a:tc>
                  <a:txBody>
                    <a:bodyPr/>
                    <a:lstStyle/>
                    <a:p>
                      <a:r>
                        <a:rPr kumimoji="1" lang="en-US" altLang="ja-JP" sz="1100" dirty="0"/>
                        <a:t>Create a new development module by copying the latest module.</a:t>
                      </a:r>
                      <a:endParaRPr kumimoji="1" lang="ja-JP" altLang="en-US" sz="1100" dirty="0"/>
                    </a:p>
                  </a:txBody>
                  <a:tcPr marL="51435" marR="51435" marT="25718" marB="25718"/>
                </a:tc>
                <a:extLst>
                  <a:ext uri="{0D108BD9-81ED-4DB2-BD59-A6C34878D82A}">
                    <a16:rowId xmlns:a16="http://schemas.microsoft.com/office/drawing/2014/main" val="976159733"/>
                  </a:ext>
                </a:extLst>
              </a:tr>
              <a:tr h="154305">
                <a:tc>
                  <a:txBody>
                    <a:bodyPr/>
                    <a:lstStyle/>
                    <a:p>
                      <a:r>
                        <a:rPr kumimoji="1" lang="en-US" altLang="ja-JP" sz="1100" dirty="0" err="1"/>
                        <a:t>ReleaseDevModule</a:t>
                      </a:r>
                      <a:endParaRPr kumimoji="1" lang="ja-JP" altLang="en-US" sz="1100" dirty="0"/>
                    </a:p>
                  </a:txBody>
                  <a:tcPr marL="51435" marR="51435" marT="25718" marB="25718"/>
                </a:tc>
                <a:tc>
                  <a:txBody>
                    <a:bodyPr/>
                    <a:lstStyle/>
                    <a:p>
                      <a:r>
                        <a:rPr kumimoji="1" lang="en-US" altLang="ja-JP" sz="1100" dirty="0"/>
                        <a:t>Release the development module as the distribution module.</a:t>
                      </a:r>
                      <a:endParaRPr kumimoji="1" lang="ja-JP" altLang="en-US" sz="1100" dirty="0"/>
                    </a:p>
                  </a:txBody>
                  <a:tcPr marL="51435" marR="51435" marT="25718" marB="25718"/>
                </a:tc>
                <a:extLst>
                  <a:ext uri="{0D108BD9-81ED-4DB2-BD59-A6C34878D82A}">
                    <a16:rowId xmlns:a16="http://schemas.microsoft.com/office/drawing/2014/main" val="1796663377"/>
                  </a:ext>
                </a:extLst>
              </a:tr>
              <a:tr h="154305">
                <a:tc>
                  <a:txBody>
                    <a:bodyPr/>
                    <a:lstStyle/>
                    <a:p>
                      <a:r>
                        <a:rPr kumimoji="1" lang="en-US" altLang="ja-JP" sz="1100" dirty="0" err="1"/>
                        <a:t>OptimiseModule</a:t>
                      </a:r>
                      <a:endParaRPr kumimoji="1" lang="ja-JP" altLang="en-US" sz="1100" dirty="0"/>
                    </a:p>
                  </a:txBody>
                  <a:tcPr marL="51435" marR="51435" marT="25718" marB="25718"/>
                </a:tc>
                <a:tc>
                  <a:txBody>
                    <a:bodyPr/>
                    <a:lstStyle/>
                    <a:p>
                      <a:r>
                        <a:rPr kumimoji="1" lang="en-US" altLang="ja-JP" sz="1100" dirty="0" err="1"/>
                        <a:t>Optimise</a:t>
                      </a:r>
                      <a:r>
                        <a:rPr kumimoji="1" lang="en-US" altLang="ja-JP" sz="1100" dirty="0"/>
                        <a:t> and compress the specified module.</a:t>
                      </a:r>
                      <a:endParaRPr kumimoji="1" lang="ja-JP" altLang="en-US" sz="1100" dirty="0"/>
                    </a:p>
                  </a:txBody>
                  <a:tcPr marL="51435" marR="51435" marT="25718" marB="25718"/>
                </a:tc>
                <a:extLst>
                  <a:ext uri="{0D108BD9-81ED-4DB2-BD59-A6C34878D82A}">
                    <a16:rowId xmlns:a16="http://schemas.microsoft.com/office/drawing/2014/main" val="1540515803"/>
                  </a:ext>
                </a:extLst>
              </a:tr>
              <a:tr h="154305">
                <a:tc>
                  <a:txBody>
                    <a:bodyPr/>
                    <a:lstStyle/>
                    <a:p>
                      <a:r>
                        <a:rPr kumimoji="1" lang="en-US" altLang="ja-JP" sz="1100" dirty="0" err="1"/>
                        <a:t>DBOptimise</a:t>
                      </a:r>
                      <a:endParaRPr kumimoji="1" lang="ja-JP" altLang="en-US" sz="1100" dirty="0"/>
                    </a:p>
                  </a:txBody>
                  <a:tcPr marL="51435" marR="51435" marT="25718" marB="25718"/>
                </a:tc>
                <a:tc>
                  <a:txBody>
                    <a:bodyPr/>
                    <a:lstStyle/>
                    <a:p>
                      <a:r>
                        <a:rPr kumimoji="1" lang="en-US" altLang="ja-JP" sz="1100" dirty="0" err="1"/>
                        <a:t>Optimise</a:t>
                      </a:r>
                      <a:r>
                        <a:rPr kumimoji="1" lang="en-US" altLang="ja-JP" sz="1100" dirty="0"/>
                        <a:t> and compress the .</a:t>
                      </a:r>
                      <a:r>
                        <a:rPr kumimoji="1" lang="en-US" altLang="ja-JP" sz="1100" dirty="0" err="1"/>
                        <a:t>accdb</a:t>
                      </a:r>
                      <a:r>
                        <a:rPr kumimoji="1" lang="en-US" altLang="ja-JP" sz="1100" dirty="0"/>
                        <a:t> module.</a:t>
                      </a:r>
                      <a:endParaRPr kumimoji="1" lang="ja-JP" altLang="en-US" sz="1100" dirty="0"/>
                    </a:p>
                  </a:txBody>
                  <a:tcPr marL="51435" marR="51435" marT="25718" marB="25718"/>
                </a:tc>
                <a:extLst>
                  <a:ext uri="{0D108BD9-81ED-4DB2-BD59-A6C34878D82A}">
                    <a16:rowId xmlns:a16="http://schemas.microsoft.com/office/drawing/2014/main" val="739004682"/>
                  </a:ext>
                </a:extLst>
              </a:tr>
            </a:tbl>
          </a:graphicData>
        </a:graphic>
      </p:graphicFrame>
      <p:sp>
        <p:nvSpPr>
          <p:cNvPr id="58" name="テキスト ボックス 57">
            <a:extLst>
              <a:ext uri="{FF2B5EF4-FFF2-40B4-BE49-F238E27FC236}">
                <a16:creationId xmlns:a16="http://schemas.microsoft.com/office/drawing/2014/main" id="{3982D49C-B83E-7223-C72B-07D4B704B6CF}"/>
              </a:ext>
            </a:extLst>
          </p:cNvPr>
          <p:cNvSpPr txBox="1"/>
          <p:nvPr/>
        </p:nvSpPr>
        <p:spPr>
          <a:xfrm>
            <a:off x="453668" y="5530228"/>
            <a:ext cx="2080511" cy="27699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kumimoji="1" lang="en-US" altLang="ja-JP" sz="1200" dirty="0"/>
              <a:t>Script function.</a:t>
            </a:r>
            <a:endParaRPr kumimoji="1" lang="ja-JP" altLang="en-US" sz="1200" dirty="0"/>
          </a:p>
        </p:txBody>
      </p:sp>
      <p:sp>
        <p:nvSpPr>
          <p:cNvPr id="59" name="テキスト ボックス 58">
            <a:extLst>
              <a:ext uri="{FF2B5EF4-FFF2-40B4-BE49-F238E27FC236}">
                <a16:creationId xmlns:a16="http://schemas.microsoft.com/office/drawing/2014/main" id="{950B6E56-A9B2-57FA-450E-4DB1593691F6}"/>
              </a:ext>
            </a:extLst>
          </p:cNvPr>
          <p:cNvSpPr txBox="1"/>
          <p:nvPr/>
        </p:nvSpPr>
        <p:spPr>
          <a:xfrm>
            <a:off x="453669" y="2072006"/>
            <a:ext cx="2080511" cy="27699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kumimoji="1" lang="en-US" altLang="ja-JP" sz="1200" dirty="0"/>
              <a:t>Script Variables.</a:t>
            </a:r>
            <a:endParaRPr kumimoji="1" lang="ja-JP" altLang="en-US" sz="1200" dirty="0"/>
          </a:p>
        </p:txBody>
      </p:sp>
      <p:sp>
        <p:nvSpPr>
          <p:cNvPr id="3" name="テキスト ボックス 2">
            <a:extLst>
              <a:ext uri="{FF2B5EF4-FFF2-40B4-BE49-F238E27FC236}">
                <a16:creationId xmlns:a16="http://schemas.microsoft.com/office/drawing/2014/main" id="{77EA4ED6-BCD1-DF6B-429F-60642DC08388}"/>
              </a:ext>
            </a:extLst>
          </p:cNvPr>
          <p:cNvSpPr txBox="1"/>
          <p:nvPr/>
        </p:nvSpPr>
        <p:spPr>
          <a:xfrm>
            <a:off x="579791" y="8449841"/>
            <a:ext cx="5237618" cy="1077218"/>
          </a:xfrm>
          <a:prstGeom prst="rect">
            <a:avLst/>
          </a:prstGeom>
          <a:noFill/>
        </p:spPr>
        <p:txBody>
          <a:bodyPr wrap="square" rtlCol="0">
            <a:spAutoFit/>
          </a:bodyPr>
          <a:lstStyle/>
          <a:p>
            <a:r>
              <a:rPr lang="en-US" altLang="ja-JP" sz="1600" dirty="0"/>
              <a:t>Note:</a:t>
            </a:r>
            <a:r>
              <a:rPr lang="ja-JP" altLang="en-US" sz="1600" dirty="0"/>
              <a:t> </a:t>
            </a:r>
            <a:r>
              <a:rPr lang="en-US" altLang="ja-JP" sz="1600" dirty="0"/>
              <a:t>Planned Migration of the Startup Script</a:t>
            </a:r>
            <a:endParaRPr lang="en-US" altLang="ja-JP" sz="1200" dirty="0"/>
          </a:p>
          <a:p>
            <a:r>
              <a:rPr lang="en-US" altLang="ja-JP" sz="1200" dirty="0"/>
              <a:t>Microsoft has announced that VBScript will be phased out in the future. For this reason, the current startup script—implemented in VBScript—is planned to be replaced with </a:t>
            </a:r>
            <a:r>
              <a:rPr lang="en-US" altLang="ja-JP" sz="1200" b="1" dirty="0"/>
              <a:t>PowerShell</a:t>
            </a:r>
            <a:r>
              <a:rPr lang="en-US" altLang="ja-JP" sz="1200" dirty="0"/>
              <a:t> or another modern scripting environment at a later stage.</a:t>
            </a:r>
          </a:p>
        </p:txBody>
      </p:sp>
    </p:spTree>
    <p:extLst>
      <p:ext uri="{BB962C8B-B14F-4D97-AF65-F5344CB8AC3E}">
        <p14:creationId xmlns:p14="http://schemas.microsoft.com/office/powerpoint/2010/main" val="1264125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0FB41529-056B-1900-89B4-276841E6A6BA}"/>
              </a:ext>
            </a:extLst>
          </p:cNvPr>
          <p:cNvSpPr>
            <a:spLocks noGrp="1"/>
          </p:cNvSpPr>
          <p:nvPr>
            <p:ph type="title"/>
          </p:nvPr>
        </p:nvSpPr>
        <p:spPr/>
        <p:txBody>
          <a:bodyPr/>
          <a:lstStyle/>
          <a:p>
            <a:r>
              <a:rPr lang="en-US" altLang="ja-JP" dirty="0"/>
              <a:t>Shared Table and Generating Forms.</a:t>
            </a:r>
            <a:endParaRPr lang="ja-JP" altLang="en-US" dirty="0"/>
          </a:p>
        </p:txBody>
      </p:sp>
      <p:sp>
        <p:nvSpPr>
          <p:cNvPr id="5" name="テキスト プレースホルダー 4">
            <a:extLst>
              <a:ext uri="{FF2B5EF4-FFF2-40B4-BE49-F238E27FC236}">
                <a16:creationId xmlns:a16="http://schemas.microsoft.com/office/drawing/2014/main" id="{72F5B894-00EE-AB4B-B0D6-4547A00F7D1F}"/>
              </a:ext>
            </a:extLst>
          </p:cNvPr>
          <p:cNvSpPr>
            <a:spLocks noGrp="1"/>
          </p:cNvSpPr>
          <p:nvPr>
            <p:ph type="body" idx="1"/>
          </p:nvPr>
        </p:nvSpPr>
        <p:spPr/>
        <p:txBody>
          <a:bodyPr/>
          <a:lstStyle/>
          <a:p>
            <a:endParaRPr lang="ja-JP" altLang="en-US"/>
          </a:p>
        </p:txBody>
      </p:sp>
    </p:spTree>
    <p:extLst>
      <p:ext uri="{BB962C8B-B14F-4D97-AF65-F5344CB8AC3E}">
        <p14:creationId xmlns:p14="http://schemas.microsoft.com/office/powerpoint/2010/main" val="3493569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B1A26B-E7C9-0FE8-3BA4-FC9130910285}"/>
              </a:ext>
            </a:extLst>
          </p:cNvPr>
          <p:cNvSpPr>
            <a:spLocks noGrp="1"/>
          </p:cNvSpPr>
          <p:nvPr>
            <p:ph type="title"/>
          </p:nvPr>
        </p:nvSpPr>
        <p:spPr>
          <a:xfrm>
            <a:off x="263493" y="221921"/>
            <a:ext cx="6215074" cy="624132"/>
          </a:xfrm>
        </p:spPr>
        <p:txBody>
          <a:bodyPr>
            <a:normAutofit/>
          </a:bodyPr>
          <a:lstStyle/>
          <a:p>
            <a:r>
              <a:rPr kumimoji="1" lang="en-US" altLang="ja-JP" dirty="0"/>
              <a:t>Shared Tables and How ALAYA Works</a:t>
            </a:r>
            <a:endParaRPr kumimoji="1" lang="ja-JP" altLang="en-US" dirty="0"/>
          </a:p>
        </p:txBody>
      </p:sp>
      <p:sp>
        <p:nvSpPr>
          <p:cNvPr id="4" name="テキスト ボックス 3">
            <a:extLst>
              <a:ext uri="{FF2B5EF4-FFF2-40B4-BE49-F238E27FC236}">
                <a16:creationId xmlns:a16="http://schemas.microsoft.com/office/drawing/2014/main" id="{52038D79-F68B-1329-75FF-DD12519A4686}"/>
              </a:ext>
            </a:extLst>
          </p:cNvPr>
          <p:cNvSpPr txBox="1"/>
          <p:nvPr/>
        </p:nvSpPr>
        <p:spPr>
          <a:xfrm>
            <a:off x="311792" y="804783"/>
            <a:ext cx="6215073" cy="4893647"/>
          </a:xfrm>
          <a:prstGeom prst="rect">
            <a:avLst/>
          </a:prstGeom>
          <a:solidFill>
            <a:schemeClr val="bg1"/>
          </a:solidFill>
          <a:ln>
            <a:noFill/>
          </a:ln>
        </p:spPr>
        <p:txBody>
          <a:bodyPr wrap="square" rtlCol="0">
            <a:spAutoFit/>
          </a:bodyPr>
          <a:lstStyle/>
          <a:p>
            <a:r>
              <a:rPr lang="en-US" altLang="ja-JP" sz="1200" dirty="0"/>
              <a:t>Microsoft Access allows shared tables to be used as </a:t>
            </a:r>
            <a:r>
              <a:rPr lang="en-US" altLang="ja-JP" sz="1200" b="1" dirty="0"/>
              <a:t>linked tables</a:t>
            </a:r>
            <a:r>
              <a:rPr lang="en-US" altLang="ja-JP" sz="1200" dirty="0"/>
              <a:t>, enabling users to read and update server‑side data from their local environment. However, Access’s shared‑lock mechanism is extremely fragile. When multiple clients write directly to linked tables using default settings, the database can be easily corrupted.</a:t>
            </a:r>
          </a:p>
          <a:p>
            <a:endParaRPr lang="en-US" altLang="ja-JP" sz="1200" dirty="0"/>
          </a:p>
          <a:p>
            <a:r>
              <a:rPr lang="en-US" altLang="ja-JP" sz="1200" b="1" dirty="0"/>
              <a:t>ALAYA avoids this vulnerability using a very simple and robust operating principle:</a:t>
            </a:r>
            <a:endParaRPr lang="en-US" altLang="ja-JP" sz="1200" dirty="0"/>
          </a:p>
          <a:p>
            <a:endParaRPr lang="en-US" altLang="ja-JP" sz="1200" b="1" dirty="0"/>
          </a:p>
          <a:p>
            <a:r>
              <a:rPr lang="en-US" altLang="ja-JP" sz="1200" b="1" dirty="0"/>
              <a:t>1. Copy shared table data into a local table.</a:t>
            </a:r>
            <a:endParaRPr lang="en-US" altLang="ja-JP" sz="1200" dirty="0"/>
          </a:p>
          <a:p>
            <a:r>
              <a:rPr lang="en-US" altLang="ja-JP" sz="1200" b="1" dirty="0"/>
              <a:t>2. All record additions and edits are performed on the local table.</a:t>
            </a:r>
            <a:endParaRPr lang="en-US" altLang="ja-JP" sz="1200" dirty="0"/>
          </a:p>
          <a:p>
            <a:r>
              <a:rPr lang="en-US" altLang="ja-JP" sz="1200" b="1" dirty="0"/>
              <a:t>3. When the user clicks the Save button, only the differences are written back to the shared table.</a:t>
            </a:r>
          </a:p>
          <a:p>
            <a:br>
              <a:rPr lang="en-US" altLang="ja-JP" sz="1200" dirty="0"/>
            </a:br>
            <a:r>
              <a:rPr lang="en-US" altLang="ja-JP" sz="1200" dirty="0"/>
              <a:t>With this approach:</a:t>
            </a:r>
          </a:p>
          <a:p>
            <a:pPr marL="171450" indent="-171450">
              <a:buFont typeface="Arial" panose="020B0604020202020204" pitchFamily="34" charset="0"/>
              <a:buChar char="•"/>
            </a:pPr>
            <a:r>
              <a:rPr lang="en-US" altLang="ja-JP" sz="1200" dirty="0"/>
              <a:t>The shared table is </a:t>
            </a:r>
            <a:r>
              <a:rPr lang="en-US" altLang="ja-JP" sz="1200" b="1" dirty="0"/>
              <a:t>never kept open</a:t>
            </a:r>
            <a:r>
              <a:rPr lang="en-US" altLang="ja-JP" sz="1200" dirty="0"/>
              <a:t> during editing.</a:t>
            </a:r>
          </a:p>
          <a:p>
            <a:pPr marL="171450" indent="-171450">
              <a:buFont typeface="Arial" panose="020B0604020202020204" pitchFamily="34" charset="0"/>
              <a:buChar char="•"/>
            </a:pPr>
            <a:r>
              <a:rPr lang="en-US" altLang="ja-JP" sz="1200" dirty="0"/>
              <a:t>Access occurs </a:t>
            </a:r>
            <a:r>
              <a:rPr lang="en-US" altLang="ja-JP" sz="1200" b="1" dirty="0"/>
              <a:t>only once at load time and once at save time</a:t>
            </a:r>
            <a:r>
              <a:rPr lang="en-US" altLang="ja-JP" sz="1200" dirty="0"/>
              <a:t>.</a:t>
            </a:r>
          </a:p>
          <a:p>
            <a:pPr marL="171450" indent="-171450">
              <a:buFont typeface="Arial" panose="020B0604020202020204" pitchFamily="34" charset="0"/>
              <a:buChar char="•"/>
            </a:pPr>
            <a:r>
              <a:rPr lang="en-US" altLang="ja-JP" sz="1200" dirty="0"/>
              <a:t>This ensures </a:t>
            </a:r>
            <a:r>
              <a:rPr lang="en-US" altLang="ja-JP" sz="1200" b="1" dirty="0"/>
              <a:t>safe updates</a:t>
            </a:r>
            <a:r>
              <a:rPr lang="en-US" altLang="ja-JP" sz="1200" dirty="0"/>
              <a:t> and significantly improves </a:t>
            </a:r>
            <a:r>
              <a:rPr lang="en-US" altLang="ja-JP" sz="1200" b="1" dirty="0"/>
              <a:t>performance</a:t>
            </a:r>
            <a:r>
              <a:rPr lang="en-US" altLang="ja-JP" sz="1200" dirty="0"/>
              <a:t>.</a:t>
            </a:r>
          </a:p>
          <a:p>
            <a:endParaRPr lang="en-US" altLang="ja-JP" sz="1200" dirty="0"/>
          </a:p>
          <a:p>
            <a:r>
              <a:rPr lang="en-US" altLang="ja-JP" sz="1200" dirty="0"/>
              <a:t>All interactions with the shared table are performed using </a:t>
            </a:r>
            <a:r>
              <a:rPr lang="en-US" altLang="ja-JP" sz="1200" b="1" dirty="0"/>
              <a:t>SQL statements</a:t>
            </a:r>
            <a:r>
              <a:rPr lang="en-US" altLang="ja-JP" sz="1200" dirty="0"/>
              <a:t>. DAO/ADO‑based writes tend to be unstable and prone to corruption, whereas SQL‑based writes use proper locking mechanisms and remain stable even in multi‑user environments.</a:t>
            </a:r>
          </a:p>
          <a:p>
            <a:r>
              <a:rPr lang="en-US" altLang="ja-JP" sz="1200" dirty="0"/>
              <a:t>Because ALAYA accesses linked tables only minimally, performance remains excellent—even when using:</a:t>
            </a:r>
          </a:p>
          <a:p>
            <a:endParaRPr lang="en-US" altLang="ja-JP" sz="1200" dirty="0"/>
          </a:p>
          <a:p>
            <a:r>
              <a:rPr lang="en-US" altLang="ja-JP" sz="1200" dirty="0"/>
              <a:t>ODBC connections to external databases</a:t>
            </a:r>
          </a:p>
          <a:p>
            <a:r>
              <a:rPr lang="en-US" altLang="ja-JP" sz="1200" dirty="0"/>
              <a:t>SharePoint‑hosted tables</a:t>
            </a:r>
          </a:p>
        </p:txBody>
      </p:sp>
      <p:sp>
        <p:nvSpPr>
          <p:cNvPr id="3" name="フローチャート: 磁気ディスク 2">
            <a:extLst>
              <a:ext uri="{FF2B5EF4-FFF2-40B4-BE49-F238E27FC236}">
                <a16:creationId xmlns:a16="http://schemas.microsoft.com/office/drawing/2014/main" id="{240CA7C6-8F5A-D94D-2EC1-C8ACEC617DAA}"/>
              </a:ext>
            </a:extLst>
          </p:cNvPr>
          <p:cNvSpPr/>
          <p:nvPr/>
        </p:nvSpPr>
        <p:spPr>
          <a:xfrm>
            <a:off x="1401831" y="6221115"/>
            <a:ext cx="399944" cy="37017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pic>
        <p:nvPicPr>
          <p:cNvPr id="6" name="図 5">
            <a:extLst>
              <a:ext uri="{FF2B5EF4-FFF2-40B4-BE49-F238E27FC236}">
                <a16:creationId xmlns:a16="http://schemas.microsoft.com/office/drawing/2014/main" id="{72ECCBCE-010B-541A-90B6-4026827F618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75044" y="6227591"/>
            <a:ext cx="371832" cy="574628"/>
          </a:xfrm>
          <a:prstGeom prst="rect">
            <a:avLst/>
          </a:prstGeom>
        </p:spPr>
      </p:pic>
      <p:pic>
        <p:nvPicPr>
          <p:cNvPr id="22" name="Picture 2">
            <a:extLst>
              <a:ext uri="{FF2B5EF4-FFF2-40B4-BE49-F238E27FC236}">
                <a16:creationId xmlns:a16="http://schemas.microsoft.com/office/drawing/2014/main" id="{65F05017-CC72-33F2-5354-91D7FADE6E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010707" y="6104706"/>
            <a:ext cx="370811" cy="38993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a:extLst>
              <a:ext uri="{FF2B5EF4-FFF2-40B4-BE49-F238E27FC236}">
                <a16:creationId xmlns:a16="http://schemas.microsoft.com/office/drawing/2014/main" id="{B6F8C0B0-C5CE-B51D-BE30-22A0A75934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013500" y="6534753"/>
            <a:ext cx="370811" cy="38993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a:extLst>
              <a:ext uri="{FF2B5EF4-FFF2-40B4-BE49-F238E27FC236}">
                <a16:creationId xmlns:a16="http://schemas.microsoft.com/office/drawing/2014/main" id="{333BF047-1557-3107-6D47-DB7266A602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000219" y="6944083"/>
            <a:ext cx="370811" cy="389936"/>
          </a:xfrm>
          <a:prstGeom prst="rect">
            <a:avLst/>
          </a:prstGeom>
          <a:noFill/>
          <a:extLst>
            <a:ext uri="{909E8E84-426E-40DD-AFC4-6F175D3DCCD1}">
              <a14:hiddenFill xmlns:a14="http://schemas.microsoft.com/office/drawing/2010/main">
                <a:solidFill>
                  <a:srgbClr val="FFFFFF"/>
                </a:solidFill>
              </a14:hiddenFill>
            </a:ext>
          </a:extLst>
        </p:spPr>
      </p:pic>
      <p:sp>
        <p:nvSpPr>
          <p:cNvPr id="26" name="フローチャート: 内部記憶 25">
            <a:extLst>
              <a:ext uri="{FF2B5EF4-FFF2-40B4-BE49-F238E27FC236}">
                <a16:creationId xmlns:a16="http://schemas.microsoft.com/office/drawing/2014/main" id="{BBA78424-3FC6-E9AB-9739-F0EF5966B3DC}"/>
              </a:ext>
            </a:extLst>
          </p:cNvPr>
          <p:cNvSpPr/>
          <p:nvPr/>
        </p:nvSpPr>
        <p:spPr>
          <a:xfrm>
            <a:off x="2565342" y="6159996"/>
            <a:ext cx="370811" cy="223391"/>
          </a:xfrm>
          <a:prstGeom prst="flowChartInternalStorag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sp>
        <p:nvSpPr>
          <p:cNvPr id="30" name="フローチャート: 内部記憶 29">
            <a:extLst>
              <a:ext uri="{FF2B5EF4-FFF2-40B4-BE49-F238E27FC236}">
                <a16:creationId xmlns:a16="http://schemas.microsoft.com/office/drawing/2014/main" id="{CF59FD39-F076-3868-3E4F-ADC94C6EAF37}"/>
              </a:ext>
            </a:extLst>
          </p:cNvPr>
          <p:cNvSpPr/>
          <p:nvPr/>
        </p:nvSpPr>
        <p:spPr>
          <a:xfrm>
            <a:off x="2564232" y="6577093"/>
            <a:ext cx="370811" cy="223391"/>
          </a:xfrm>
          <a:prstGeom prst="flowChartInternalStorag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sp>
        <p:nvSpPr>
          <p:cNvPr id="32" name="フローチャート: 内部記憶 31">
            <a:extLst>
              <a:ext uri="{FF2B5EF4-FFF2-40B4-BE49-F238E27FC236}">
                <a16:creationId xmlns:a16="http://schemas.microsoft.com/office/drawing/2014/main" id="{93F927B9-F960-77DA-2A90-574E7249734C}"/>
              </a:ext>
            </a:extLst>
          </p:cNvPr>
          <p:cNvSpPr/>
          <p:nvPr/>
        </p:nvSpPr>
        <p:spPr>
          <a:xfrm>
            <a:off x="2564232" y="6994190"/>
            <a:ext cx="370811" cy="223391"/>
          </a:xfrm>
          <a:prstGeom prst="flowChartInternalStorag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sp>
        <p:nvSpPr>
          <p:cNvPr id="34" name="正方形/長方形 33">
            <a:extLst>
              <a:ext uri="{FF2B5EF4-FFF2-40B4-BE49-F238E27FC236}">
                <a16:creationId xmlns:a16="http://schemas.microsoft.com/office/drawing/2014/main" id="{C42876F3-E938-E3B3-0108-28096F6E563F}"/>
              </a:ext>
            </a:extLst>
          </p:cNvPr>
          <p:cNvSpPr/>
          <p:nvPr/>
        </p:nvSpPr>
        <p:spPr>
          <a:xfrm>
            <a:off x="844972" y="5718912"/>
            <a:ext cx="3548460" cy="174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sp>
        <p:nvSpPr>
          <p:cNvPr id="35" name="フローチャート: 内部記憶 34">
            <a:extLst>
              <a:ext uri="{FF2B5EF4-FFF2-40B4-BE49-F238E27FC236}">
                <a16:creationId xmlns:a16="http://schemas.microsoft.com/office/drawing/2014/main" id="{B85F2A53-B14B-3C9E-5AB3-1AFA68E3F04D}"/>
              </a:ext>
            </a:extLst>
          </p:cNvPr>
          <p:cNvSpPr/>
          <p:nvPr/>
        </p:nvSpPr>
        <p:spPr>
          <a:xfrm>
            <a:off x="1609779" y="6442822"/>
            <a:ext cx="370811" cy="223391"/>
          </a:xfrm>
          <a:prstGeom prst="flowChartInternalStorag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sp>
        <p:nvSpPr>
          <p:cNvPr id="36" name="テキスト ボックス 16">
            <a:extLst>
              <a:ext uri="{FF2B5EF4-FFF2-40B4-BE49-F238E27FC236}">
                <a16:creationId xmlns:a16="http://schemas.microsoft.com/office/drawing/2014/main" id="{4324843C-4A24-EAC9-D116-4E907F03C488}"/>
              </a:ext>
            </a:extLst>
          </p:cNvPr>
          <p:cNvSpPr txBox="1"/>
          <p:nvPr/>
        </p:nvSpPr>
        <p:spPr>
          <a:xfrm>
            <a:off x="1233696" y="6769000"/>
            <a:ext cx="1132809"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ja-JP" sz="1050" dirty="0"/>
              <a:t>Shared Tables</a:t>
            </a:r>
            <a:endParaRPr kumimoji="1" lang="ja-JP" altLang="en-US" sz="1050" dirty="0"/>
          </a:p>
        </p:txBody>
      </p:sp>
      <p:cxnSp>
        <p:nvCxnSpPr>
          <p:cNvPr id="38" name="直線矢印コネクタ 37">
            <a:extLst>
              <a:ext uri="{FF2B5EF4-FFF2-40B4-BE49-F238E27FC236}">
                <a16:creationId xmlns:a16="http://schemas.microsoft.com/office/drawing/2014/main" id="{1BF560DA-3C25-445C-5180-54F4498AA4B0}"/>
              </a:ext>
            </a:extLst>
          </p:cNvPr>
          <p:cNvCxnSpPr>
            <a:cxnSpLocks/>
            <a:stCxn id="35" idx="3"/>
            <a:endCxn id="22" idx="3"/>
          </p:cNvCxnSpPr>
          <p:nvPr/>
        </p:nvCxnSpPr>
        <p:spPr>
          <a:xfrm flipV="1">
            <a:off x="1980590" y="6299674"/>
            <a:ext cx="1030117" cy="25484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DAF9196F-AED2-688B-5BB2-8F44C91A61F9}"/>
              </a:ext>
            </a:extLst>
          </p:cNvPr>
          <p:cNvCxnSpPr>
            <a:cxnSpLocks/>
            <a:stCxn id="35" idx="3"/>
            <a:endCxn id="23" idx="3"/>
          </p:cNvCxnSpPr>
          <p:nvPr/>
        </p:nvCxnSpPr>
        <p:spPr>
          <a:xfrm>
            <a:off x="1980590" y="6554518"/>
            <a:ext cx="1032910" cy="1752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CAD6C865-5A8A-9269-85B4-6196F190A900}"/>
              </a:ext>
            </a:extLst>
          </p:cNvPr>
          <p:cNvCxnSpPr>
            <a:cxnSpLocks/>
            <a:stCxn id="35" idx="3"/>
            <a:endCxn id="25" idx="3"/>
          </p:cNvCxnSpPr>
          <p:nvPr/>
        </p:nvCxnSpPr>
        <p:spPr>
          <a:xfrm>
            <a:off x="1980590" y="6554518"/>
            <a:ext cx="1019629" cy="5845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51">
            <a:extLst>
              <a:ext uri="{FF2B5EF4-FFF2-40B4-BE49-F238E27FC236}">
                <a16:creationId xmlns:a16="http://schemas.microsoft.com/office/drawing/2014/main" id="{29B159AB-D1DA-175E-1F90-58277F2881A2}"/>
              </a:ext>
            </a:extLst>
          </p:cNvPr>
          <p:cNvSpPr txBox="1"/>
          <p:nvPr/>
        </p:nvSpPr>
        <p:spPr>
          <a:xfrm>
            <a:off x="2318616" y="5937933"/>
            <a:ext cx="907621" cy="200055"/>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kumimoji="1" lang="en-US" altLang="ja-JP" sz="700" dirty="0"/>
              <a:t>Link Tables direct</a:t>
            </a:r>
            <a:endParaRPr kumimoji="1" lang="ja-JP" altLang="en-US" sz="700" dirty="0"/>
          </a:p>
        </p:txBody>
      </p:sp>
      <p:sp>
        <p:nvSpPr>
          <p:cNvPr id="49" name="矢印: 右 48">
            <a:extLst>
              <a:ext uri="{FF2B5EF4-FFF2-40B4-BE49-F238E27FC236}">
                <a16:creationId xmlns:a16="http://schemas.microsoft.com/office/drawing/2014/main" id="{AA39BE96-C352-4E02-AF7B-B1724C2F441B}"/>
              </a:ext>
            </a:extLst>
          </p:cNvPr>
          <p:cNvSpPr/>
          <p:nvPr/>
        </p:nvSpPr>
        <p:spPr>
          <a:xfrm rot="5400000">
            <a:off x="2136675" y="7476019"/>
            <a:ext cx="382958" cy="582096"/>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sp>
        <p:nvSpPr>
          <p:cNvPr id="50" name="テキスト ボックス 4">
            <a:extLst>
              <a:ext uri="{FF2B5EF4-FFF2-40B4-BE49-F238E27FC236}">
                <a16:creationId xmlns:a16="http://schemas.microsoft.com/office/drawing/2014/main" id="{A60AE52E-9029-3B41-95FC-0EEC403F6B2C}"/>
              </a:ext>
            </a:extLst>
          </p:cNvPr>
          <p:cNvSpPr txBox="1"/>
          <p:nvPr/>
        </p:nvSpPr>
        <p:spPr>
          <a:xfrm>
            <a:off x="4067047" y="5825612"/>
            <a:ext cx="2033982" cy="276999"/>
          </a:xfrm>
          <a:prstGeom prst="rect">
            <a:avLst/>
          </a:prstGeom>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rtlCol="0">
            <a:sp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kumimoji="1" lang="en-US" altLang="ja-JP" sz="1200" dirty="0"/>
              <a:t>Access default mechanism.</a:t>
            </a:r>
            <a:endParaRPr kumimoji="1" lang="ja-JP" altLang="en-US" sz="1200" dirty="0"/>
          </a:p>
        </p:txBody>
      </p:sp>
      <p:sp>
        <p:nvSpPr>
          <p:cNvPr id="51" name="テキスト ボックス 69">
            <a:extLst>
              <a:ext uri="{FF2B5EF4-FFF2-40B4-BE49-F238E27FC236}">
                <a16:creationId xmlns:a16="http://schemas.microsoft.com/office/drawing/2014/main" id="{2192AD17-38EB-080E-C71A-95FB063F0FED}"/>
              </a:ext>
            </a:extLst>
          </p:cNvPr>
          <p:cNvSpPr txBox="1"/>
          <p:nvPr/>
        </p:nvSpPr>
        <p:spPr>
          <a:xfrm>
            <a:off x="4067047" y="6388596"/>
            <a:ext cx="2691893" cy="461665"/>
          </a:xfrm>
          <a:prstGeom prst="rect">
            <a:avLst/>
          </a:prstGeom>
          <a:solidFill>
            <a:srgbClr val="CCFFFF"/>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ja-JP" sz="1200" dirty="0"/>
              <a:t>Keep link tables open during editing. This action easily cause corruptions.</a:t>
            </a:r>
            <a:endParaRPr kumimoji="1" lang="ja-JP" altLang="en-US" sz="1200" dirty="0"/>
          </a:p>
        </p:txBody>
      </p:sp>
      <p:sp>
        <p:nvSpPr>
          <p:cNvPr id="53" name="フローチャート: 磁気ディスク 52">
            <a:extLst>
              <a:ext uri="{FF2B5EF4-FFF2-40B4-BE49-F238E27FC236}">
                <a16:creationId xmlns:a16="http://schemas.microsoft.com/office/drawing/2014/main" id="{8EAB5F73-B7EB-C289-E69D-1A61693E44D9}"/>
              </a:ext>
            </a:extLst>
          </p:cNvPr>
          <p:cNvSpPr/>
          <p:nvPr/>
        </p:nvSpPr>
        <p:spPr>
          <a:xfrm>
            <a:off x="1436737" y="8411613"/>
            <a:ext cx="399944" cy="37017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pic>
        <p:nvPicPr>
          <p:cNvPr id="54" name="図 53">
            <a:extLst>
              <a:ext uri="{FF2B5EF4-FFF2-40B4-BE49-F238E27FC236}">
                <a16:creationId xmlns:a16="http://schemas.microsoft.com/office/drawing/2014/main" id="{6229D818-6B47-6A3B-BCB2-CCD73DC6DC8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09950" y="8418089"/>
            <a:ext cx="371832" cy="574628"/>
          </a:xfrm>
          <a:prstGeom prst="rect">
            <a:avLst/>
          </a:prstGeom>
        </p:spPr>
      </p:pic>
      <p:pic>
        <p:nvPicPr>
          <p:cNvPr id="55" name="Picture 2">
            <a:extLst>
              <a:ext uri="{FF2B5EF4-FFF2-40B4-BE49-F238E27FC236}">
                <a16:creationId xmlns:a16="http://schemas.microsoft.com/office/drawing/2014/main" id="{B55DC944-8819-4DEF-E566-713BF3ACCD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419329" y="8248800"/>
            <a:ext cx="370811" cy="389936"/>
          </a:xfrm>
          <a:prstGeom prst="rect">
            <a:avLst/>
          </a:prstGeom>
          <a:noFill/>
          <a:extLst>
            <a:ext uri="{909E8E84-426E-40DD-AFC4-6F175D3DCCD1}">
              <a14:hiddenFill xmlns:a14="http://schemas.microsoft.com/office/drawing/2010/main">
                <a:solidFill>
                  <a:srgbClr val="FFFFFF"/>
                </a:solidFill>
              </a14:hiddenFill>
            </a:ext>
          </a:extLst>
        </p:spPr>
      </p:pic>
      <p:sp>
        <p:nvSpPr>
          <p:cNvPr id="56" name="フローチャート: 内部記憶 55">
            <a:extLst>
              <a:ext uri="{FF2B5EF4-FFF2-40B4-BE49-F238E27FC236}">
                <a16:creationId xmlns:a16="http://schemas.microsoft.com/office/drawing/2014/main" id="{15BBA923-9F8D-98DD-625D-EA97C2C219B5}"/>
              </a:ext>
            </a:extLst>
          </p:cNvPr>
          <p:cNvSpPr/>
          <p:nvPr/>
        </p:nvSpPr>
        <p:spPr>
          <a:xfrm>
            <a:off x="2699104" y="8334018"/>
            <a:ext cx="370811" cy="223391"/>
          </a:xfrm>
          <a:prstGeom prst="flowChartInternalStorag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sp>
        <p:nvSpPr>
          <p:cNvPr id="58" name="正方形/長方形 57">
            <a:extLst>
              <a:ext uri="{FF2B5EF4-FFF2-40B4-BE49-F238E27FC236}">
                <a16:creationId xmlns:a16="http://schemas.microsoft.com/office/drawing/2014/main" id="{F5E1974E-1D74-3DD6-D8CF-019379A14709}"/>
              </a:ext>
            </a:extLst>
          </p:cNvPr>
          <p:cNvSpPr/>
          <p:nvPr/>
        </p:nvSpPr>
        <p:spPr>
          <a:xfrm>
            <a:off x="844972" y="7909151"/>
            <a:ext cx="3548460" cy="174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sp>
        <p:nvSpPr>
          <p:cNvPr id="59" name="フローチャート: 内部記憶 58">
            <a:extLst>
              <a:ext uri="{FF2B5EF4-FFF2-40B4-BE49-F238E27FC236}">
                <a16:creationId xmlns:a16="http://schemas.microsoft.com/office/drawing/2014/main" id="{DE3FA850-2FDA-554E-B28E-C8C9AD6226CB}"/>
              </a:ext>
            </a:extLst>
          </p:cNvPr>
          <p:cNvSpPr/>
          <p:nvPr/>
        </p:nvSpPr>
        <p:spPr>
          <a:xfrm>
            <a:off x="1644685" y="8633320"/>
            <a:ext cx="370811" cy="223391"/>
          </a:xfrm>
          <a:prstGeom prst="flowChartInternalStorag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cxnSp>
        <p:nvCxnSpPr>
          <p:cNvPr id="62" name="直線矢印コネクタ 61">
            <a:extLst>
              <a:ext uri="{FF2B5EF4-FFF2-40B4-BE49-F238E27FC236}">
                <a16:creationId xmlns:a16="http://schemas.microsoft.com/office/drawing/2014/main" id="{D6A3B6F6-BC05-051D-B83D-3B5CEB4CB04C}"/>
              </a:ext>
            </a:extLst>
          </p:cNvPr>
          <p:cNvCxnSpPr>
            <a:cxnSpLocks/>
            <a:stCxn id="56" idx="3"/>
            <a:endCxn id="55" idx="3"/>
          </p:cNvCxnSpPr>
          <p:nvPr/>
        </p:nvCxnSpPr>
        <p:spPr>
          <a:xfrm flipV="1">
            <a:off x="3069915" y="8443768"/>
            <a:ext cx="349414" cy="194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4" name="Picture 2">
            <a:extLst>
              <a:ext uri="{FF2B5EF4-FFF2-40B4-BE49-F238E27FC236}">
                <a16:creationId xmlns:a16="http://schemas.microsoft.com/office/drawing/2014/main" id="{5139FE1E-6F64-F2C5-7EA5-EB595E2CF9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440739" y="8714290"/>
            <a:ext cx="370811" cy="389936"/>
          </a:xfrm>
          <a:prstGeom prst="rect">
            <a:avLst/>
          </a:prstGeom>
          <a:noFill/>
          <a:extLst>
            <a:ext uri="{909E8E84-426E-40DD-AFC4-6F175D3DCCD1}">
              <a14:hiddenFill xmlns:a14="http://schemas.microsoft.com/office/drawing/2010/main">
                <a:solidFill>
                  <a:srgbClr val="FFFFFF"/>
                </a:solidFill>
              </a14:hiddenFill>
            </a:ext>
          </a:extLst>
        </p:spPr>
      </p:pic>
      <p:sp>
        <p:nvSpPr>
          <p:cNvPr id="65" name="フローチャート: 内部記憶 64">
            <a:extLst>
              <a:ext uri="{FF2B5EF4-FFF2-40B4-BE49-F238E27FC236}">
                <a16:creationId xmlns:a16="http://schemas.microsoft.com/office/drawing/2014/main" id="{189B4246-0CDD-EBB7-249E-E5D3ABD76AF6}"/>
              </a:ext>
            </a:extLst>
          </p:cNvPr>
          <p:cNvSpPr/>
          <p:nvPr/>
        </p:nvSpPr>
        <p:spPr>
          <a:xfrm>
            <a:off x="2720514" y="8799508"/>
            <a:ext cx="370811" cy="223391"/>
          </a:xfrm>
          <a:prstGeom prst="flowChartInternalStorag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cxnSp>
        <p:nvCxnSpPr>
          <p:cNvPr id="67" name="直線矢印コネクタ 66">
            <a:extLst>
              <a:ext uri="{FF2B5EF4-FFF2-40B4-BE49-F238E27FC236}">
                <a16:creationId xmlns:a16="http://schemas.microsoft.com/office/drawing/2014/main" id="{0B2F9347-3D20-868E-890E-FBF9CDBC97D1}"/>
              </a:ext>
            </a:extLst>
          </p:cNvPr>
          <p:cNvCxnSpPr>
            <a:cxnSpLocks/>
            <a:stCxn id="65" idx="3"/>
            <a:endCxn id="64" idx="3"/>
          </p:cNvCxnSpPr>
          <p:nvPr/>
        </p:nvCxnSpPr>
        <p:spPr>
          <a:xfrm flipV="1">
            <a:off x="3091325" y="8909258"/>
            <a:ext cx="349414" cy="194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9" name="Picture 2">
            <a:extLst>
              <a:ext uri="{FF2B5EF4-FFF2-40B4-BE49-F238E27FC236}">
                <a16:creationId xmlns:a16="http://schemas.microsoft.com/office/drawing/2014/main" id="{6130F42C-7BFE-36F9-A12E-42FE7CA743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436109" y="9143737"/>
            <a:ext cx="370811" cy="389936"/>
          </a:xfrm>
          <a:prstGeom prst="rect">
            <a:avLst/>
          </a:prstGeom>
          <a:noFill/>
          <a:extLst>
            <a:ext uri="{909E8E84-426E-40DD-AFC4-6F175D3DCCD1}">
              <a14:hiddenFill xmlns:a14="http://schemas.microsoft.com/office/drawing/2010/main">
                <a:solidFill>
                  <a:srgbClr val="FFFFFF"/>
                </a:solidFill>
              </a14:hiddenFill>
            </a:ext>
          </a:extLst>
        </p:spPr>
      </p:pic>
      <p:sp>
        <p:nvSpPr>
          <p:cNvPr id="72" name="フローチャート: 内部記憶 71">
            <a:extLst>
              <a:ext uri="{FF2B5EF4-FFF2-40B4-BE49-F238E27FC236}">
                <a16:creationId xmlns:a16="http://schemas.microsoft.com/office/drawing/2014/main" id="{AF1A653C-F6B0-4F70-BFF0-2297E8D79B44}"/>
              </a:ext>
            </a:extLst>
          </p:cNvPr>
          <p:cNvSpPr/>
          <p:nvPr/>
        </p:nvSpPr>
        <p:spPr>
          <a:xfrm>
            <a:off x="2715884" y="9228955"/>
            <a:ext cx="370811" cy="223391"/>
          </a:xfrm>
          <a:prstGeom prst="flowChartInternalStorag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a:p>
        </p:txBody>
      </p:sp>
      <p:cxnSp>
        <p:nvCxnSpPr>
          <p:cNvPr id="73" name="直線矢印コネクタ 72">
            <a:extLst>
              <a:ext uri="{FF2B5EF4-FFF2-40B4-BE49-F238E27FC236}">
                <a16:creationId xmlns:a16="http://schemas.microsoft.com/office/drawing/2014/main" id="{3A53F098-6783-0662-5102-3674ACEDF860}"/>
              </a:ext>
            </a:extLst>
          </p:cNvPr>
          <p:cNvCxnSpPr>
            <a:cxnSpLocks/>
            <a:stCxn id="72" idx="3"/>
            <a:endCxn id="69" idx="3"/>
          </p:cNvCxnSpPr>
          <p:nvPr/>
        </p:nvCxnSpPr>
        <p:spPr>
          <a:xfrm flipV="1">
            <a:off x="3086695" y="9338705"/>
            <a:ext cx="349414" cy="194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60DD2CA5-F576-CE72-F49A-B60C766C2C19}"/>
              </a:ext>
            </a:extLst>
          </p:cNvPr>
          <p:cNvCxnSpPr>
            <a:cxnSpLocks/>
            <a:stCxn id="59" idx="3"/>
            <a:endCxn id="56" idx="1"/>
          </p:cNvCxnSpPr>
          <p:nvPr/>
        </p:nvCxnSpPr>
        <p:spPr>
          <a:xfrm flipV="1">
            <a:off x="2015496" y="8445714"/>
            <a:ext cx="683608" cy="29930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67907759-90FC-CA50-650D-4F1ED0C88E59}"/>
              </a:ext>
            </a:extLst>
          </p:cNvPr>
          <p:cNvCxnSpPr>
            <a:cxnSpLocks/>
            <a:stCxn id="59" idx="3"/>
            <a:endCxn id="65" idx="1"/>
          </p:cNvCxnSpPr>
          <p:nvPr/>
        </p:nvCxnSpPr>
        <p:spPr>
          <a:xfrm>
            <a:off x="2015496" y="8745016"/>
            <a:ext cx="705018" cy="1661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18C512B9-80B4-BBD5-DDB7-C5B6364F14B8}"/>
              </a:ext>
            </a:extLst>
          </p:cNvPr>
          <p:cNvCxnSpPr>
            <a:cxnSpLocks/>
            <a:stCxn id="59" idx="3"/>
            <a:endCxn id="72" idx="1"/>
          </p:cNvCxnSpPr>
          <p:nvPr/>
        </p:nvCxnSpPr>
        <p:spPr>
          <a:xfrm>
            <a:off x="2015496" y="8745016"/>
            <a:ext cx="700388" cy="59563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7" name="テキスト ボックス 65">
            <a:extLst>
              <a:ext uri="{FF2B5EF4-FFF2-40B4-BE49-F238E27FC236}">
                <a16:creationId xmlns:a16="http://schemas.microsoft.com/office/drawing/2014/main" id="{9ECF827A-4933-F3CC-1B4E-A8A3E1DEA4B5}"/>
              </a:ext>
            </a:extLst>
          </p:cNvPr>
          <p:cNvSpPr txBox="1"/>
          <p:nvPr/>
        </p:nvSpPr>
        <p:spPr>
          <a:xfrm>
            <a:off x="2583484" y="8006485"/>
            <a:ext cx="856324" cy="307777"/>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kumimoji="1" lang="en-US" altLang="ja-JP" sz="700" dirty="0"/>
              <a:t>Copy of the data</a:t>
            </a:r>
          </a:p>
          <a:p>
            <a:pPr algn="ctr"/>
            <a:r>
              <a:rPr kumimoji="1" lang="ja-JP" altLang="en-US" sz="700" dirty="0"/>
              <a:t>（</a:t>
            </a:r>
            <a:r>
              <a:rPr kumimoji="1" lang="en-US" altLang="ja-JP" sz="700" dirty="0"/>
              <a:t>Local Table</a:t>
            </a:r>
            <a:r>
              <a:rPr kumimoji="1" lang="ja-JP" altLang="en-US" sz="700" dirty="0"/>
              <a:t>）</a:t>
            </a:r>
          </a:p>
        </p:txBody>
      </p:sp>
      <p:sp>
        <p:nvSpPr>
          <p:cNvPr id="78" name="テキスト ボックス 17">
            <a:extLst>
              <a:ext uri="{FF2B5EF4-FFF2-40B4-BE49-F238E27FC236}">
                <a16:creationId xmlns:a16="http://schemas.microsoft.com/office/drawing/2014/main" id="{833E9865-FBE6-3E3C-0D93-25155C221D83}"/>
              </a:ext>
            </a:extLst>
          </p:cNvPr>
          <p:cNvSpPr txBox="1"/>
          <p:nvPr/>
        </p:nvSpPr>
        <p:spPr>
          <a:xfrm>
            <a:off x="4095971" y="8010126"/>
            <a:ext cx="2035973" cy="276999"/>
          </a:xfrm>
          <a:prstGeom prst="rect">
            <a:avLst/>
          </a:prstGeom>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rtlCol="0">
            <a:sp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kumimoji="1" lang="en-US" altLang="ja-JP" sz="1200" dirty="0" err="1"/>
              <a:t>Accessa</a:t>
            </a:r>
            <a:r>
              <a:rPr kumimoji="1" lang="en-US" altLang="ja-JP" sz="1200" dirty="0"/>
              <a:t> ALAYA  Works</a:t>
            </a:r>
            <a:endParaRPr kumimoji="1" lang="ja-JP" altLang="en-US" sz="1200" dirty="0"/>
          </a:p>
        </p:txBody>
      </p:sp>
      <p:sp>
        <p:nvSpPr>
          <p:cNvPr id="79" name="テキスト ボックス 70">
            <a:extLst>
              <a:ext uri="{FF2B5EF4-FFF2-40B4-BE49-F238E27FC236}">
                <a16:creationId xmlns:a16="http://schemas.microsoft.com/office/drawing/2014/main" id="{C8C1F807-1F8F-86EE-AD73-417A6F9A8EF0}"/>
              </a:ext>
            </a:extLst>
          </p:cNvPr>
          <p:cNvSpPr txBox="1"/>
          <p:nvPr/>
        </p:nvSpPr>
        <p:spPr>
          <a:xfrm>
            <a:off x="4067047" y="8497790"/>
            <a:ext cx="2606171" cy="1015663"/>
          </a:xfrm>
          <a:prstGeom prst="rect">
            <a:avLst/>
          </a:prstGeom>
          <a:solidFill>
            <a:srgbClr val="CCFFFF"/>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sz="1200" dirty="0"/>
              <a:t>Access occurs </a:t>
            </a:r>
            <a:r>
              <a:rPr lang="en-US" altLang="ja-JP" sz="1200" b="1" dirty="0"/>
              <a:t>only once at load time and once at save time.</a:t>
            </a:r>
          </a:p>
          <a:p>
            <a:r>
              <a:rPr lang="en-US" altLang="ja-JP" sz="1200" dirty="0"/>
              <a:t>All interactions with the shared table are performed using </a:t>
            </a:r>
            <a:r>
              <a:rPr lang="en-US" altLang="ja-JP" sz="1200" b="1" dirty="0"/>
              <a:t>SQL statements</a:t>
            </a:r>
            <a:r>
              <a:rPr lang="en-US" altLang="ja-JP" sz="1200" dirty="0"/>
              <a:t>.</a:t>
            </a:r>
            <a:endParaRPr kumimoji="1" lang="en-US" altLang="ja-JP" sz="1200" dirty="0"/>
          </a:p>
        </p:txBody>
      </p:sp>
      <p:sp>
        <p:nvSpPr>
          <p:cNvPr id="5" name="テキスト ボックス 16">
            <a:extLst>
              <a:ext uri="{FF2B5EF4-FFF2-40B4-BE49-F238E27FC236}">
                <a16:creationId xmlns:a16="http://schemas.microsoft.com/office/drawing/2014/main" id="{41489718-147D-1DB7-670A-C2718A726250}"/>
              </a:ext>
            </a:extLst>
          </p:cNvPr>
          <p:cNvSpPr txBox="1"/>
          <p:nvPr/>
        </p:nvSpPr>
        <p:spPr>
          <a:xfrm>
            <a:off x="1274646" y="8979328"/>
            <a:ext cx="1132809"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ja-JP" sz="1050" dirty="0"/>
              <a:t>Shared Tables</a:t>
            </a:r>
            <a:endParaRPr kumimoji="1" lang="ja-JP" altLang="en-US" sz="1050" dirty="0"/>
          </a:p>
        </p:txBody>
      </p:sp>
    </p:spTree>
    <p:extLst>
      <p:ext uri="{BB962C8B-B14F-4D97-AF65-F5344CB8AC3E}">
        <p14:creationId xmlns:p14="http://schemas.microsoft.com/office/powerpoint/2010/main" val="1963182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0DB9FF-1B2E-AB82-0584-B11F2873F0D3}"/>
              </a:ext>
            </a:extLst>
          </p:cNvPr>
          <p:cNvSpPr>
            <a:spLocks noGrp="1"/>
          </p:cNvSpPr>
          <p:nvPr>
            <p:ph type="title"/>
          </p:nvPr>
        </p:nvSpPr>
        <p:spPr>
          <a:xfrm>
            <a:off x="215077" y="622742"/>
            <a:ext cx="6351978" cy="491685"/>
          </a:xfrm>
        </p:spPr>
        <p:txBody>
          <a:bodyPr>
            <a:noAutofit/>
          </a:bodyPr>
          <a:lstStyle/>
          <a:p>
            <a:r>
              <a:rPr lang="en-US" altLang="ja-JP" sz="2000" dirty="0"/>
              <a:t>Form Types: Continuous Forms and Single Forms</a:t>
            </a:r>
            <a:endParaRPr kumimoji="1" lang="ja-JP" altLang="en-US" sz="2000" dirty="0"/>
          </a:p>
        </p:txBody>
      </p:sp>
      <p:sp>
        <p:nvSpPr>
          <p:cNvPr id="29" name="テキスト ボックス 28">
            <a:extLst>
              <a:ext uri="{FF2B5EF4-FFF2-40B4-BE49-F238E27FC236}">
                <a16:creationId xmlns:a16="http://schemas.microsoft.com/office/drawing/2014/main" id="{28D0ACE9-634A-C5F0-214C-41C46B2D5336}"/>
              </a:ext>
            </a:extLst>
          </p:cNvPr>
          <p:cNvSpPr txBox="1"/>
          <p:nvPr/>
        </p:nvSpPr>
        <p:spPr>
          <a:xfrm>
            <a:off x="480151" y="1142407"/>
            <a:ext cx="5715147" cy="2677656"/>
          </a:xfrm>
          <a:prstGeom prst="rect">
            <a:avLst/>
          </a:prstGeom>
          <a:solidFill>
            <a:schemeClr val="bg1"/>
          </a:solidFill>
          <a:ln>
            <a:noFill/>
          </a:ln>
        </p:spPr>
        <p:txBody>
          <a:bodyPr wrap="square" rtlCol="0">
            <a:spAutoFit/>
          </a:bodyPr>
          <a:lstStyle/>
          <a:p>
            <a:r>
              <a:rPr lang="en-US" altLang="ja-JP" sz="1200" dirty="0"/>
              <a:t>In Access, data input/output interfaces are created using </a:t>
            </a:r>
            <a:r>
              <a:rPr lang="en-US" altLang="ja-JP" sz="1200" b="1" dirty="0"/>
              <a:t>Forms</a:t>
            </a:r>
            <a:r>
              <a:rPr lang="en-US" altLang="ja-JP" sz="1200" dirty="0"/>
              <a:t>. There are two primary types:</a:t>
            </a:r>
          </a:p>
          <a:p>
            <a:pPr marL="171450" indent="-171450">
              <a:buFont typeface="Arial" panose="020B0604020202020204" pitchFamily="34" charset="0"/>
              <a:buChar char="•"/>
            </a:pPr>
            <a:r>
              <a:rPr lang="en-US" altLang="ja-JP" sz="1200" b="1" dirty="0"/>
              <a:t>Continuous Form (</a:t>
            </a:r>
            <a:r>
              <a:rPr lang="ja-JP" altLang="en-US" sz="1200" b="1" dirty="0"/>
              <a:t>帳票</a:t>
            </a:r>
            <a:r>
              <a:rPr lang="en-US" altLang="ja-JP" sz="1200" b="1" dirty="0"/>
              <a:t>Form)</a:t>
            </a:r>
            <a:r>
              <a:rPr lang="en-US" altLang="ja-JP" sz="1200" dirty="0"/>
              <a:t> </a:t>
            </a:r>
          </a:p>
          <a:p>
            <a:r>
              <a:rPr lang="en-US" altLang="ja-JP" sz="1200" dirty="0"/>
              <a:t>     Displays and edits records in a list view.</a:t>
            </a:r>
          </a:p>
          <a:p>
            <a:pPr marL="171450" indent="-171450">
              <a:buFont typeface="Arial" panose="020B0604020202020204" pitchFamily="34" charset="0"/>
              <a:buChar char="•"/>
            </a:pPr>
            <a:r>
              <a:rPr lang="en-US" altLang="ja-JP" sz="1200" b="1" dirty="0"/>
              <a:t>Single Form (</a:t>
            </a:r>
            <a:r>
              <a:rPr lang="ja-JP" altLang="en-US" sz="1200" b="1" dirty="0"/>
              <a:t>単票</a:t>
            </a:r>
            <a:r>
              <a:rPr lang="en-US" altLang="ja-JP" sz="1200" b="1" dirty="0"/>
              <a:t>Form)</a:t>
            </a:r>
            <a:r>
              <a:rPr lang="en-US" altLang="ja-JP" sz="1200" dirty="0"/>
              <a:t> </a:t>
            </a:r>
          </a:p>
          <a:p>
            <a:r>
              <a:rPr lang="en-US" altLang="ja-JP" sz="1200" dirty="0"/>
              <a:t>     Displays and edits one record at a time.</a:t>
            </a:r>
          </a:p>
          <a:p>
            <a:endParaRPr lang="en-US" altLang="ja-JP" sz="1200" dirty="0"/>
          </a:p>
          <a:p>
            <a:r>
              <a:rPr lang="en-US" altLang="ja-JP" sz="1200" dirty="0"/>
              <a:t>A common workflow is:</a:t>
            </a:r>
          </a:p>
          <a:p>
            <a:r>
              <a:rPr lang="en-US" altLang="ja-JP" sz="1200" dirty="0"/>
              <a:t>Use a </a:t>
            </a:r>
            <a:r>
              <a:rPr lang="en-US" altLang="ja-JP" sz="1200" b="1" dirty="0"/>
              <a:t>Continuous Form</a:t>
            </a:r>
            <a:r>
              <a:rPr lang="en-US" altLang="ja-JP" sz="1200" dirty="0"/>
              <a:t> to browse and select a record.</a:t>
            </a:r>
          </a:p>
          <a:p>
            <a:r>
              <a:rPr lang="en-US" altLang="ja-JP" sz="1200" dirty="0"/>
              <a:t>Open a </a:t>
            </a:r>
            <a:r>
              <a:rPr lang="en-US" altLang="ja-JP" sz="1200" b="1" dirty="0"/>
              <a:t>Single Form</a:t>
            </a:r>
            <a:r>
              <a:rPr lang="en-US" altLang="ja-JP" sz="1200" dirty="0"/>
              <a:t> to view or edit detailed information.</a:t>
            </a:r>
          </a:p>
          <a:p>
            <a:r>
              <a:rPr lang="en-US" altLang="ja-JP" sz="1200" dirty="0"/>
              <a:t>If the number of fields is small, a Continuous Form alone may be sufficient.</a:t>
            </a:r>
          </a:p>
          <a:p>
            <a:r>
              <a:rPr lang="en-US" altLang="ja-JP" sz="1200" dirty="0"/>
              <a:t>Using the </a:t>
            </a:r>
            <a:r>
              <a:rPr lang="en-US" altLang="ja-JP" sz="1200" b="1" dirty="0"/>
              <a:t>Form Generation</a:t>
            </a:r>
            <a:r>
              <a:rPr lang="en-US" altLang="ja-JP" sz="1200" dirty="0"/>
              <a:t> feature (described later), Access ALAYA can automatically generate standard forms with default controls and embedded code.</a:t>
            </a:r>
          </a:p>
        </p:txBody>
      </p:sp>
      <p:pic>
        <p:nvPicPr>
          <p:cNvPr id="3" name="図 2">
            <a:extLst>
              <a:ext uri="{FF2B5EF4-FFF2-40B4-BE49-F238E27FC236}">
                <a16:creationId xmlns:a16="http://schemas.microsoft.com/office/drawing/2014/main" id="{8CB35655-5398-40B4-53F7-B6D0D654C469}"/>
              </a:ext>
            </a:extLst>
          </p:cNvPr>
          <p:cNvPicPr>
            <a:picLocks noChangeAspect="1"/>
          </p:cNvPicPr>
          <p:nvPr/>
        </p:nvPicPr>
        <p:blipFill rotWithShape="1">
          <a:blip r:embed="rId2"/>
          <a:srcRect b="40419"/>
          <a:stretch/>
        </p:blipFill>
        <p:spPr>
          <a:xfrm>
            <a:off x="2449479" y="7997857"/>
            <a:ext cx="3900976" cy="1502397"/>
          </a:xfrm>
          <a:prstGeom prst="rect">
            <a:avLst/>
          </a:prstGeom>
        </p:spPr>
      </p:pic>
      <p:pic>
        <p:nvPicPr>
          <p:cNvPr id="21" name="図 20">
            <a:extLst>
              <a:ext uri="{FF2B5EF4-FFF2-40B4-BE49-F238E27FC236}">
                <a16:creationId xmlns:a16="http://schemas.microsoft.com/office/drawing/2014/main" id="{910CC5E5-AB30-D9EA-AAA3-2AD9CC89CFC1}"/>
              </a:ext>
            </a:extLst>
          </p:cNvPr>
          <p:cNvPicPr>
            <a:picLocks noChangeAspect="1"/>
          </p:cNvPicPr>
          <p:nvPr/>
        </p:nvPicPr>
        <p:blipFill rotWithShape="1">
          <a:blip r:embed="rId3"/>
          <a:srcRect l="5091" t="11198" r="2300" b="37737"/>
          <a:stretch/>
        </p:blipFill>
        <p:spPr>
          <a:xfrm>
            <a:off x="396957" y="3879617"/>
            <a:ext cx="4877327" cy="1642881"/>
          </a:xfrm>
          <a:prstGeom prst="rect">
            <a:avLst/>
          </a:prstGeom>
        </p:spPr>
      </p:pic>
      <p:sp>
        <p:nvSpPr>
          <p:cNvPr id="22" name="テキスト ボックス 21">
            <a:extLst>
              <a:ext uri="{FF2B5EF4-FFF2-40B4-BE49-F238E27FC236}">
                <a16:creationId xmlns:a16="http://schemas.microsoft.com/office/drawing/2014/main" id="{B46220C2-8981-E8F4-8138-ADE3CAE78268}"/>
              </a:ext>
            </a:extLst>
          </p:cNvPr>
          <p:cNvSpPr txBox="1"/>
          <p:nvPr/>
        </p:nvSpPr>
        <p:spPr>
          <a:xfrm>
            <a:off x="405887" y="5630691"/>
            <a:ext cx="2039466" cy="646331"/>
          </a:xfrm>
          <a:prstGeom prst="rect">
            <a:avLst/>
          </a:prstGeom>
          <a:solidFill>
            <a:schemeClr val="bg1"/>
          </a:solidFill>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200" b="1" dirty="0"/>
              <a:t>Continuous Form:</a:t>
            </a:r>
          </a:p>
          <a:p>
            <a:r>
              <a:rPr lang="en-US" altLang="ja-JP" sz="1200" dirty="0"/>
              <a:t>Displays and edits records in a list view.</a:t>
            </a:r>
          </a:p>
        </p:txBody>
      </p:sp>
      <p:sp>
        <p:nvSpPr>
          <p:cNvPr id="32" name="テキスト ボックス 31">
            <a:extLst>
              <a:ext uri="{FF2B5EF4-FFF2-40B4-BE49-F238E27FC236}">
                <a16:creationId xmlns:a16="http://schemas.microsoft.com/office/drawing/2014/main" id="{EB7881C7-879C-A50F-9437-10BA1FD7874F}"/>
              </a:ext>
            </a:extLst>
          </p:cNvPr>
          <p:cNvSpPr txBox="1"/>
          <p:nvPr/>
        </p:nvSpPr>
        <p:spPr>
          <a:xfrm>
            <a:off x="4022820" y="7448840"/>
            <a:ext cx="2327635" cy="646331"/>
          </a:xfrm>
          <a:prstGeom prst="rect">
            <a:avLst/>
          </a:prstGeom>
          <a:solidFill>
            <a:schemeClr val="bg1"/>
          </a:solidFill>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square" rtlCol="0">
            <a:spAutoFit/>
          </a:bodyPr>
          <a:lstStyle/>
          <a:p>
            <a:r>
              <a:rPr kumimoji="1" lang="en-US" altLang="ja-JP" sz="1200" b="1" dirty="0" err="1"/>
              <a:t>SingleForm</a:t>
            </a:r>
            <a:r>
              <a:rPr kumimoji="1" lang="en-US" altLang="ja-JP" sz="1200" b="1" dirty="0"/>
              <a:t>:</a:t>
            </a:r>
          </a:p>
          <a:p>
            <a:r>
              <a:rPr lang="en-US" altLang="ja-JP" sz="1200" dirty="0"/>
              <a:t>Displays and edits one record at a time</a:t>
            </a:r>
            <a:endParaRPr kumimoji="1" lang="ja-JP" altLang="en-US" sz="1200" b="1" dirty="0"/>
          </a:p>
        </p:txBody>
      </p:sp>
      <p:sp>
        <p:nvSpPr>
          <p:cNvPr id="40" name="フローチャート: 内部記憶 39">
            <a:extLst>
              <a:ext uri="{FF2B5EF4-FFF2-40B4-BE49-F238E27FC236}">
                <a16:creationId xmlns:a16="http://schemas.microsoft.com/office/drawing/2014/main" id="{D14A0C28-3FA9-92E3-0CF3-201E735CF1C0}"/>
              </a:ext>
            </a:extLst>
          </p:cNvPr>
          <p:cNvSpPr/>
          <p:nvPr/>
        </p:nvSpPr>
        <p:spPr>
          <a:xfrm>
            <a:off x="2747024" y="6316076"/>
            <a:ext cx="1373725" cy="888204"/>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45" name="正方形/長方形 44">
            <a:extLst>
              <a:ext uri="{FF2B5EF4-FFF2-40B4-BE49-F238E27FC236}">
                <a16:creationId xmlns:a16="http://schemas.microsoft.com/office/drawing/2014/main" id="{098B233E-9413-48E8-70CD-6A734255913D}"/>
              </a:ext>
            </a:extLst>
          </p:cNvPr>
          <p:cNvSpPr/>
          <p:nvPr/>
        </p:nvSpPr>
        <p:spPr>
          <a:xfrm>
            <a:off x="2582240" y="6687681"/>
            <a:ext cx="1700973" cy="170158"/>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48" name="左中かっこ 47">
            <a:extLst>
              <a:ext uri="{FF2B5EF4-FFF2-40B4-BE49-F238E27FC236}">
                <a16:creationId xmlns:a16="http://schemas.microsoft.com/office/drawing/2014/main" id="{9B446E00-B728-6BA8-06EB-AA0820EE62D0}"/>
              </a:ext>
            </a:extLst>
          </p:cNvPr>
          <p:cNvSpPr/>
          <p:nvPr/>
        </p:nvSpPr>
        <p:spPr>
          <a:xfrm>
            <a:off x="2445353" y="6384848"/>
            <a:ext cx="91258" cy="819432"/>
          </a:xfrm>
          <a:prstGeom prst="leftBrace">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kumimoji="1" lang="ja-JP" altLang="en-US" sz="1013"/>
          </a:p>
        </p:txBody>
      </p:sp>
      <p:sp>
        <p:nvSpPr>
          <p:cNvPr id="51" name="テキスト ボックス 50">
            <a:extLst>
              <a:ext uri="{FF2B5EF4-FFF2-40B4-BE49-F238E27FC236}">
                <a16:creationId xmlns:a16="http://schemas.microsoft.com/office/drawing/2014/main" id="{36B70B5C-3836-F147-775C-C971A20C5DBA}"/>
              </a:ext>
            </a:extLst>
          </p:cNvPr>
          <p:cNvSpPr txBox="1"/>
          <p:nvPr/>
        </p:nvSpPr>
        <p:spPr>
          <a:xfrm>
            <a:off x="3214284" y="6418283"/>
            <a:ext cx="716896" cy="248209"/>
          </a:xfrm>
          <a:prstGeom prst="rect">
            <a:avLst/>
          </a:prstGeom>
          <a:noFill/>
        </p:spPr>
        <p:txBody>
          <a:bodyPr wrap="square" rtlCol="0">
            <a:spAutoFit/>
          </a:bodyPr>
          <a:lstStyle/>
          <a:p>
            <a:r>
              <a:rPr kumimoji="1" lang="en-US" altLang="ja-JP" sz="1013" dirty="0"/>
              <a:t>Table</a:t>
            </a:r>
            <a:endParaRPr kumimoji="1" lang="ja-JP" altLang="en-US" sz="1013" dirty="0"/>
          </a:p>
        </p:txBody>
      </p:sp>
      <p:sp>
        <p:nvSpPr>
          <p:cNvPr id="4" name="矢印: 上向き折線 3">
            <a:extLst>
              <a:ext uri="{FF2B5EF4-FFF2-40B4-BE49-F238E27FC236}">
                <a16:creationId xmlns:a16="http://schemas.microsoft.com/office/drawing/2014/main" id="{25ABE0D2-A5AA-2015-D842-0512969126F7}"/>
              </a:ext>
            </a:extLst>
          </p:cNvPr>
          <p:cNvSpPr/>
          <p:nvPr/>
        </p:nvSpPr>
        <p:spPr>
          <a:xfrm flipH="1">
            <a:off x="1720556" y="6240787"/>
            <a:ext cx="605642" cy="617052"/>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矢印: 上向き折線 4">
            <a:extLst>
              <a:ext uri="{FF2B5EF4-FFF2-40B4-BE49-F238E27FC236}">
                <a16:creationId xmlns:a16="http://schemas.microsoft.com/office/drawing/2014/main" id="{C9151B6E-0768-DE10-DC61-C71C8692A2F8}"/>
              </a:ext>
            </a:extLst>
          </p:cNvPr>
          <p:cNvSpPr/>
          <p:nvPr/>
        </p:nvSpPr>
        <p:spPr>
          <a:xfrm rot="10800000" flipH="1">
            <a:off x="4458508" y="6687681"/>
            <a:ext cx="605642" cy="617052"/>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5753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0DB9FF-1B2E-AB82-0584-B11F2873F0D3}"/>
              </a:ext>
            </a:extLst>
          </p:cNvPr>
          <p:cNvSpPr>
            <a:spLocks noGrp="1"/>
          </p:cNvSpPr>
          <p:nvPr>
            <p:ph type="title"/>
          </p:nvPr>
        </p:nvSpPr>
        <p:spPr>
          <a:xfrm>
            <a:off x="363329" y="302108"/>
            <a:ext cx="4835626" cy="440633"/>
          </a:xfrm>
        </p:spPr>
        <p:txBody>
          <a:bodyPr>
            <a:normAutofit fontScale="90000"/>
          </a:bodyPr>
          <a:lstStyle/>
          <a:p>
            <a:r>
              <a:rPr kumimoji="1" lang="en-US" altLang="ja-JP" dirty="0"/>
              <a:t>Linking Shared Tables</a:t>
            </a:r>
            <a:endParaRPr kumimoji="1" lang="ja-JP" altLang="en-US" dirty="0"/>
          </a:p>
        </p:txBody>
      </p:sp>
      <p:sp>
        <p:nvSpPr>
          <p:cNvPr id="29" name="テキスト ボックス 28">
            <a:extLst>
              <a:ext uri="{FF2B5EF4-FFF2-40B4-BE49-F238E27FC236}">
                <a16:creationId xmlns:a16="http://schemas.microsoft.com/office/drawing/2014/main" id="{28D0ACE9-634A-C5F0-214C-41C46B2D5336}"/>
              </a:ext>
            </a:extLst>
          </p:cNvPr>
          <p:cNvSpPr txBox="1"/>
          <p:nvPr/>
        </p:nvSpPr>
        <p:spPr>
          <a:xfrm>
            <a:off x="451262" y="893806"/>
            <a:ext cx="5911467" cy="1823576"/>
          </a:xfrm>
          <a:prstGeom prst="rect">
            <a:avLst/>
          </a:prstGeom>
          <a:solidFill>
            <a:schemeClr val="bg1"/>
          </a:solidFill>
        </p:spPr>
        <p:txBody>
          <a:bodyPr wrap="square" rtlCol="0">
            <a:spAutoFit/>
          </a:bodyPr>
          <a:lstStyle/>
          <a:p>
            <a:r>
              <a:rPr lang="en-US" altLang="ja-JP" sz="1200" dirty="0"/>
              <a:t>To make shared tables editable in ALAYA, they must be added to the menu module as </a:t>
            </a:r>
            <a:r>
              <a:rPr lang="en-US" altLang="ja-JP" sz="1200" b="1" dirty="0"/>
              <a:t>linked tables</a:t>
            </a:r>
            <a:r>
              <a:rPr lang="en-US" altLang="ja-JP" sz="1200" dirty="0"/>
              <a:t>. Launch the menu module in </a:t>
            </a:r>
            <a:r>
              <a:rPr lang="en-US" altLang="ja-JP" sz="1200" b="1" dirty="0"/>
              <a:t>development mode</a:t>
            </a:r>
            <a:r>
              <a:rPr lang="en-US" altLang="ja-JP" sz="1200" dirty="0"/>
              <a:t>. Embed the shared tables as linked tables.</a:t>
            </a:r>
          </a:p>
          <a:p>
            <a:r>
              <a:rPr lang="en-US" altLang="ja-JP" sz="1200" dirty="0"/>
              <a:t>Linked tables store </a:t>
            </a:r>
            <a:r>
              <a:rPr lang="en-US" altLang="ja-JP" sz="1200" b="1" dirty="0"/>
              <a:t>absolute paths</a:t>
            </a:r>
            <a:r>
              <a:rPr lang="en-US" altLang="ja-JP" sz="1200" dirty="0"/>
              <a:t> inside the GUI module. This means the module will always reference the same location regardless of where the GUI module file itself is stored.</a:t>
            </a:r>
          </a:p>
          <a:p>
            <a:r>
              <a:rPr lang="en-US" altLang="ja-JP" sz="1200" dirty="0"/>
              <a:t>If you use mapped network drives, all clients must use the </a:t>
            </a:r>
            <a:r>
              <a:rPr lang="en-US" altLang="ja-JP" sz="1200" b="1" dirty="0"/>
              <a:t>same drive letter</a:t>
            </a:r>
            <a:r>
              <a:rPr lang="en-US" altLang="ja-JP" sz="1200" dirty="0"/>
              <a:t>, which is error‑prone. Therefore, it is recommended to use </a:t>
            </a:r>
            <a:r>
              <a:rPr lang="en-US" altLang="ja-JP" sz="1200" b="1" dirty="0"/>
              <a:t>UNC paths</a:t>
            </a:r>
            <a:r>
              <a:rPr lang="en-US" altLang="ja-JP" sz="1200" dirty="0"/>
              <a:t> such as:</a:t>
            </a:r>
          </a:p>
          <a:p>
            <a:pPr>
              <a:lnSpc>
                <a:spcPct val="150000"/>
              </a:lnSpc>
            </a:pPr>
            <a:r>
              <a:rPr kumimoji="1" lang="en-US" altLang="ja-JP" sz="1200" dirty="0"/>
              <a:t>\\[ServerName]\[SharePath]\[DBModuleName].accdb</a:t>
            </a:r>
          </a:p>
        </p:txBody>
      </p:sp>
      <p:pic>
        <p:nvPicPr>
          <p:cNvPr id="3" name="図 2">
            <a:extLst>
              <a:ext uri="{FF2B5EF4-FFF2-40B4-BE49-F238E27FC236}">
                <a16:creationId xmlns:a16="http://schemas.microsoft.com/office/drawing/2014/main" id="{71A68E68-4AAA-3246-6386-ABA6692E3B22}"/>
              </a:ext>
            </a:extLst>
          </p:cNvPr>
          <p:cNvPicPr>
            <a:picLocks noChangeAspect="1"/>
          </p:cNvPicPr>
          <p:nvPr/>
        </p:nvPicPr>
        <p:blipFill rotWithShape="1">
          <a:blip r:embed="rId2"/>
          <a:srcRect l="49376" t="2697" r="33147" b="72016"/>
          <a:stretch/>
        </p:blipFill>
        <p:spPr>
          <a:xfrm>
            <a:off x="570879" y="2776114"/>
            <a:ext cx="5335847" cy="2171333"/>
          </a:xfrm>
          <a:prstGeom prst="rect">
            <a:avLst/>
          </a:prstGeom>
        </p:spPr>
      </p:pic>
      <p:pic>
        <p:nvPicPr>
          <p:cNvPr id="4" name="図 3">
            <a:extLst>
              <a:ext uri="{FF2B5EF4-FFF2-40B4-BE49-F238E27FC236}">
                <a16:creationId xmlns:a16="http://schemas.microsoft.com/office/drawing/2014/main" id="{489A1491-2F76-2F04-D494-0101E39548DE}"/>
              </a:ext>
            </a:extLst>
          </p:cNvPr>
          <p:cNvPicPr>
            <a:picLocks noChangeAspect="1"/>
          </p:cNvPicPr>
          <p:nvPr/>
        </p:nvPicPr>
        <p:blipFill rotWithShape="1">
          <a:blip r:embed="rId3"/>
          <a:srcRect t="52979"/>
          <a:stretch/>
        </p:blipFill>
        <p:spPr>
          <a:xfrm>
            <a:off x="1026882" y="5281854"/>
            <a:ext cx="5335847" cy="1778547"/>
          </a:xfrm>
          <a:prstGeom prst="rect">
            <a:avLst/>
          </a:prstGeom>
        </p:spPr>
      </p:pic>
      <p:pic>
        <p:nvPicPr>
          <p:cNvPr id="5" name="図 4">
            <a:extLst>
              <a:ext uri="{FF2B5EF4-FFF2-40B4-BE49-F238E27FC236}">
                <a16:creationId xmlns:a16="http://schemas.microsoft.com/office/drawing/2014/main" id="{833C65BC-DA9F-39C7-013B-79F29B86B5D9}"/>
              </a:ext>
            </a:extLst>
          </p:cNvPr>
          <p:cNvPicPr>
            <a:picLocks noChangeAspect="1"/>
          </p:cNvPicPr>
          <p:nvPr/>
        </p:nvPicPr>
        <p:blipFill rotWithShape="1">
          <a:blip r:embed="rId4"/>
          <a:srcRect t="11193" r="72763" b="55230"/>
          <a:stretch/>
        </p:blipFill>
        <p:spPr>
          <a:xfrm>
            <a:off x="1415151" y="7394808"/>
            <a:ext cx="2527011" cy="2017016"/>
          </a:xfrm>
          <a:prstGeom prst="rect">
            <a:avLst/>
          </a:prstGeom>
        </p:spPr>
      </p:pic>
      <p:sp>
        <p:nvSpPr>
          <p:cNvPr id="6" name="楕円 5">
            <a:extLst>
              <a:ext uri="{FF2B5EF4-FFF2-40B4-BE49-F238E27FC236}">
                <a16:creationId xmlns:a16="http://schemas.microsoft.com/office/drawing/2014/main" id="{B934B326-AFDA-C5DE-42B5-6ADF94E4D2D0}"/>
              </a:ext>
            </a:extLst>
          </p:cNvPr>
          <p:cNvSpPr/>
          <p:nvPr/>
        </p:nvSpPr>
        <p:spPr>
          <a:xfrm>
            <a:off x="1287994" y="8548405"/>
            <a:ext cx="1579418" cy="313267"/>
          </a:xfrm>
          <a:prstGeom prst="ellipse">
            <a:avLst/>
          </a:prstGeom>
          <a:no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noFill/>
            </a:endParaRPr>
          </a:p>
        </p:txBody>
      </p:sp>
      <p:sp>
        <p:nvSpPr>
          <p:cNvPr id="7" name="楕円 6">
            <a:extLst>
              <a:ext uri="{FF2B5EF4-FFF2-40B4-BE49-F238E27FC236}">
                <a16:creationId xmlns:a16="http://schemas.microsoft.com/office/drawing/2014/main" id="{79ADB112-3375-1494-47F8-3099428C31BD}"/>
              </a:ext>
            </a:extLst>
          </p:cNvPr>
          <p:cNvSpPr/>
          <p:nvPr/>
        </p:nvSpPr>
        <p:spPr>
          <a:xfrm>
            <a:off x="1109821" y="6178187"/>
            <a:ext cx="2477707" cy="313267"/>
          </a:xfrm>
          <a:prstGeom prst="ellipse">
            <a:avLst/>
          </a:prstGeom>
          <a:no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noFill/>
            </a:endParaRPr>
          </a:p>
        </p:txBody>
      </p:sp>
      <p:sp>
        <p:nvSpPr>
          <p:cNvPr id="8" name="楕円 7">
            <a:extLst>
              <a:ext uri="{FF2B5EF4-FFF2-40B4-BE49-F238E27FC236}">
                <a16:creationId xmlns:a16="http://schemas.microsoft.com/office/drawing/2014/main" id="{6A4AC0C4-2374-04B5-4C76-013F8F162A24}"/>
              </a:ext>
            </a:extLst>
          </p:cNvPr>
          <p:cNvSpPr/>
          <p:nvPr/>
        </p:nvSpPr>
        <p:spPr>
          <a:xfrm>
            <a:off x="638614" y="3083783"/>
            <a:ext cx="776537" cy="631633"/>
          </a:xfrm>
          <a:prstGeom prst="ellipse">
            <a:avLst/>
          </a:prstGeom>
          <a:no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noFill/>
            </a:endParaRPr>
          </a:p>
        </p:txBody>
      </p:sp>
      <p:sp>
        <p:nvSpPr>
          <p:cNvPr id="9" name="楕円 8">
            <a:extLst>
              <a:ext uri="{FF2B5EF4-FFF2-40B4-BE49-F238E27FC236}">
                <a16:creationId xmlns:a16="http://schemas.microsoft.com/office/drawing/2014/main" id="{30872B69-4A27-2DA9-D6BB-EF691606A6B6}"/>
              </a:ext>
            </a:extLst>
          </p:cNvPr>
          <p:cNvSpPr/>
          <p:nvPr/>
        </p:nvSpPr>
        <p:spPr>
          <a:xfrm>
            <a:off x="776587" y="3965023"/>
            <a:ext cx="1502163" cy="427726"/>
          </a:xfrm>
          <a:prstGeom prst="ellipse">
            <a:avLst/>
          </a:prstGeom>
          <a:no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noFill/>
            </a:endParaRPr>
          </a:p>
        </p:txBody>
      </p:sp>
      <p:sp>
        <p:nvSpPr>
          <p:cNvPr id="10" name="楕円 9">
            <a:extLst>
              <a:ext uri="{FF2B5EF4-FFF2-40B4-BE49-F238E27FC236}">
                <a16:creationId xmlns:a16="http://schemas.microsoft.com/office/drawing/2014/main" id="{677BFB6F-5587-1F12-BAF9-0AEC9BCAA299}"/>
              </a:ext>
            </a:extLst>
          </p:cNvPr>
          <p:cNvSpPr/>
          <p:nvPr/>
        </p:nvSpPr>
        <p:spPr>
          <a:xfrm>
            <a:off x="2410273" y="3990401"/>
            <a:ext cx="1163878" cy="427726"/>
          </a:xfrm>
          <a:prstGeom prst="ellipse">
            <a:avLst/>
          </a:prstGeom>
          <a:no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noFill/>
            </a:endParaRPr>
          </a:p>
        </p:txBody>
      </p:sp>
    </p:spTree>
    <p:extLst>
      <p:ext uri="{BB962C8B-B14F-4D97-AF65-F5344CB8AC3E}">
        <p14:creationId xmlns:p14="http://schemas.microsoft.com/office/powerpoint/2010/main" val="377600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D9D3A18B-F3D2-4CEB-6EB4-FD8CC7746DC0}"/>
              </a:ext>
            </a:extLst>
          </p:cNvPr>
          <p:cNvPicPr>
            <a:picLocks noChangeAspect="1"/>
          </p:cNvPicPr>
          <p:nvPr/>
        </p:nvPicPr>
        <p:blipFill>
          <a:blip r:embed="rId2"/>
          <a:stretch>
            <a:fillRect/>
          </a:stretch>
        </p:blipFill>
        <p:spPr>
          <a:xfrm>
            <a:off x="298473" y="2277475"/>
            <a:ext cx="3451162" cy="2798393"/>
          </a:xfrm>
          <a:prstGeom prst="rect">
            <a:avLst/>
          </a:prstGeom>
        </p:spPr>
      </p:pic>
      <p:pic>
        <p:nvPicPr>
          <p:cNvPr id="12" name="図 11">
            <a:extLst>
              <a:ext uri="{FF2B5EF4-FFF2-40B4-BE49-F238E27FC236}">
                <a16:creationId xmlns:a16="http://schemas.microsoft.com/office/drawing/2014/main" id="{4CB234FB-291E-4F7F-EACC-1B46CC1DC6F8}"/>
              </a:ext>
            </a:extLst>
          </p:cNvPr>
          <p:cNvPicPr>
            <a:picLocks noChangeAspect="1"/>
          </p:cNvPicPr>
          <p:nvPr/>
        </p:nvPicPr>
        <p:blipFill>
          <a:blip r:embed="rId3"/>
          <a:stretch>
            <a:fillRect/>
          </a:stretch>
        </p:blipFill>
        <p:spPr>
          <a:xfrm>
            <a:off x="1262524" y="4059042"/>
            <a:ext cx="3391755" cy="3088518"/>
          </a:xfrm>
          <a:prstGeom prst="rect">
            <a:avLst/>
          </a:prstGeom>
        </p:spPr>
      </p:pic>
      <p:sp>
        <p:nvSpPr>
          <p:cNvPr id="2" name="タイトル 1">
            <a:extLst>
              <a:ext uri="{FF2B5EF4-FFF2-40B4-BE49-F238E27FC236}">
                <a16:creationId xmlns:a16="http://schemas.microsoft.com/office/drawing/2014/main" id="{998D3FB6-D577-F26F-AE31-185540B88EB7}"/>
              </a:ext>
            </a:extLst>
          </p:cNvPr>
          <p:cNvSpPr>
            <a:spLocks noGrp="1"/>
          </p:cNvSpPr>
          <p:nvPr>
            <p:ph type="title"/>
          </p:nvPr>
        </p:nvSpPr>
        <p:spPr>
          <a:xfrm>
            <a:off x="457199" y="536119"/>
            <a:ext cx="5391150" cy="643467"/>
          </a:xfrm>
        </p:spPr>
        <p:txBody>
          <a:bodyPr/>
          <a:lstStyle/>
          <a:p>
            <a:r>
              <a:rPr kumimoji="1" lang="en-US" altLang="ja-JP" dirty="0"/>
              <a:t>Creating ALAYA  Forms</a:t>
            </a:r>
            <a:endParaRPr kumimoji="1" lang="ja-JP" altLang="en-US" dirty="0"/>
          </a:p>
        </p:txBody>
      </p:sp>
      <p:sp>
        <p:nvSpPr>
          <p:cNvPr id="4" name="テキスト ボックス 3">
            <a:extLst>
              <a:ext uri="{FF2B5EF4-FFF2-40B4-BE49-F238E27FC236}">
                <a16:creationId xmlns:a16="http://schemas.microsoft.com/office/drawing/2014/main" id="{60AD319E-79E9-B975-C63C-4C2B7833AFC1}"/>
              </a:ext>
            </a:extLst>
          </p:cNvPr>
          <p:cNvSpPr txBox="1"/>
          <p:nvPr/>
        </p:nvSpPr>
        <p:spPr>
          <a:xfrm>
            <a:off x="457199" y="1010241"/>
            <a:ext cx="5943602" cy="1166410"/>
          </a:xfrm>
          <a:prstGeom prst="rect">
            <a:avLst/>
          </a:prstGeom>
          <a:solidFill>
            <a:schemeClr val="bg1"/>
          </a:solidFill>
          <a:ln>
            <a:noFill/>
          </a:ln>
        </p:spPr>
        <p:txBody>
          <a:bodyPr wrap="square" rtlCol="0">
            <a:spAutoFit/>
          </a:bodyPr>
          <a:lstStyle/>
          <a:p>
            <a:pPr>
              <a:lnSpc>
                <a:spcPct val="150000"/>
              </a:lnSpc>
            </a:pPr>
            <a:r>
              <a:rPr lang="en-US" altLang="ja-JP" sz="1200" dirty="0"/>
              <a:t>Standard forms can be generated from </a:t>
            </a:r>
          </a:p>
          <a:p>
            <a:pPr>
              <a:lnSpc>
                <a:spcPct val="150000"/>
              </a:lnSpc>
            </a:pPr>
            <a:r>
              <a:rPr lang="en-US" altLang="ja-JP" sz="1200" dirty="0"/>
              <a:t>  the </a:t>
            </a:r>
            <a:r>
              <a:rPr lang="en-US" altLang="ja-JP" sz="1200" b="1" dirty="0"/>
              <a:t>Administrator Menu → Generate Standard Form</a:t>
            </a:r>
            <a:r>
              <a:rPr lang="en-US" altLang="ja-JP" sz="1200" dirty="0"/>
              <a:t>. </a:t>
            </a:r>
          </a:p>
          <a:p>
            <a:pPr>
              <a:lnSpc>
                <a:spcPct val="150000"/>
              </a:lnSpc>
            </a:pPr>
            <a:r>
              <a:rPr lang="en-US" altLang="ja-JP" sz="1200" dirty="0"/>
              <a:t>When executed, ALAYA automatically creates a Continuous Form and a Single Form with default controls and embedded code.</a:t>
            </a:r>
            <a:endParaRPr kumimoji="1" lang="en-US" altLang="ja-JP" sz="1200" dirty="0"/>
          </a:p>
        </p:txBody>
      </p:sp>
      <p:sp>
        <p:nvSpPr>
          <p:cNvPr id="9" name="楕円 8">
            <a:extLst>
              <a:ext uri="{FF2B5EF4-FFF2-40B4-BE49-F238E27FC236}">
                <a16:creationId xmlns:a16="http://schemas.microsoft.com/office/drawing/2014/main" id="{82D3D364-B5B2-3518-8FE8-DD0A8CBAF4EC}"/>
              </a:ext>
            </a:extLst>
          </p:cNvPr>
          <p:cNvSpPr/>
          <p:nvPr/>
        </p:nvSpPr>
        <p:spPr>
          <a:xfrm>
            <a:off x="1983180" y="3613362"/>
            <a:ext cx="950026" cy="2180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矢印コネクタ 10">
            <a:extLst>
              <a:ext uri="{FF2B5EF4-FFF2-40B4-BE49-F238E27FC236}">
                <a16:creationId xmlns:a16="http://schemas.microsoft.com/office/drawing/2014/main" id="{42CB3AFE-DD5F-1668-C02C-70AF09E9BF61}"/>
              </a:ext>
            </a:extLst>
          </p:cNvPr>
          <p:cNvCxnSpPr>
            <a:cxnSpLocks/>
            <a:stCxn id="9" idx="4"/>
          </p:cNvCxnSpPr>
          <p:nvPr/>
        </p:nvCxnSpPr>
        <p:spPr>
          <a:xfrm>
            <a:off x="2458193" y="3831422"/>
            <a:ext cx="0" cy="3486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楕円 24">
            <a:extLst>
              <a:ext uri="{FF2B5EF4-FFF2-40B4-BE49-F238E27FC236}">
                <a16:creationId xmlns:a16="http://schemas.microsoft.com/office/drawing/2014/main" id="{5A823C42-22A6-0B5C-F4C4-62CE9E6EDC97}"/>
              </a:ext>
            </a:extLst>
          </p:cNvPr>
          <p:cNvSpPr/>
          <p:nvPr/>
        </p:nvSpPr>
        <p:spPr>
          <a:xfrm>
            <a:off x="3512128" y="4325880"/>
            <a:ext cx="950026" cy="2180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id="{94D28B0F-D50F-0D12-1966-79F4D27096FE}"/>
              </a:ext>
            </a:extLst>
          </p:cNvPr>
          <p:cNvPicPr>
            <a:picLocks noChangeAspect="1"/>
          </p:cNvPicPr>
          <p:nvPr/>
        </p:nvPicPr>
        <p:blipFill>
          <a:blip r:embed="rId4"/>
          <a:stretch>
            <a:fillRect/>
          </a:stretch>
        </p:blipFill>
        <p:spPr>
          <a:xfrm>
            <a:off x="2059937" y="5844441"/>
            <a:ext cx="4127504" cy="3908494"/>
          </a:xfrm>
          <a:prstGeom prst="rect">
            <a:avLst/>
          </a:prstGeom>
        </p:spPr>
      </p:pic>
      <p:cxnSp>
        <p:nvCxnSpPr>
          <p:cNvPr id="26" name="直線矢印コネクタ 25">
            <a:extLst>
              <a:ext uri="{FF2B5EF4-FFF2-40B4-BE49-F238E27FC236}">
                <a16:creationId xmlns:a16="http://schemas.microsoft.com/office/drawing/2014/main" id="{A67B43FC-FE14-4EAA-7ACA-07EE60AAFFB7}"/>
              </a:ext>
            </a:extLst>
          </p:cNvPr>
          <p:cNvCxnSpPr>
            <a:cxnSpLocks/>
            <a:stCxn id="25" idx="4"/>
          </p:cNvCxnSpPr>
          <p:nvPr/>
        </p:nvCxnSpPr>
        <p:spPr>
          <a:xfrm>
            <a:off x="3987141" y="4543940"/>
            <a:ext cx="0" cy="14834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71665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8D3FB6-D577-F26F-AE31-185540B88EB7}"/>
              </a:ext>
            </a:extLst>
          </p:cNvPr>
          <p:cNvSpPr>
            <a:spLocks noGrp="1"/>
          </p:cNvSpPr>
          <p:nvPr>
            <p:ph type="title"/>
          </p:nvPr>
        </p:nvSpPr>
        <p:spPr>
          <a:xfrm>
            <a:off x="457199" y="536119"/>
            <a:ext cx="5391150" cy="643467"/>
          </a:xfrm>
        </p:spPr>
        <p:txBody>
          <a:bodyPr>
            <a:normAutofit/>
          </a:bodyPr>
          <a:lstStyle/>
          <a:p>
            <a:r>
              <a:rPr kumimoji="1" lang="en-US" altLang="ja-JP" dirty="0"/>
              <a:t>Configuration Items</a:t>
            </a:r>
            <a:endParaRPr kumimoji="1" lang="ja-JP" altLang="en-US" dirty="0"/>
          </a:p>
        </p:txBody>
      </p:sp>
      <p:sp>
        <p:nvSpPr>
          <p:cNvPr id="4" name="テキスト ボックス 3">
            <a:extLst>
              <a:ext uri="{FF2B5EF4-FFF2-40B4-BE49-F238E27FC236}">
                <a16:creationId xmlns:a16="http://schemas.microsoft.com/office/drawing/2014/main" id="{60AD319E-79E9-B975-C63C-4C2B7833AFC1}"/>
              </a:ext>
            </a:extLst>
          </p:cNvPr>
          <p:cNvSpPr txBox="1"/>
          <p:nvPr/>
        </p:nvSpPr>
        <p:spPr>
          <a:xfrm>
            <a:off x="337284" y="5522795"/>
            <a:ext cx="6228609" cy="3785652"/>
          </a:xfrm>
          <a:prstGeom prst="rect">
            <a:avLst/>
          </a:prstGeom>
          <a:solidFill>
            <a:schemeClr val="bg1"/>
          </a:solidFill>
          <a:ln>
            <a:noFill/>
          </a:ln>
        </p:spPr>
        <p:txBody>
          <a:bodyPr wrap="square" rtlCol="0">
            <a:spAutoFit/>
          </a:bodyPr>
          <a:lstStyle/>
          <a:p>
            <a:r>
              <a:rPr kumimoji="1" lang="en-US" altLang="ja-JP" sz="1200" dirty="0"/>
              <a:t>Configuration Items.</a:t>
            </a:r>
          </a:p>
          <a:p>
            <a:r>
              <a:rPr kumimoji="1" lang="en-US" altLang="ja-JP" sz="1200" dirty="0"/>
              <a:t>1.</a:t>
            </a:r>
            <a:r>
              <a:rPr kumimoji="1" lang="ja-JP" altLang="en-US" sz="1200" dirty="0"/>
              <a:t> </a:t>
            </a:r>
            <a:r>
              <a:rPr kumimoji="1" lang="en-US" altLang="ja-JP" sz="1200" dirty="0"/>
              <a:t>Table</a:t>
            </a:r>
          </a:p>
          <a:p>
            <a:r>
              <a:rPr kumimoji="1" lang="en-US" altLang="ja-JP" sz="1200" dirty="0"/>
              <a:t>    Specify the shared table name embedded as a link table. </a:t>
            </a:r>
          </a:p>
          <a:p>
            <a:r>
              <a:rPr kumimoji="1" lang="en-US" altLang="ja-JP" sz="1200" dirty="0"/>
              <a:t>    The field list will be displayed automatically.</a:t>
            </a:r>
          </a:p>
          <a:p>
            <a:r>
              <a:rPr kumimoji="1" lang="en-US" altLang="ja-JP" sz="1200" dirty="0"/>
              <a:t>2.</a:t>
            </a:r>
            <a:r>
              <a:rPr kumimoji="1" lang="ja-JP" altLang="en-US" sz="1200" dirty="0"/>
              <a:t> </a:t>
            </a:r>
            <a:r>
              <a:rPr kumimoji="1" lang="en-US" altLang="ja-JP" sz="1200" dirty="0"/>
              <a:t>Local Table for Editing</a:t>
            </a:r>
          </a:p>
          <a:p>
            <a:r>
              <a:rPr kumimoji="1" lang="en-US" altLang="ja-JP" sz="1200" dirty="0"/>
              <a:t>    Specify the local work table for editing.</a:t>
            </a:r>
          </a:p>
          <a:p>
            <a:r>
              <a:rPr kumimoji="1" lang="en-US" altLang="ja-JP" sz="1200" dirty="0"/>
              <a:t>3.</a:t>
            </a:r>
            <a:r>
              <a:rPr kumimoji="1" lang="ja-JP" altLang="en-US" sz="1200" dirty="0"/>
              <a:t> </a:t>
            </a:r>
            <a:r>
              <a:rPr kumimoji="1" lang="en-US" altLang="ja-JP" sz="1200" dirty="0"/>
              <a:t>Continuous Form</a:t>
            </a:r>
          </a:p>
          <a:p>
            <a:r>
              <a:rPr kumimoji="1" lang="en-US" altLang="ja-JP" sz="1200" dirty="0"/>
              <a:t>    </a:t>
            </a:r>
            <a:r>
              <a:rPr lang="en-US" altLang="ja-JP" sz="1200" dirty="0"/>
              <a:t>Specify the name of the Continuous Form to be generated.</a:t>
            </a:r>
          </a:p>
          <a:p>
            <a:r>
              <a:rPr kumimoji="1" lang="en-US" altLang="ja-JP" sz="1200" dirty="0"/>
              <a:t>4.</a:t>
            </a:r>
            <a:r>
              <a:rPr kumimoji="1" lang="ja-JP" altLang="en-US" sz="1200" dirty="0"/>
              <a:t> </a:t>
            </a:r>
            <a:r>
              <a:rPr kumimoji="1" lang="en-US" altLang="ja-JP" sz="1200" dirty="0"/>
              <a:t>Single Form</a:t>
            </a:r>
          </a:p>
          <a:p>
            <a:r>
              <a:rPr kumimoji="1" lang="en-US" altLang="ja-JP" sz="1200" dirty="0"/>
              <a:t>    </a:t>
            </a:r>
            <a:r>
              <a:rPr lang="en-US" altLang="ja-JP" sz="1200" dirty="0"/>
              <a:t>Specify the name of the Single Form to be generated.</a:t>
            </a:r>
          </a:p>
          <a:p>
            <a:r>
              <a:rPr kumimoji="1" lang="en-US" altLang="ja-JP" sz="1200" dirty="0"/>
              <a:t>5.</a:t>
            </a:r>
            <a:r>
              <a:rPr kumimoji="1" lang="ja-JP" altLang="en-US" sz="1200" dirty="0"/>
              <a:t> </a:t>
            </a:r>
            <a:r>
              <a:rPr kumimoji="1" lang="en-US" altLang="ja-JP" sz="1200" dirty="0"/>
              <a:t>Record ID</a:t>
            </a:r>
          </a:p>
          <a:p>
            <a:r>
              <a:rPr kumimoji="1" lang="en-US" altLang="ja-JP" sz="1200" dirty="0"/>
              <a:t>    </a:t>
            </a:r>
            <a:r>
              <a:rPr kumimoji="1" lang="ja-JP" altLang="en-US" sz="1200" dirty="0"/>
              <a:t> </a:t>
            </a:r>
            <a:r>
              <a:rPr lang="en-US" altLang="ja-JP" sz="1200" dirty="0"/>
              <a:t>Specify the record identifier column for both the shared table and the local table.	</a:t>
            </a:r>
          </a:p>
          <a:p>
            <a:endParaRPr kumimoji="1" lang="en-US" altLang="ja-JP" sz="1200" dirty="0"/>
          </a:p>
          <a:p>
            <a:r>
              <a:rPr kumimoji="1" lang="en-US" altLang="ja-JP" sz="1200" dirty="0" err="1"/>
              <a:t>CheckBox</a:t>
            </a:r>
            <a:r>
              <a:rPr kumimoji="1" lang="ja-JP" altLang="en-US" sz="1200" dirty="0"/>
              <a:t> </a:t>
            </a:r>
            <a:r>
              <a:rPr kumimoji="1" lang="en-US" altLang="ja-JP" sz="1200" dirty="0"/>
              <a:t>Options</a:t>
            </a:r>
          </a:p>
          <a:p>
            <a:pPr marL="171450" indent="-171450">
              <a:buFont typeface="Arial" panose="020B0604020202020204" pitchFamily="34" charset="0"/>
              <a:buChar char="•"/>
            </a:pPr>
            <a:r>
              <a:rPr kumimoji="1" lang="en-US" altLang="ja-JP" sz="1200" dirty="0"/>
              <a:t>Edit</a:t>
            </a:r>
          </a:p>
          <a:p>
            <a:r>
              <a:rPr kumimoji="1" lang="en-US" altLang="ja-JP" sz="1200" dirty="0"/>
              <a:t>    Marks the field as editable.</a:t>
            </a:r>
          </a:p>
          <a:p>
            <a:pPr marL="171450" indent="-171450">
              <a:buFont typeface="Arial" panose="020B0604020202020204" pitchFamily="34" charset="0"/>
              <a:buChar char="•"/>
            </a:pPr>
            <a:r>
              <a:rPr kumimoji="1" lang="en-US" altLang="ja-JP" sz="1200" dirty="0"/>
              <a:t>Show</a:t>
            </a:r>
          </a:p>
          <a:p>
            <a:r>
              <a:rPr kumimoji="1" lang="en-US" altLang="ja-JP" sz="1200" dirty="0"/>
              <a:t>    Include the field in the Continuous Form.</a:t>
            </a:r>
          </a:p>
          <a:p>
            <a:pPr marL="171450" indent="-171450">
              <a:buFont typeface="Arial" panose="020B0604020202020204" pitchFamily="34" charset="0"/>
              <a:buChar char="•"/>
            </a:pPr>
            <a:r>
              <a:rPr kumimoji="1" lang="en-US" altLang="ja-JP" sz="1200" dirty="0"/>
              <a:t>Filter</a:t>
            </a:r>
          </a:p>
          <a:p>
            <a:r>
              <a:rPr kumimoji="1" lang="en-US" altLang="ja-JP" sz="1200" dirty="0"/>
              <a:t>    Adds a filter control for the field.</a:t>
            </a:r>
            <a:r>
              <a:rPr kumimoji="1" lang="ja-JP" altLang="en-US" sz="1200" dirty="0"/>
              <a:t>　</a:t>
            </a:r>
            <a:endParaRPr kumimoji="1" lang="en-US" altLang="ja-JP" sz="1200" dirty="0"/>
          </a:p>
        </p:txBody>
      </p:sp>
      <p:pic>
        <p:nvPicPr>
          <p:cNvPr id="6" name="図 5">
            <a:extLst>
              <a:ext uri="{FF2B5EF4-FFF2-40B4-BE49-F238E27FC236}">
                <a16:creationId xmlns:a16="http://schemas.microsoft.com/office/drawing/2014/main" id="{B1A2B1A8-7061-2332-5DCF-61007B1F8C2C}"/>
              </a:ext>
            </a:extLst>
          </p:cNvPr>
          <p:cNvPicPr>
            <a:picLocks noChangeAspect="1"/>
          </p:cNvPicPr>
          <p:nvPr/>
        </p:nvPicPr>
        <p:blipFill>
          <a:blip r:embed="rId2"/>
          <a:stretch>
            <a:fillRect/>
          </a:stretch>
        </p:blipFill>
        <p:spPr>
          <a:xfrm>
            <a:off x="741824" y="1097036"/>
            <a:ext cx="4597256" cy="4186242"/>
          </a:xfrm>
          <a:prstGeom prst="rect">
            <a:avLst/>
          </a:prstGeom>
        </p:spPr>
      </p:pic>
    </p:spTree>
    <p:extLst>
      <p:ext uri="{BB962C8B-B14F-4D97-AF65-F5344CB8AC3E}">
        <p14:creationId xmlns:p14="http://schemas.microsoft.com/office/powerpoint/2010/main" val="1862913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854606-1946-DB50-2325-CD5CF7A448C8}"/>
              </a:ext>
            </a:extLst>
          </p:cNvPr>
          <p:cNvSpPr>
            <a:spLocks noGrp="1"/>
          </p:cNvSpPr>
          <p:nvPr>
            <p:ph type="title"/>
          </p:nvPr>
        </p:nvSpPr>
        <p:spPr/>
        <p:txBody>
          <a:bodyPr/>
          <a:lstStyle/>
          <a:p>
            <a:r>
              <a:rPr kumimoji="1" lang="en-US" altLang="ja-JP" dirty="0"/>
              <a:t>ALAYA</a:t>
            </a:r>
            <a:r>
              <a:rPr kumimoji="1" lang="ja-JP" altLang="en-US" dirty="0"/>
              <a:t> </a:t>
            </a:r>
            <a:r>
              <a:rPr kumimoji="1" lang="en-US" altLang="ja-JP" dirty="0"/>
              <a:t>Object</a:t>
            </a:r>
            <a:r>
              <a:rPr kumimoji="1" lang="ja-JP" altLang="en-US" dirty="0"/>
              <a:t> </a:t>
            </a:r>
            <a:r>
              <a:rPr kumimoji="1" lang="en-US" altLang="ja-JP" dirty="0"/>
              <a:t>Modules</a:t>
            </a:r>
            <a:endParaRPr kumimoji="1" lang="ja-JP" altLang="en-US" dirty="0"/>
          </a:p>
        </p:txBody>
      </p:sp>
    </p:spTree>
    <p:extLst>
      <p:ext uri="{BB962C8B-B14F-4D97-AF65-F5344CB8AC3E}">
        <p14:creationId xmlns:p14="http://schemas.microsoft.com/office/powerpoint/2010/main" val="4103581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ABDF131-C888-1D38-BA2A-1EC417402C67}"/>
              </a:ext>
            </a:extLst>
          </p:cNvPr>
          <p:cNvPicPr>
            <a:picLocks noChangeAspect="1"/>
          </p:cNvPicPr>
          <p:nvPr/>
        </p:nvPicPr>
        <p:blipFill>
          <a:blip r:embed="rId2"/>
          <a:stretch>
            <a:fillRect/>
          </a:stretch>
        </p:blipFill>
        <p:spPr>
          <a:xfrm>
            <a:off x="366571" y="1356437"/>
            <a:ext cx="4992881" cy="4049132"/>
          </a:xfrm>
          <a:prstGeom prst="rect">
            <a:avLst/>
          </a:prstGeom>
        </p:spPr>
      </p:pic>
      <p:sp>
        <p:nvSpPr>
          <p:cNvPr id="2" name="タイトル 1">
            <a:extLst>
              <a:ext uri="{FF2B5EF4-FFF2-40B4-BE49-F238E27FC236}">
                <a16:creationId xmlns:a16="http://schemas.microsoft.com/office/drawing/2014/main" id="{FBF5E413-731C-3864-2925-25E15CBCEF2D}"/>
              </a:ext>
            </a:extLst>
          </p:cNvPr>
          <p:cNvSpPr>
            <a:spLocks noGrp="1"/>
          </p:cNvSpPr>
          <p:nvPr>
            <p:ph type="title"/>
          </p:nvPr>
        </p:nvSpPr>
        <p:spPr>
          <a:xfrm>
            <a:off x="298393" y="348660"/>
            <a:ext cx="5651500" cy="554567"/>
          </a:xfrm>
        </p:spPr>
        <p:txBody>
          <a:bodyPr>
            <a:normAutofit/>
          </a:bodyPr>
          <a:lstStyle/>
          <a:p>
            <a:r>
              <a:rPr kumimoji="1" lang="ja-JP" altLang="en-US" dirty="0"/>
              <a:t> </a:t>
            </a:r>
            <a:r>
              <a:rPr kumimoji="1" lang="en-US" altLang="ja-JP" dirty="0"/>
              <a:t>ALAYA</a:t>
            </a:r>
            <a:r>
              <a:rPr kumimoji="1" lang="ja-JP" altLang="en-US" dirty="0"/>
              <a:t> </a:t>
            </a:r>
            <a:r>
              <a:rPr kumimoji="1" lang="en-US" altLang="ja-JP" dirty="0" err="1"/>
              <a:t>Libraris</a:t>
            </a:r>
            <a:endParaRPr kumimoji="1" lang="ja-JP" altLang="en-US" dirty="0"/>
          </a:p>
        </p:txBody>
      </p:sp>
      <p:sp>
        <p:nvSpPr>
          <p:cNvPr id="6" name="テキスト ボックス 5">
            <a:extLst>
              <a:ext uri="{FF2B5EF4-FFF2-40B4-BE49-F238E27FC236}">
                <a16:creationId xmlns:a16="http://schemas.microsoft.com/office/drawing/2014/main" id="{63BC9724-B466-A6E7-9224-C81E78FB0254}"/>
              </a:ext>
            </a:extLst>
          </p:cNvPr>
          <p:cNvSpPr txBox="1"/>
          <p:nvPr/>
        </p:nvSpPr>
        <p:spPr>
          <a:xfrm>
            <a:off x="298393" y="902410"/>
            <a:ext cx="6095999" cy="325089"/>
          </a:xfrm>
          <a:prstGeom prst="rect">
            <a:avLst/>
          </a:prstGeom>
          <a:solidFill>
            <a:schemeClr val="bg1"/>
          </a:solidFill>
          <a:ln>
            <a:noFill/>
          </a:ln>
        </p:spPr>
        <p:txBody>
          <a:bodyPr wrap="square" rtlCol="0">
            <a:spAutoFit/>
          </a:bodyPr>
          <a:lstStyle/>
          <a:p>
            <a:pPr>
              <a:lnSpc>
                <a:spcPct val="150000"/>
              </a:lnSpc>
            </a:pPr>
            <a:r>
              <a:rPr kumimoji="1" lang="en-US" altLang="ja-JP" sz="1100" dirty="0"/>
              <a:t>Alaya</a:t>
            </a:r>
            <a:r>
              <a:rPr kumimoji="1" lang="ja-JP" altLang="en-US" sz="1100" dirty="0"/>
              <a:t> </a:t>
            </a:r>
            <a:r>
              <a:rPr kumimoji="1" lang="en-US" altLang="ja-JP" sz="1100" dirty="0"/>
              <a:t>module</a:t>
            </a:r>
            <a:r>
              <a:rPr kumimoji="1" lang="ja-JP" altLang="en-US" sz="1100" dirty="0"/>
              <a:t> </a:t>
            </a:r>
            <a:r>
              <a:rPr kumimoji="1" lang="en-US" altLang="ja-JP" sz="1100" dirty="0"/>
              <a:t>includes</a:t>
            </a:r>
            <a:r>
              <a:rPr kumimoji="1" lang="ja-JP" altLang="en-US" sz="1100" dirty="0"/>
              <a:t> </a:t>
            </a:r>
            <a:r>
              <a:rPr kumimoji="1" lang="en-US" altLang="ja-JP" sz="1100" dirty="0"/>
              <a:t>Tables,</a:t>
            </a:r>
            <a:r>
              <a:rPr kumimoji="1" lang="ja-JP" altLang="en-US" sz="1100" dirty="0"/>
              <a:t> </a:t>
            </a:r>
            <a:r>
              <a:rPr kumimoji="1" lang="en-US" altLang="ja-JP" sz="1100" dirty="0"/>
              <a:t>Forms and Modules shown below.</a:t>
            </a:r>
          </a:p>
        </p:txBody>
      </p:sp>
      <p:sp>
        <p:nvSpPr>
          <p:cNvPr id="13" name="テキスト ボックス 12">
            <a:extLst>
              <a:ext uri="{FF2B5EF4-FFF2-40B4-BE49-F238E27FC236}">
                <a16:creationId xmlns:a16="http://schemas.microsoft.com/office/drawing/2014/main" id="{994FD112-8BF6-75E3-8EB9-3F09AB32AC01}"/>
              </a:ext>
            </a:extLst>
          </p:cNvPr>
          <p:cNvSpPr txBox="1"/>
          <p:nvPr/>
        </p:nvSpPr>
        <p:spPr>
          <a:xfrm>
            <a:off x="233012" y="7008889"/>
            <a:ext cx="6503067" cy="2862322"/>
          </a:xfrm>
          <a:prstGeom prst="rect">
            <a:avLst/>
          </a:prstGeom>
          <a:solidFill>
            <a:schemeClr val="bg1"/>
          </a:solidFill>
          <a:ln>
            <a:noFill/>
          </a:ln>
        </p:spPr>
        <p:txBody>
          <a:bodyPr wrap="square" rtlCol="0">
            <a:spAutoFit/>
          </a:bodyPr>
          <a:lstStyle/>
          <a:p>
            <a:r>
              <a:rPr lang="en-US" altLang="ja-JP" sz="1200" b="1" dirty="0"/>
              <a:t>Naming Conventions and Startup Behavior in Access ALAYA</a:t>
            </a:r>
          </a:p>
          <a:p>
            <a:r>
              <a:rPr lang="en-US" altLang="ja-JP" sz="1200" dirty="0"/>
              <a:t>Access ALAYA uses a consistent naming convention to clearly distinguish ALAYA modules and functions from user‑defined modules. As a general rule:</a:t>
            </a:r>
          </a:p>
          <a:p>
            <a:pPr marL="171450" indent="-171450">
              <a:buFont typeface="Arial" panose="020B0604020202020204" pitchFamily="34" charset="0"/>
              <a:buChar char="•"/>
            </a:pPr>
            <a:r>
              <a:rPr lang="en-US" altLang="ja-JP" sz="1200" b="1" dirty="0"/>
              <a:t>Constants</a:t>
            </a:r>
            <a:r>
              <a:rPr lang="en-US" altLang="ja-JP" sz="1200" dirty="0"/>
              <a:t> use the prefix a2_</a:t>
            </a:r>
          </a:p>
          <a:p>
            <a:pPr marL="171450" indent="-171450">
              <a:buFont typeface="Arial" panose="020B0604020202020204" pitchFamily="34" charset="0"/>
              <a:buChar char="•"/>
            </a:pPr>
            <a:r>
              <a:rPr lang="en-US" altLang="ja-JP" sz="1200" b="1" dirty="0"/>
              <a:t>Functions</a:t>
            </a:r>
            <a:r>
              <a:rPr lang="en-US" altLang="ja-JP" sz="1200" dirty="0"/>
              <a:t> use the prefix a2 (without an underscore)</a:t>
            </a:r>
          </a:p>
          <a:p>
            <a:r>
              <a:rPr lang="en-US" altLang="ja-JP" sz="1200" dirty="0"/>
              <a:t>This makes it easy to identify ALAYA‑specific components within a project.</a:t>
            </a:r>
          </a:p>
          <a:p>
            <a:endParaRPr lang="en-US" altLang="ja-JP" sz="1200" b="1" dirty="0"/>
          </a:p>
          <a:p>
            <a:r>
              <a:rPr lang="en-US" altLang="ja-JP" sz="1200" b="1" dirty="0"/>
              <a:t>Startup Behavior</a:t>
            </a:r>
          </a:p>
          <a:p>
            <a:r>
              <a:rPr lang="en-US" altLang="ja-JP" sz="1200" dirty="0"/>
              <a:t>When ALAYA starts, the </a:t>
            </a:r>
            <a:r>
              <a:rPr lang="en-US" altLang="ja-JP" sz="1200" b="1" dirty="0"/>
              <a:t>administrator menu</a:t>
            </a:r>
            <a:r>
              <a:rPr lang="en-US" altLang="ja-JP" sz="1200" dirty="0"/>
              <a:t> (a2AdminMenu) is launched by default.</a:t>
            </a:r>
          </a:p>
          <a:p>
            <a:r>
              <a:rPr lang="en-US" altLang="ja-JP" sz="1200" dirty="0"/>
              <a:t>If ALAYA is started </a:t>
            </a:r>
            <a:r>
              <a:rPr lang="en-US" altLang="ja-JP" sz="1200" b="1" dirty="0"/>
              <a:t>with arguments</a:t>
            </a:r>
            <a:r>
              <a:rPr lang="en-US" altLang="ja-JP" sz="1200" dirty="0"/>
              <a:t>, or started </a:t>
            </a:r>
            <a:r>
              <a:rPr lang="en-US" altLang="ja-JP" sz="1200" b="1" dirty="0"/>
              <a:t>while holding the Shift key</a:t>
            </a:r>
            <a:r>
              <a:rPr lang="en-US" altLang="ja-JP" sz="1200" dirty="0"/>
              <a:t>,</a:t>
            </a:r>
          </a:p>
          <a:p>
            <a:r>
              <a:rPr lang="en-US" altLang="ja-JP" sz="1200" dirty="0"/>
              <a:t>then a2AdminMenu</a:t>
            </a:r>
            <a:r>
              <a:rPr lang="en-US" altLang="ja-JP" sz="1200" b="1" dirty="0"/>
              <a:t> is displayed directly</a:t>
            </a:r>
            <a:r>
              <a:rPr lang="en-US" altLang="ja-JP" sz="1200" dirty="0"/>
              <a:t>.</a:t>
            </a:r>
          </a:p>
          <a:p>
            <a:r>
              <a:rPr lang="en-US" altLang="ja-JP" sz="1200" dirty="0"/>
              <a:t>If ALAYA is started </a:t>
            </a:r>
            <a:r>
              <a:rPr lang="en-US" altLang="ja-JP" sz="1200" b="1" dirty="0"/>
              <a:t>without any arguments</a:t>
            </a:r>
            <a:r>
              <a:rPr lang="en-US" altLang="ja-JP" sz="1200" dirty="0"/>
              <a:t>, the system hides the Navigation Pane and displays the ALAYA</a:t>
            </a:r>
            <a:r>
              <a:rPr lang="en-US" altLang="ja-JP" sz="1200" b="1" dirty="0"/>
              <a:t> Menu</a:t>
            </a:r>
            <a:r>
              <a:rPr lang="en-US" altLang="ja-JP" sz="1200" dirty="0"/>
              <a:t> intended for general users.</a:t>
            </a:r>
            <a:r>
              <a:rPr lang="ja-JP" altLang="en-US" sz="1200" dirty="0"/>
              <a:t> </a:t>
            </a:r>
            <a:r>
              <a:rPr lang="en-US" altLang="ja-JP" sz="1200" dirty="0"/>
              <a:t>See the starting code of ‘</a:t>
            </a:r>
            <a:r>
              <a:rPr lang="en-US" altLang="ja-JP" sz="1200" dirty="0" err="1"/>
              <a:t>Form_Load</a:t>
            </a:r>
            <a:r>
              <a:rPr lang="en-US" altLang="ja-JP" sz="1200" dirty="0"/>
              <a:t>’ in a2AdminMenu.</a:t>
            </a:r>
          </a:p>
          <a:p>
            <a:endParaRPr lang="en-US" altLang="ja-JP" sz="1200" dirty="0"/>
          </a:p>
        </p:txBody>
      </p:sp>
      <p:sp>
        <p:nvSpPr>
          <p:cNvPr id="8" name="楕円 7">
            <a:extLst>
              <a:ext uri="{FF2B5EF4-FFF2-40B4-BE49-F238E27FC236}">
                <a16:creationId xmlns:a16="http://schemas.microsoft.com/office/drawing/2014/main" id="{1AD0811E-6523-E630-A898-3932310EAD17}"/>
              </a:ext>
            </a:extLst>
          </p:cNvPr>
          <p:cNvSpPr/>
          <p:nvPr/>
        </p:nvSpPr>
        <p:spPr>
          <a:xfrm>
            <a:off x="240633" y="1228377"/>
            <a:ext cx="1155032" cy="457974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5" name="表 14">
            <a:extLst>
              <a:ext uri="{FF2B5EF4-FFF2-40B4-BE49-F238E27FC236}">
                <a16:creationId xmlns:a16="http://schemas.microsoft.com/office/drawing/2014/main" id="{2BB80D9E-7DFD-DD5E-ED53-27FDB2BAF59D}"/>
              </a:ext>
            </a:extLst>
          </p:cNvPr>
          <p:cNvGraphicFramePr>
            <a:graphicFrameLocks noGrp="1"/>
          </p:cNvGraphicFramePr>
          <p:nvPr/>
        </p:nvGraphicFramePr>
        <p:xfrm>
          <a:off x="1195531" y="2306348"/>
          <a:ext cx="5295898" cy="4480560"/>
        </p:xfrm>
        <a:graphic>
          <a:graphicData uri="http://schemas.openxmlformats.org/drawingml/2006/table">
            <a:tbl>
              <a:tblPr firstRow="1" bandRow="1">
                <a:tableStyleId>{5940675A-B579-460E-94D1-54222C63F5DA}</a:tableStyleId>
              </a:tblPr>
              <a:tblGrid>
                <a:gridCol w="306419">
                  <a:extLst>
                    <a:ext uri="{9D8B030D-6E8A-4147-A177-3AD203B41FA5}">
                      <a16:colId xmlns:a16="http://schemas.microsoft.com/office/drawing/2014/main" val="337711264"/>
                    </a:ext>
                  </a:extLst>
                </a:gridCol>
                <a:gridCol w="1197702">
                  <a:extLst>
                    <a:ext uri="{9D8B030D-6E8A-4147-A177-3AD203B41FA5}">
                      <a16:colId xmlns:a16="http://schemas.microsoft.com/office/drawing/2014/main" val="2719812237"/>
                    </a:ext>
                  </a:extLst>
                </a:gridCol>
                <a:gridCol w="3791777">
                  <a:extLst>
                    <a:ext uri="{9D8B030D-6E8A-4147-A177-3AD203B41FA5}">
                      <a16:colId xmlns:a16="http://schemas.microsoft.com/office/drawing/2014/main" val="2317183674"/>
                    </a:ext>
                  </a:extLst>
                </a:gridCol>
              </a:tblGrid>
              <a:tr h="144793">
                <a:tc>
                  <a:txBody>
                    <a:bodyPr/>
                    <a:lstStyle/>
                    <a:p>
                      <a:pPr algn="ctr"/>
                      <a:r>
                        <a:rPr kumimoji="1" lang="ja-JP" altLang="en-US" sz="900" dirty="0"/>
                        <a:t>種別</a:t>
                      </a:r>
                    </a:p>
                  </a:txBody>
                  <a:tcPr>
                    <a:solidFill>
                      <a:schemeClr val="accent4">
                        <a:lumMod val="20000"/>
                        <a:lumOff val="80000"/>
                      </a:schemeClr>
                    </a:solidFill>
                  </a:tcPr>
                </a:tc>
                <a:tc>
                  <a:txBody>
                    <a:bodyPr/>
                    <a:lstStyle/>
                    <a:p>
                      <a:r>
                        <a:rPr kumimoji="1" lang="en-US" altLang="ja-JP" sz="900" dirty="0"/>
                        <a:t>Access</a:t>
                      </a:r>
                      <a:r>
                        <a:rPr kumimoji="1" lang="ja-JP" altLang="en-US" sz="900" dirty="0"/>
                        <a:t>オブジェクト</a:t>
                      </a:r>
                    </a:p>
                  </a:txBody>
                  <a:tcPr>
                    <a:solidFill>
                      <a:schemeClr val="accent4">
                        <a:lumMod val="20000"/>
                        <a:lumOff val="80000"/>
                      </a:schemeClr>
                    </a:solidFill>
                  </a:tcPr>
                </a:tc>
                <a:tc>
                  <a:txBody>
                    <a:bodyPr/>
                    <a:lstStyle/>
                    <a:p>
                      <a:r>
                        <a:rPr kumimoji="1" lang="ja-JP" altLang="en-US" sz="900" dirty="0"/>
                        <a:t>内容</a:t>
                      </a:r>
                    </a:p>
                  </a:txBody>
                  <a:tcPr>
                    <a:solidFill>
                      <a:schemeClr val="accent4">
                        <a:lumMod val="20000"/>
                        <a:lumOff val="80000"/>
                      </a:schemeClr>
                    </a:solidFill>
                  </a:tcPr>
                </a:tc>
                <a:extLst>
                  <a:ext uri="{0D108BD9-81ED-4DB2-BD59-A6C34878D82A}">
                    <a16:rowId xmlns:a16="http://schemas.microsoft.com/office/drawing/2014/main" val="530081702"/>
                  </a:ext>
                </a:extLst>
              </a:tr>
              <a:tr h="144793">
                <a:tc rowSpan="6">
                  <a:txBody>
                    <a:bodyPr/>
                    <a:lstStyle/>
                    <a:p>
                      <a:pPr algn="ctr"/>
                      <a:r>
                        <a:rPr kumimoji="1" lang="en-US" altLang="ja-JP" sz="900" dirty="0"/>
                        <a:t>Tables</a:t>
                      </a:r>
                      <a:endParaRPr kumimoji="1" lang="ja-JP" altLang="en-US" sz="900" dirty="0"/>
                    </a:p>
                  </a:txBody>
                  <a:tcPr vert="eaVert">
                    <a:solidFill>
                      <a:schemeClr val="bg1"/>
                    </a:solidFill>
                  </a:tcPr>
                </a:tc>
                <a:tc>
                  <a:txBody>
                    <a:bodyPr/>
                    <a:lstStyle/>
                    <a:p>
                      <a:r>
                        <a:rPr kumimoji="1" lang="en-US" altLang="ja-JP" sz="900" dirty="0"/>
                        <a:t>_Calendar</a:t>
                      </a:r>
                    </a:p>
                  </a:txBody>
                  <a:tcPr>
                    <a:solidFill>
                      <a:schemeClr val="bg1"/>
                    </a:solidFill>
                  </a:tcPr>
                </a:tc>
                <a:tc>
                  <a:txBody>
                    <a:bodyPr/>
                    <a:lstStyle/>
                    <a:p>
                      <a:r>
                        <a:rPr kumimoji="1" lang="en-US" altLang="ja-JP" sz="900" dirty="0"/>
                        <a:t>Sequential date table from 1990/1/1~2049/12/31</a:t>
                      </a:r>
                      <a:r>
                        <a:rPr kumimoji="1" lang="ja-JP" altLang="en-US" sz="900" dirty="0"/>
                        <a:t> </a:t>
                      </a:r>
                    </a:p>
                  </a:txBody>
                  <a:tcPr>
                    <a:solidFill>
                      <a:schemeClr val="bg1"/>
                    </a:solidFill>
                  </a:tcPr>
                </a:tc>
                <a:extLst>
                  <a:ext uri="{0D108BD9-81ED-4DB2-BD59-A6C34878D82A}">
                    <a16:rowId xmlns:a16="http://schemas.microsoft.com/office/drawing/2014/main" val="1137115379"/>
                  </a:ext>
                </a:extLst>
              </a:tr>
              <a:tr h="144793">
                <a:tc vMerge="1">
                  <a:txBody>
                    <a:bodyPr/>
                    <a:lstStyle/>
                    <a:p>
                      <a:endParaRPr kumimoji="1" lang="ja-JP" altLang="en-US"/>
                    </a:p>
                  </a:txBody>
                  <a:tcPr/>
                </a:tc>
                <a:tc>
                  <a:txBody>
                    <a:bodyPr/>
                    <a:lstStyle/>
                    <a:p>
                      <a:r>
                        <a:rPr kumimoji="1" lang="en-US" altLang="ja-JP" sz="900" dirty="0"/>
                        <a:t>_Config</a:t>
                      </a:r>
                      <a:endParaRPr kumimoji="1" lang="ja-JP" altLang="en-US" sz="900" dirty="0"/>
                    </a:p>
                  </a:txBody>
                  <a:tcPr>
                    <a:solidFill>
                      <a:schemeClr val="bg1"/>
                    </a:solidFill>
                  </a:tcPr>
                </a:tc>
                <a:tc>
                  <a:txBody>
                    <a:bodyPr/>
                    <a:lstStyle/>
                    <a:p>
                      <a:r>
                        <a:rPr kumimoji="1" lang="en-US" altLang="ja-JP" sz="900" dirty="0"/>
                        <a:t>Set of Configuration parameters.</a:t>
                      </a:r>
                    </a:p>
                  </a:txBody>
                  <a:tcPr>
                    <a:solidFill>
                      <a:schemeClr val="bg1"/>
                    </a:solidFill>
                  </a:tcPr>
                </a:tc>
                <a:extLst>
                  <a:ext uri="{0D108BD9-81ED-4DB2-BD59-A6C34878D82A}">
                    <a16:rowId xmlns:a16="http://schemas.microsoft.com/office/drawing/2014/main" val="1604768155"/>
                  </a:ext>
                </a:extLst>
              </a:tr>
              <a:tr h="144793">
                <a:tc vMerge="1">
                  <a:txBody>
                    <a:bodyPr/>
                    <a:lstStyle/>
                    <a:p>
                      <a:endParaRPr kumimoji="1" lang="ja-JP" altLang="en-US"/>
                    </a:p>
                  </a:txBody>
                  <a:tcPr/>
                </a:tc>
                <a:tc>
                  <a:txBody>
                    <a:bodyPr/>
                    <a:lstStyle/>
                    <a:p>
                      <a:r>
                        <a:rPr kumimoji="1" lang="en-US" altLang="ja-JP" sz="900" dirty="0"/>
                        <a:t>_</a:t>
                      </a:r>
                      <a:r>
                        <a:rPr kumimoji="1" lang="en-US" altLang="ja-JP" sz="900" dirty="0" err="1"/>
                        <a:t>CreateForm</a:t>
                      </a:r>
                      <a:endParaRPr kumimoji="1" lang="ja-JP" altLang="en-US" sz="900" dirty="0"/>
                    </a:p>
                  </a:txBody>
                  <a:tcPr>
                    <a:solidFill>
                      <a:schemeClr val="bg1"/>
                    </a:solidFill>
                  </a:tcPr>
                </a:tc>
                <a:tc>
                  <a:txBody>
                    <a:bodyPr/>
                    <a:lstStyle/>
                    <a:p>
                      <a:r>
                        <a:rPr kumimoji="1" lang="en-US" altLang="ja-JP" sz="900" dirty="0" err="1"/>
                        <a:t>WorkTable</a:t>
                      </a:r>
                      <a:r>
                        <a:rPr kumimoji="1" lang="en-US" altLang="ja-JP" sz="900" dirty="0"/>
                        <a:t> for generate ALAYA standard forms.</a:t>
                      </a:r>
                    </a:p>
                  </a:txBody>
                  <a:tcPr>
                    <a:solidFill>
                      <a:schemeClr val="bg1"/>
                    </a:solidFill>
                  </a:tcPr>
                </a:tc>
                <a:extLst>
                  <a:ext uri="{0D108BD9-81ED-4DB2-BD59-A6C34878D82A}">
                    <a16:rowId xmlns:a16="http://schemas.microsoft.com/office/drawing/2014/main" val="3417463407"/>
                  </a:ext>
                </a:extLst>
              </a:tr>
              <a:tr h="144793">
                <a:tc vMerge="1">
                  <a:txBody>
                    <a:bodyPr/>
                    <a:lstStyle/>
                    <a:p>
                      <a:endParaRPr kumimoji="1" lang="ja-JP" altLang="en-US" sz="900" dirty="0"/>
                    </a:p>
                  </a:txBody>
                  <a:tcPr/>
                </a:tc>
                <a:tc>
                  <a:txBody>
                    <a:bodyPr/>
                    <a:lstStyle/>
                    <a:p>
                      <a:r>
                        <a:rPr kumimoji="1" lang="en-US" altLang="ja-JP" sz="900" dirty="0"/>
                        <a:t>_</a:t>
                      </a:r>
                      <a:r>
                        <a:rPr kumimoji="1" lang="en-US" altLang="ja-JP" sz="900" dirty="0" err="1"/>
                        <a:t>SQLLog</a:t>
                      </a:r>
                      <a:endParaRPr kumimoji="1" lang="ja-JP" altLang="en-US" sz="900" dirty="0"/>
                    </a:p>
                  </a:txBody>
                  <a:tcPr>
                    <a:solidFill>
                      <a:schemeClr val="bg1"/>
                    </a:solidFill>
                  </a:tcPr>
                </a:tc>
                <a:tc>
                  <a:txBody>
                    <a:bodyPr/>
                    <a:lstStyle/>
                    <a:p>
                      <a:r>
                        <a:rPr kumimoji="1" lang="en-US" altLang="ja-JP" sz="900" dirty="0"/>
                        <a:t>SQL history executed from the Alaya modules.</a:t>
                      </a:r>
                    </a:p>
                  </a:txBody>
                  <a:tcPr>
                    <a:solidFill>
                      <a:schemeClr val="bg1"/>
                    </a:solidFill>
                  </a:tcPr>
                </a:tc>
                <a:extLst>
                  <a:ext uri="{0D108BD9-81ED-4DB2-BD59-A6C34878D82A}">
                    <a16:rowId xmlns:a16="http://schemas.microsoft.com/office/drawing/2014/main" val="153830900"/>
                  </a:ext>
                </a:extLst>
              </a:tr>
              <a:tr h="144793">
                <a:tc vMerge="1">
                  <a:txBody>
                    <a:bodyPr/>
                    <a:lstStyle/>
                    <a:p>
                      <a:endParaRPr kumimoji="1" lang="ja-JP" altLang="en-US" sz="900" dirty="0"/>
                    </a:p>
                  </a:txBody>
                  <a:tcPr/>
                </a:tc>
                <a:tc>
                  <a:txBody>
                    <a:bodyPr/>
                    <a:lstStyle/>
                    <a:p>
                      <a:r>
                        <a:rPr kumimoji="1" lang="en-US" altLang="ja-JP" sz="900" dirty="0"/>
                        <a:t>_Version</a:t>
                      </a:r>
                      <a:endParaRPr kumimoji="1" lang="ja-JP" altLang="en-US" sz="900" dirty="0"/>
                    </a:p>
                  </a:txBody>
                  <a:tcPr>
                    <a:solidFill>
                      <a:schemeClr val="bg1"/>
                    </a:solidFill>
                  </a:tcPr>
                </a:tc>
                <a:tc>
                  <a:txBody>
                    <a:bodyPr/>
                    <a:lstStyle/>
                    <a:p>
                      <a:r>
                        <a:rPr kumimoji="1" lang="en-US" altLang="ja-JP" sz="900" dirty="0"/>
                        <a:t>Version table.</a:t>
                      </a:r>
                      <a:endParaRPr kumimoji="1" lang="ja-JP" altLang="en-US" sz="900" dirty="0"/>
                    </a:p>
                  </a:txBody>
                  <a:tcPr>
                    <a:solidFill>
                      <a:schemeClr val="bg1"/>
                    </a:solidFill>
                  </a:tcPr>
                </a:tc>
                <a:extLst>
                  <a:ext uri="{0D108BD9-81ED-4DB2-BD59-A6C34878D82A}">
                    <a16:rowId xmlns:a16="http://schemas.microsoft.com/office/drawing/2014/main" val="1299839687"/>
                  </a:ext>
                </a:extLst>
              </a:tr>
              <a:tr h="144793">
                <a:tc vMerge="1">
                  <a:txBody>
                    <a:bodyPr/>
                    <a:lstStyle/>
                    <a:p>
                      <a:pPr algn="ctr"/>
                      <a:endParaRPr kumimoji="1" lang="ja-JP" altLang="en-US" sz="900" dirty="0"/>
                    </a:p>
                  </a:txBody>
                  <a:tcPr vert="eaVert">
                    <a:solidFill>
                      <a:schemeClr val="bg1"/>
                    </a:solidFill>
                  </a:tcPr>
                </a:tc>
                <a:tc>
                  <a:txBody>
                    <a:bodyPr/>
                    <a:lstStyle/>
                    <a:p>
                      <a:r>
                        <a:rPr kumimoji="1" lang="en-US" altLang="ja-JP" sz="900" dirty="0" err="1"/>
                        <a:t>tmp</a:t>
                      </a:r>
                      <a:r>
                        <a:rPr kumimoji="1" lang="en-US" altLang="ja-JP" sz="900" dirty="0"/>
                        <a:t>**</a:t>
                      </a:r>
                      <a:endParaRPr kumimoji="1" lang="ja-JP" altLang="en-US" sz="900" dirty="0"/>
                    </a:p>
                  </a:txBody>
                  <a:tcPr>
                    <a:solidFill>
                      <a:schemeClr val="bg1"/>
                    </a:solidFill>
                  </a:tcPr>
                </a:tc>
                <a:tc>
                  <a:txBody>
                    <a:bodyPr/>
                    <a:lstStyle/>
                    <a:p>
                      <a:r>
                        <a:rPr kumimoji="1" lang="en-US" altLang="ja-JP" sz="900" dirty="0"/>
                        <a:t>Local tables for editing.</a:t>
                      </a:r>
                      <a:endParaRPr kumimoji="1" lang="ja-JP" altLang="en-US" sz="900" dirty="0"/>
                    </a:p>
                  </a:txBody>
                  <a:tcPr>
                    <a:solidFill>
                      <a:schemeClr val="bg1"/>
                    </a:solidFill>
                  </a:tcPr>
                </a:tc>
                <a:extLst>
                  <a:ext uri="{0D108BD9-81ED-4DB2-BD59-A6C34878D82A}">
                    <a16:rowId xmlns:a16="http://schemas.microsoft.com/office/drawing/2014/main" val="2892303732"/>
                  </a:ext>
                </a:extLst>
              </a:tr>
              <a:tr h="144793">
                <a:tc rowSpan="8">
                  <a:txBody>
                    <a:bodyPr/>
                    <a:lstStyle/>
                    <a:p>
                      <a:pPr algn="ctr"/>
                      <a:r>
                        <a:rPr kumimoji="1" lang="en-US" altLang="ja-JP" sz="900" dirty="0"/>
                        <a:t>Forms</a:t>
                      </a:r>
                      <a:endParaRPr kumimoji="1" lang="ja-JP" altLang="en-US" sz="900" dirty="0"/>
                    </a:p>
                  </a:txBody>
                  <a:tcPr vert="eaVert">
                    <a:solidFill>
                      <a:schemeClr val="bg1"/>
                    </a:solidFill>
                  </a:tcPr>
                </a:tc>
                <a:tc>
                  <a:txBody>
                    <a:bodyPr/>
                    <a:lstStyle/>
                    <a:p>
                      <a:r>
                        <a:rPr kumimoji="1" lang="en-US" altLang="ja-JP" sz="900" dirty="0"/>
                        <a:t>a2AdminMenu</a:t>
                      </a:r>
                      <a:endParaRPr kumimoji="1" lang="ja-JP" altLang="en-US" sz="900" dirty="0"/>
                    </a:p>
                  </a:txBody>
                  <a:tcPr>
                    <a:solidFill>
                      <a:schemeClr val="bg1"/>
                    </a:solidFill>
                  </a:tcPr>
                </a:tc>
                <a:tc>
                  <a:txBody>
                    <a:bodyPr/>
                    <a:lstStyle/>
                    <a:p>
                      <a:r>
                        <a:rPr kumimoji="1" lang="en-US" altLang="ja-JP" sz="900" dirty="0"/>
                        <a:t>Administrator’s Menu. The default startup form.</a:t>
                      </a:r>
                      <a:endParaRPr kumimoji="1" lang="ja-JP" altLang="en-US" sz="900" dirty="0"/>
                    </a:p>
                  </a:txBody>
                  <a:tcPr>
                    <a:solidFill>
                      <a:schemeClr val="bg1"/>
                    </a:solidFill>
                  </a:tcPr>
                </a:tc>
                <a:extLst>
                  <a:ext uri="{0D108BD9-81ED-4DB2-BD59-A6C34878D82A}">
                    <a16:rowId xmlns:a16="http://schemas.microsoft.com/office/drawing/2014/main" val="1345748245"/>
                  </a:ext>
                </a:extLst>
              </a:tr>
              <a:tr h="144793">
                <a:tc vMerge="1">
                  <a:txBody>
                    <a:bodyPr/>
                    <a:lstStyle/>
                    <a:p>
                      <a:endParaRPr kumimoji="1" lang="ja-JP" altLang="en-US" sz="900" dirty="0"/>
                    </a:p>
                  </a:txBody>
                  <a:tcPr/>
                </a:tc>
                <a:tc>
                  <a:txBody>
                    <a:bodyPr/>
                    <a:lstStyle/>
                    <a:p>
                      <a:r>
                        <a:rPr kumimoji="1" lang="en-US" altLang="ja-JP" sz="900" dirty="0"/>
                        <a:t>a2Config</a:t>
                      </a:r>
                      <a:endParaRPr kumimoji="1" lang="ja-JP" altLang="en-US" sz="900" dirty="0"/>
                    </a:p>
                  </a:txBody>
                  <a:tcPr>
                    <a:solidFill>
                      <a:schemeClr val="bg1"/>
                    </a:solidFill>
                  </a:tcPr>
                </a:tc>
                <a:tc>
                  <a:txBody>
                    <a:bodyPr/>
                    <a:lstStyle/>
                    <a:p>
                      <a:r>
                        <a:rPr kumimoji="1" lang="en-US" altLang="ja-JP" sz="900" dirty="0"/>
                        <a:t>Edit form for Parameters.( _Config table)</a:t>
                      </a:r>
                      <a:endParaRPr kumimoji="1" lang="ja-JP" altLang="en-US" sz="900" dirty="0"/>
                    </a:p>
                  </a:txBody>
                  <a:tcPr>
                    <a:solidFill>
                      <a:schemeClr val="bg1"/>
                    </a:solidFill>
                  </a:tcPr>
                </a:tc>
                <a:extLst>
                  <a:ext uri="{0D108BD9-81ED-4DB2-BD59-A6C34878D82A}">
                    <a16:rowId xmlns:a16="http://schemas.microsoft.com/office/drawing/2014/main" val="1930572549"/>
                  </a:ext>
                </a:extLst>
              </a:tr>
              <a:tr h="144793">
                <a:tc vMerge="1">
                  <a:txBody>
                    <a:bodyPr/>
                    <a:lstStyle/>
                    <a:p>
                      <a:endParaRPr kumimoji="1" lang="ja-JP" altLang="en-US" sz="900" dirty="0"/>
                    </a:p>
                  </a:txBody>
                  <a:tcPr/>
                </a:tc>
                <a:tc>
                  <a:txBody>
                    <a:bodyPr/>
                    <a:lstStyle/>
                    <a:p>
                      <a:r>
                        <a:rPr kumimoji="1" lang="en-US" altLang="ja-JP" sz="900" dirty="0"/>
                        <a:t>a2RXPHelper</a:t>
                      </a:r>
                      <a:endParaRPr kumimoji="1" lang="ja-JP" altLang="en-US" sz="900" dirty="0"/>
                    </a:p>
                  </a:txBody>
                  <a:tcPr>
                    <a:solidFill>
                      <a:schemeClr val="bg1"/>
                    </a:solidFill>
                  </a:tcPr>
                </a:tc>
                <a:tc>
                  <a:txBody>
                    <a:bodyPr/>
                    <a:lstStyle/>
                    <a:p>
                      <a:r>
                        <a:rPr kumimoji="1" lang="en-US" altLang="ja-JP" sz="900" dirty="0"/>
                        <a:t>ALAYA tool. Regular expression Helper.</a:t>
                      </a:r>
                      <a:endParaRPr kumimoji="1" lang="ja-JP" altLang="en-US" sz="900" dirty="0"/>
                    </a:p>
                  </a:txBody>
                  <a:tcPr>
                    <a:solidFill>
                      <a:schemeClr val="bg1"/>
                    </a:solidFill>
                  </a:tcPr>
                </a:tc>
                <a:extLst>
                  <a:ext uri="{0D108BD9-81ED-4DB2-BD59-A6C34878D82A}">
                    <a16:rowId xmlns:a16="http://schemas.microsoft.com/office/drawing/2014/main" val="3325141491"/>
                  </a:ext>
                </a:extLst>
              </a:tr>
              <a:tr h="144793">
                <a:tc vMerge="1">
                  <a:txBody>
                    <a:bodyPr/>
                    <a:lstStyle/>
                    <a:p>
                      <a:endParaRPr kumimoji="1" lang="ja-JP" altLang="en-US" sz="900" dirty="0"/>
                    </a:p>
                  </a:txBody>
                  <a:tcPr/>
                </a:tc>
                <a:tc>
                  <a:txBody>
                    <a:bodyPr/>
                    <a:lstStyle/>
                    <a:p>
                      <a:r>
                        <a:rPr kumimoji="1" lang="en-US" altLang="ja-JP" sz="900" dirty="0"/>
                        <a:t>a2SQLHelper</a:t>
                      </a:r>
                      <a:endParaRPr kumimoji="1" lang="ja-JP" altLang="en-US" sz="900" dirty="0"/>
                    </a:p>
                  </a:txBody>
                  <a:tcPr>
                    <a:solidFill>
                      <a:schemeClr val="bg1"/>
                    </a:solidFill>
                  </a:tcPr>
                </a:tc>
                <a:tc>
                  <a:txBody>
                    <a:bodyPr/>
                    <a:lstStyle/>
                    <a:p>
                      <a:r>
                        <a:rPr kumimoji="1" lang="en-US" altLang="ja-JP" sz="900" dirty="0"/>
                        <a:t>ALAYA tool. Support tool for SQL edit and execution.</a:t>
                      </a:r>
                      <a:endParaRPr kumimoji="1" lang="ja-JP" altLang="en-US" sz="900" dirty="0"/>
                    </a:p>
                  </a:txBody>
                  <a:tcPr>
                    <a:solidFill>
                      <a:schemeClr val="bg1"/>
                    </a:solidFill>
                  </a:tcPr>
                </a:tc>
                <a:extLst>
                  <a:ext uri="{0D108BD9-81ED-4DB2-BD59-A6C34878D82A}">
                    <a16:rowId xmlns:a16="http://schemas.microsoft.com/office/drawing/2014/main" val="1286731852"/>
                  </a:ext>
                </a:extLst>
              </a:tr>
              <a:tr h="144793">
                <a:tc vMerge="1">
                  <a:txBody>
                    <a:bodyPr/>
                    <a:lstStyle/>
                    <a:p>
                      <a:endParaRPr kumimoji="1" lang="ja-JP" altLang="en-US" sz="900" dirty="0"/>
                    </a:p>
                  </a:txBody>
                  <a:tcPr/>
                </a:tc>
                <a:tc>
                  <a:txBody>
                    <a:bodyPr/>
                    <a:lstStyle/>
                    <a:p>
                      <a:r>
                        <a:rPr kumimoji="1" lang="en-US" altLang="ja-JP" sz="900" dirty="0"/>
                        <a:t>a2SQLLog</a:t>
                      </a:r>
                      <a:endParaRPr kumimoji="1" lang="ja-JP" altLang="en-US" sz="900" dirty="0"/>
                    </a:p>
                  </a:txBody>
                  <a:tcPr>
                    <a:solidFill>
                      <a:schemeClr val="bg1"/>
                    </a:solidFill>
                  </a:tcPr>
                </a:tc>
                <a:tc>
                  <a:txBody>
                    <a:bodyPr/>
                    <a:lstStyle/>
                    <a:p>
                      <a:r>
                        <a:rPr kumimoji="1" lang="en-US" altLang="ja-JP" sz="900" dirty="0"/>
                        <a:t>Viewer form for SQL Log.</a:t>
                      </a:r>
                      <a:endParaRPr kumimoji="1" lang="ja-JP" altLang="en-US" sz="900" dirty="0"/>
                    </a:p>
                  </a:txBody>
                  <a:tcPr>
                    <a:solidFill>
                      <a:schemeClr val="bg1"/>
                    </a:solidFill>
                  </a:tcPr>
                </a:tc>
                <a:extLst>
                  <a:ext uri="{0D108BD9-81ED-4DB2-BD59-A6C34878D82A}">
                    <a16:rowId xmlns:a16="http://schemas.microsoft.com/office/drawing/2014/main" val="2818827428"/>
                  </a:ext>
                </a:extLst>
              </a:tr>
              <a:tr h="144793">
                <a:tc vMerge="1">
                  <a:txBody>
                    <a:bodyPr/>
                    <a:lstStyle/>
                    <a:p>
                      <a:endParaRPr kumimoji="1" lang="ja-JP" altLang="en-US"/>
                    </a:p>
                  </a:txBody>
                  <a:tcPr/>
                </a:tc>
                <a:tc>
                  <a:txBody>
                    <a:bodyPr/>
                    <a:lstStyle/>
                    <a:p>
                      <a:r>
                        <a:rPr kumimoji="1" lang="en-US" altLang="ja-JP" sz="900" dirty="0"/>
                        <a:t>a2TemplateCF/SF</a:t>
                      </a:r>
                      <a:endParaRPr kumimoji="1" lang="ja-JP" altLang="en-US" sz="900" dirty="0"/>
                    </a:p>
                  </a:txBody>
                  <a:tcPr>
                    <a:solidFill>
                      <a:schemeClr val="bg1"/>
                    </a:solidFill>
                  </a:tcPr>
                </a:tc>
                <a:tc>
                  <a:txBody>
                    <a:bodyPr/>
                    <a:lstStyle/>
                    <a:p>
                      <a:r>
                        <a:rPr kumimoji="1" lang="en-US" altLang="ja-JP" sz="900" dirty="0"/>
                        <a:t>Form template for generating the ALAYA standard form.</a:t>
                      </a:r>
                      <a:endParaRPr kumimoji="1" lang="ja-JP" altLang="en-US" sz="900" dirty="0"/>
                    </a:p>
                  </a:txBody>
                  <a:tcPr>
                    <a:solidFill>
                      <a:schemeClr val="bg1"/>
                    </a:solidFill>
                  </a:tcPr>
                </a:tc>
                <a:extLst>
                  <a:ext uri="{0D108BD9-81ED-4DB2-BD59-A6C34878D82A}">
                    <a16:rowId xmlns:a16="http://schemas.microsoft.com/office/drawing/2014/main" val="1857693532"/>
                  </a:ext>
                </a:extLst>
              </a:tr>
              <a:tr h="144793">
                <a:tc vMerge="1">
                  <a:txBody>
                    <a:bodyPr/>
                    <a:lstStyle/>
                    <a:p>
                      <a:endParaRPr kumimoji="1" lang="ja-JP" altLang="en-US" sz="900" dirty="0"/>
                    </a:p>
                  </a:txBody>
                  <a:tcPr/>
                </a:tc>
                <a:tc>
                  <a:txBody>
                    <a:bodyPr/>
                    <a:lstStyle/>
                    <a:p>
                      <a:r>
                        <a:rPr kumimoji="1" lang="en-US" altLang="ja-JP" sz="900" dirty="0"/>
                        <a:t>a2Version</a:t>
                      </a:r>
                      <a:endParaRPr kumimoji="1" lang="ja-JP" altLang="en-US" sz="900" dirty="0"/>
                    </a:p>
                  </a:txBody>
                  <a:tcPr>
                    <a:solidFill>
                      <a:schemeClr val="bg1"/>
                    </a:solidFill>
                  </a:tcPr>
                </a:tc>
                <a:tc>
                  <a:txBody>
                    <a:bodyPr/>
                    <a:lstStyle/>
                    <a:p>
                      <a:r>
                        <a:rPr kumimoji="1" lang="en-US" altLang="ja-JP" sz="900" dirty="0"/>
                        <a:t>Version info. </a:t>
                      </a:r>
                      <a:endParaRPr kumimoji="1" lang="ja-JP" altLang="en-US" sz="900" dirty="0"/>
                    </a:p>
                  </a:txBody>
                  <a:tcPr>
                    <a:solidFill>
                      <a:schemeClr val="bg1"/>
                    </a:solidFill>
                  </a:tcPr>
                </a:tc>
                <a:extLst>
                  <a:ext uri="{0D108BD9-81ED-4DB2-BD59-A6C34878D82A}">
                    <a16:rowId xmlns:a16="http://schemas.microsoft.com/office/drawing/2014/main" val="2052879498"/>
                  </a:ext>
                </a:extLst>
              </a:tr>
              <a:tr h="144793">
                <a:tc vMerge="1">
                  <a:txBody>
                    <a:bodyPr/>
                    <a:lstStyle/>
                    <a:p>
                      <a:endParaRPr kumimoji="1" lang="ja-JP" altLang="en-US"/>
                    </a:p>
                  </a:txBody>
                  <a:tcPr/>
                </a:tc>
                <a:tc>
                  <a:txBody>
                    <a:bodyPr/>
                    <a:lstStyle/>
                    <a:p>
                      <a:r>
                        <a:rPr kumimoji="1" lang="en-US" altLang="ja-JP" sz="900" dirty="0"/>
                        <a:t>ALAYA Menu</a:t>
                      </a:r>
                      <a:endParaRPr kumimoji="1" lang="ja-JP" altLang="en-US" sz="900" dirty="0"/>
                    </a:p>
                  </a:txBody>
                  <a:tcPr>
                    <a:solidFill>
                      <a:schemeClr val="bg1"/>
                    </a:solidFill>
                  </a:tcPr>
                </a:tc>
                <a:tc>
                  <a:txBody>
                    <a:bodyPr/>
                    <a:lstStyle/>
                    <a:p>
                      <a:r>
                        <a:rPr kumimoji="1" lang="en-US" altLang="ja-JP" sz="900" dirty="0"/>
                        <a:t>Normal mode menu.</a:t>
                      </a:r>
                      <a:endParaRPr kumimoji="1" lang="ja-JP" altLang="en-US" sz="900" dirty="0"/>
                    </a:p>
                  </a:txBody>
                  <a:tcPr>
                    <a:solidFill>
                      <a:schemeClr val="bg1"/>
                    </a:solidFill>
                  </a:tcPr>
                </a:tc>
                <a:extLst>
                  <a:ext uri="{0D108BD9-81ED-4DB2-BD59-A6C34878D82A}">
                    <a16:rowId xmlns:a16="http://schemas.microsoft.com/office/drawing/2014/main" val="3062230892"/>
                  </a:ext>
                </a:extLst>
              </a:tr>
              <a:tr h="144793">
                <a:tc rowSpan="4">
                  <a:txBody>
                    <a:bodyPr/>
                    <a:lstStyle/>
                    <a:p>
                      <a:pPr algn="ctr"/>
                      <a:r>
                        <a:rPr kumimoji="1" lang="en-US" altLang="ja-JP" sz="700" dirty="0"/>
                        <a:t>Modules</a:t>
                      </a:r>
                      <a:endParaRPr kumimoji="1" lang="ja-JP" altLang="en-US" sz="700" dirty="0"/>
                    </a:p>
                  </a:txBody>
                  <a:tcPr vert="eaVert">
                    <a:solidFill>
                      <a:schemeClr val="bg1"/>
                    </a:solidFill>
                  </a:tcPr>
                </a:tc>
                <a:tc>
                  <a:txBody>
                    <a:bodyPr/>
                    <a:lstStyle/>
                    <a:p>
                      <a:r>
                        <a:rPr kumimoji="1" lang="en-US" altLang="ja-JP" sz="900" dirty="0"/>
                        <a:t>a2LibALAYA**</a:t>
                      </a:r>
                      <a:endParaRPr kumimoji="1" lang="ja-JP" altLang="en-US" sz="900" dirty="0"/>
                    </a:p>
                  </a:txBody>
                  <a:tcPr>
                    <a:solidFill>
                      <a:schemeClr val="bg1"/>
                    </a:solidFill>
                  </a:tcPr>
                </a:tc>
                <a:tc>
                  <a:txBody>
                    <a:bodyPr/>
                    <a:lstStyle/>
                    <a:p>
                      <a:r>
                        <a:rPr kumimoji="1" lang="en-US" altLang="ja-JP" sz="900" dirty="0"/>
                        <a:t>ALAYA function library.(</a:t>
                      </a:r>
                      <a:r>
                        <a:rPr kumimoji="1" lang="ja-JP" altLang="en-US" sz="900" dirty="0"/>
                        <a:t>** </a:t>
                      </a:r>
                      <a:r>
                        <a:rPr kumimoji="1" lang="en-US" altLang="ja-JP" sz="900" dirty="0"/>
                        <a:t>is the version number.)</a:t>
                      </a:r>
                      <a:endParaRPr kumimoji="1" lang="ja-JP" altLang="en-US" sz="900" dirty="0"/>
                    </a:p>
                  </a:txBody>
                  <a:tcPr>
                    <a:solidFill>
                      <a:schemeClr val="bg1"/>
                    </a:solidFill>
                  </a:tcPr>
                </a:tc>
                <a:extLst>
                  <a:ext uri="{0D108BD9-81ED-4DB2-BD59-A6C34878D82A}">
                    <a16:rowId xmlns:a16="http://schemas.microsoft.com/office/drawing/2014/main" val="3358867342"/>
                  </a:ext>
                </a:extLst>
              </a:tr>
              <a:tr h="144793">
                <a:tc vMerge="1">
                  <a:txBody>
                    <a:bodyPr/>
                    <a:lstStyle/>
                    <a:p>
                      <a:endParaRPr kumimoji="1" lang="ja-JP" altLang="en-US"/>
                    </a:p>
                  </a:txBody>
                  <a:tcPr/>
                </a:tc>
                <a:tc>
                  <a:txBody>
                    <a:bodyPr/>
                    <a:lstStyle/>
                    <a:p>
                      <a:r>
                        <a:rPr kumimoji="1" lang="en-US" altLang="ja-JP" sz="900" dirty="0"/>
                        <a:t>a2clsEnviron</a:t>
                      </a:r>
                      <a:endParaRPr kumimoji="1" lang="ja-JP" altLang="en-US" sz="900" dirty="0"/>
                    </a:p>
                  </a:txBody>
                  <a:tcPr>
                    <a:solidFill>
                      <a:schemeClr val="bg1"/>
                    </a:solidFill>
                  </a:tcPr>
                </a:tc>
                <a:tc>
                  <a:txBody>
                    <a:bodyPr/>
                    <a:lstStyle/>
                    <a:p>
                      <a:r>
                        <a:rPr kumimoji="1" lang="en-US" altLang="ja-JP" sz="900" dirty="0"/>
                        <a:t>Environment control class module.</a:t>
                      </a:r>
                      <a:endParaRPr kumimoji="1" lang="ja-JP" altLang="en-US" sz="900" dirty="0"/>
                    </a:p>
                  </a:txBody>
                  <a:tcPr>
                    <a:solidFill>
                      <a:schemeClr val="bg1"/>
                    </a:solidFill>
                  </a:tcPr>
                </a:tc>
                <a:extLst>
                  <a:ext uri="{0D108BD9-81ED-4DB2-BD59-A6C34878D82A}">
                    <a16:rowId xmlns:a16="http://schemas.microsoft.com/office/drawing/2014/main" val="3283055138"/>
                  </a:ext>
                </a:extLst>
              </a:tr>
              <a:tr h="144793">
                <a:tc vMerge="1">
                  <a:txBody>
                    <a:bodyPr/>
                    <a:lstStyle/>
                    <a:p>
                      <a:endParaRPr kumimoji="1" lang="ja-JP" altLang="en-US"/>
                    </a:p>
                  </a:txBody>
                  <a:tcPr/>
                </a:tc>
                <a:tc>
                  <a:txBody>
                    <a:bodyPr/>
                    <a:lstStyle/>
                    <a:p>
                      <a:r>
                        <a:rPr kumimoji="1" lang="en-US" altLang="ja-JP" sz="900" dirty="0"/>
                        <a:t>a2clsForm</a:t>
                      </a:r>
                      <a:endParaRPr kumimoji="1" lang="ja-JP" altLang="en-US" sz="900" dirty="0"/>
                    </a:p>
                  </a:txBody>
                  <a:tcPr>
                    <a:solidFill>
                      <a:schemeClr val="bg1"/>
                    </a:solidFill>
                  </a:tcPr>
                </a:tc>
                <a:tc>
                  <a:txBody>
                    <a:bodyPr/>
                    <a:lstStyle/>
                    <a:p>
                      <a:r>
                        <a:rPr kumimoji="1" lang="en-US" altLang="ja-JP" sz="900" dirty="0"/>
                        <a:t>Form control class module.</a:t>
                      </a:r>
                      <a:endParaRPr kumimoji="1" lang="ja-JP" altLang="en-US" sz="900" dirty="0"/>
                    </a:p>
                  </a:txBody>
                  <a:tcPr>
                    <a:solidFill>
                      <a:schemeClr val="bg1"/>
                    </a:solidFill>
                  </a:tcPr>
                </a:tc>
                <a:extLst>
                  <a:ext uri="{0D108BD9-81ED-4DB2-BD59-A6C34878D82A}">
                    <a16:rowId xmlns:a16="http://schemas.microsoft.com/office/drawing/2014/main" val="3133220567"/>
                  </a:ext>
                </a:extLst>
              </a:tr>
              <a:tr h="144793">
                <a:tc vMerge="1">
                  <a:txBody>
                    <a:bodyPr/>
                    <a:lstStyle/>
                    <a:p>
                      <a:endParaRPr kumimoji="1" lang="ja-JP" altLang="en-US"/>
                    </a:p>
                  </a:txBody>
                  <a:tcPr/>
                </a:tc>
                <a:tc>
                  <a:txBody>
                    <a:bodyPr/>
                    <a:lstStyle/>
                    <a:p>
                      <a:r>
                        <a:rPr kumimoji="1" lang="en-US" altLang="ja-JP" sz="900" dirty="0"/>
                        <a:t>a2clsExcel</a:t>
                      </a:r>
                      <a:endParaRPr kumimoji="1" lang="ja-JP" altLang="en-US" sz="900" dirty="0"/>
                    </a:p>
                  </a:txBody>
                  <a:tcPr>
                    <a:solidFill>
                      <a:schemeClr val="bg1"/>
                    </a:solidFill>
                  </a:tcPr>
                </a:tc>
                <a:tc>
                  <a:txBody>
                    <a:bodyPr/>
                    <a:lstStyle/>
                    <a:p>
                      <a:r>
                        <a:rPr kumimoji="1" lang="en-US" altLang="ja-JP" sz="900" dirty="0"/>
                        <a:t>Excel control class module.</a:t>
                      </a:r>
                      <a:endParaRPr kumimoji="1" lang="ja-JP" altLang="en-US" sz="900" dirty="0"/>
                    </a:p>
                  </a:txBody>
                  <a:tcPr>
                    <a:solidFill>
                      <a:schemeClr val="bg1"/>
                    </a:solidFill>
                  </a:tcPr>
                </a:tc>
                <a:extLst>
                  <a:ext uri="{0D108BD9-81ED-4DB2-BD59-A6C34878D82A}">
                    <a16:rowId xmlns:a16="http://schemas.microsoft.com/office/drawing/2014/main" val="4012437056"/>
                  </a:ext>
                </a:extLst>
              </a:tr>
            </a:tbl>
          </a:graphicData>
        </a:graphic>
      </p:graphicFrame>
    </p:spTree>
    <p:extLst>
      <p:ext uri="{BB962C8B-B14F-4D97-AF65-F5344CB8AC3E}">
        <p14:creationId xmlns:p14="http://schemas.microsoft.com/office/powerpoint/2010/main" val="2295582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C2946-0B61-5759-517A-5B5C97D2244B}"/>
              </a:ext>
            </a:extLst>
          </p:cNvPr>
          <p:cNvSpPr>
            <a:spLocks noGrp="1"/>
          </p:cNvSpPr>
          <p:nvPr>
            <p:ph type="title"/>
          </p:nvPr>
        </p:nvSpPr>
        <p:spPr>
          <a:xfrm>
            <a:off x="457198" y="243811"/>
            <a:ext cx="5092701" cy="579004"/>
          </a:xfrm>
        </p:spPr>
        <p:txBody>
          <a:bodyPr>
            <a:normAutofit fontScale="90000"/>
          </a:bodyPr>
          <a:lstStyle/>
          <a:p>
            <a:r>
              <a:rPr kumimoji="1" lang="en-US" altLang="ja-JP" dirty="0"/>
              <a:t>ALAYA Constant and Core Functions</a:t>
            </a:r>
            <a:endParaRPr kumimoji="1" lang="ja-JP" altLang="en-US" dirty="0"/>
          </a:p>
        </p:txBody>
      </p:sp>
      <p:pic>
        <p:nvPicPr>
          <p:cNvPr id="6" name="図 5">
            <a:extLst>
              <a:ext uri="{FF2B5EF4-FFF2-40B4-BE49-F238E27FC236}">
                <a16:creationId xmlns:a16="http://schemas.microsoft.com/office/drawing/2014/main" id="{314B137E-9500-CB02-C13D-1F6EACDD67A2}"/>
              </a:ext>
            </a:extLst>
          </p:cNvPr>
          <p:cNvPicPr>
            <a:picLocks noChangeAspect="1"/>
          </p:cNvPicPr>
          <p:nvPr/>
        </p:nvPicPr>
        <p:blipFill rotWithShape="1">
          <a:blip r:embed="rId2"/>
          <a:srcRect t="4537" r="5424" b="16123"/>
          <a:stretch/>
        </p:blipFill>
        <p:spPr>
          <a:xfrm>
            <a:off x="1034262" y="1068116"/>
            <a:ext cx="4251243" cy="3656176"/>
          </a:xfrm>
          <a:prstGeom prst="rect">
            <a:avLst/>
          </a:prstGeom>
          <a:effectLst>
            <a:softEdge rad="635000"/>
          </a:effectLst>
        </p:spPr>
      </p:pic>
      <p:sp>
        <p:nvSpPr>
          <p:cNvPr id="7" name="テキスト ボックス 6">
            <a:extLst>
              <a:ext uri="{FF2B5EF4-FFF2-40B4-BE49-F238E27FC236}">
                <a16:creationId xmlns:a16="http://schemas.microsoft.com/office/drawing/2014/main" id="{2CF0C3D0-975C-489B-F200-B05F9BE1C393}"/>
              </a:ext>
            </a:extLst>
          </p:cNvPr>
          <p:cNvSpPr txBox="1"/>
          <p:nvPr/>
        </p:nvSpPr>
        <p:spPr>
          <a:xfrm>
            <a:off x="331895" y="822815"/>
            <a:ext cx="6095999" cy="646331"/>
          </a:xfrm>
          <a:prstGeom prst="rect">
            <a:avLst/>
          </a:prstGeom>
          <a:noFill/>
          <a:ln>
            <a:noFill/>
          </a:ln>
        </p:spPr>
        <p:txBody>
          <a:bodyPr wrap="square" rtlCol="0">
            <a:spAutoFit/>
          </a:bodyPr>
          <a:lstStyle/>
          <a:p>
            <a:r>
              <a:rPr kumimoji="1" lang="ja-JP" altLang="en-US" sz="1200" dirty="0"/>
              <a:t>　</a:t>
            </a:r>
            <a:r>
              <a:rPr lang="en-US" altLang="ja-JP" sz="1200" dirty="0"/>
              <a:t>The module a2LibALAYA defines all ALAYA constants and ALAYA functions. This section introduces the ALAYA constants and the primary functions commonly used for form initialization and other core operations.</a:t>
            </a:r>
            <a:endParaRPr kumimoji="1" lang="en-US" altLang="ja-JP" sz="1200" dirty="0"/>
          </a:p>
        </p:txBody>
      </p:sp>
      <p:sp>
        <p:nvSpPr>
          <p:cNvPr id="9" name="テキスト ボックス 8">
            <a:extLst>
              <a:ext uri="{FF2B5EF4-FFF2-40B4-BE49-F238E27FC236}">
                <a16:creationId xmlns:a16="http://schemas.microsoft.com/office/drawing/2014/main" id="{E704D18E-6DD5-1684-6747-42BE23D3A703}"/>
              </a:ext>
            </a:extLst>
          </p:cNvPr>
          <p:cNvSpPr txBox="1"/>
          <p:nvPr/>
        </p:nvSpPr>
        <p:spPr>
          <a:xfrm>
            <a:off x="311093" y="4229091"/>
            <a:ext cx="6095999" cy="1446550"/>
          </a:xfrm>
          <a:prstGeom prst="rect">
            <a:avLst/>
          </a:prstGeom>
          <a:noFill/>
          <a:ln>
            <a:noFill/>
          </a:ln>
        </p:spPr>
        <p:txBody>
          <a:bodyPr wrap="square" rtlCol="0">
            <a:spAutoFit/>
          </a:bodyPr>
          <a:lstStyle/>
          <a:p>
            <a:r>
              <a:rPr kumimoji="1" lang="en-US" altLang="ja-JP" sz="1100" b="1" dirty="0"/>
              <a:t>ALAYA Constants</a:t>
            </a:r>
          </a:p>
          <a:p>
            <a:r>
              <a:rPr kumimoji="1" lang="ja-JP" altLang="en-US" sz="1100" dirty="0"/>
              <a:t>　</a:t>
            </a:r>
            <a:r>
              <a:rPr kumimoji="1" lang="en-US" altLang="ja-JP" sz="1100" dirty="0"/>
              <a:t>ALAYA Constants are global constants whose name begins with the prefix ‘a2_’. They define Items such as:</a:t>
            </a:r>
          </a:p>
          <a:p>
            <a:pPr marL="171450" indent="-171450">
              <a:buFont typeface="Arial" panose="020B0604020202020204" pitchFamily="34" charset="0"/>
              <a:buChar char="•"/>
            </a:pPr>
            <a:r>
              <a:rPr kumimoji="1" lang="en-US" altLang="ja-JP" sz="1100" dirty="0" err="1"/>
              <a:t>TableNames</a:t>
            </a:r>
            <a:endParaRPr kumimoji="1" lang="en-US" altLang="ja-JP" sz="1100" dirty="0"/>
          </a:p>
          <a:p>
            <a:pPr marL="171450" indent="-171450">
              <a:buFont typeface="Arial" panose="020B0604020202020204" pitchFamily="34" charset="0"/>
              <a:buChar char="•"/>
            </a:pPr>
            <a:r>
              <a:rPr kumimoji="1" lang="en-US" altLang="ja-JP" sz="1100" dirty="0" err="1"/>
              <a:t>FormNames</a:t>
            </a:r>
            <a:endParaRPr kumimoji="1" lang="en-US" altLang="ja-JP" sz="1100" dirty="0"/>
          </a:p>
          <a:p>
            <a:pPr marL="171450" indent="-171450">
              <a:buFont typeface="Arial" panose="020B0604020202020204" pitchFamily="34" charset="0"/>
              <a:buChar char="•"/>
            </a:pPr>
            <a:r>
              <a:rPr kumimoji="1" lang="en-US" altLang="ja-JP" sz="1100" dirty="0"/>
              <a:t>Background colors used in conditional formatting.</a:t>
            </a:r>
          </a:p>
          <a:p>
            <a:r>
              <a:rPr kumimoji="1" lang="en-US" altLang="ja-JP" sz="1100" dirty="0"/>
              <a:t>These constants provide a unified naming scheme and ensure consistency across all ALAYA modules.</a:t>
            </a:r>
          </a:p>
        </p:txBody>
      </p:sp>
      <p:graphicFrame>
        <p:nvGraphicFramePr>
          <p:cNvPr id="10" name="表 14">
            <a:extLst>
              <a:ext uri="{FF2B5EF4-FFF2-40B4-BE49-F238E27FC236}">
                <a16:creationId xmlns:a16="http://schemas.microsoft.com/office/drawing/2014/main" id="{9FAAEFE2-1D0D-B37E-9C79-C0FD49718994}"/>
              </a:ext>
            </a:extLst>
          </p:cNvPr>
          <p:cNvGraphicFramePr>
            <a:graphicFrameLocks noGrp="1"/>
          </p:cNvGraphicFramePr>
          <p:nvPr/>
        </p:nvGraphicFramePr>
        <p:xfrm>
          <a:off x="403858" y="5710069"/>
          <a:ext cx="5772092" cy="3395831"/>
        </p:xfrm>
        <a:graphic>
          <a:graphicData uri="http://schemas.openxmlformats.org/drawingml/2006/table">
            <a:tbl>
              <a:tblPr firstRow="1" bandRow="1">
                <a:tableStyleId>{5940675A-B579-460E-94D1-54222C63F5DA}</a:tableStyleId>
              </a:tblPr>
              <a:tblGrid>
                <a:gridCol w="1225492">
                  <a:extLst>
                    <a:ext uri="{9D8B030D-6E8A-4147-A177-3AD203B41FA5}">
                      <a16:colId xmlns:a16="http://schemas.microsoft.com/office/drawing/2014/main" val="2719812237"/>
                    </a:ext>
                  </a:extLst>
                </a:gridCol>
                <a:gridCol w="4546600">
                  <a:extLst>
                    <a:ext uri="{9D8B030D-6E8A-4147-A177-3AD203B41FA5}">
                      <a16:colId xmlns:a16="http://schemas.microsoft.com/office/drawing/2014/main" val="3780156597"/>
                    </a:ext>
                  </a:extLst>
                </a:gridCol>
              </a:tblGrid>
              <a:tr h="144793">
                <a:tc>
                  <a:txBody>
                    <a:bodyPr/>
                    <a:lstStyle/>
                    <a:p>
                      <a:r>
                        <a:rPr kumimoji="1" lang="en-US" altLang="ja-JP" sz="900" dirty="0"/>
                        <a:t>Constant</a:t>
                      </a:r>
                      <a:r>
                        <a:rPr kumimoji="1" lang="ja-JP" altLang="en-US" sz="900" dirty="0"/>
                        <a:t> </a:t>
                      </a:r>
                      <a:r>
                        <a:rPr kumimoji="1" lang="en-US" altLang="ja-JP" sz="900" dirty="0"/>
                        <a:t>Name</a:t>
                      </a:r>
                      <a:endParaRPr kumimoji="1" lang="ja-JP" altLang="en-US" sz="900" dirty="0"/>
                    </a:p>
                  </a:txBody>
                  <a:tcPr>
                    <a:solidFill>
                      <a:schemeClr val="accent4">
                        <a:lumMod val="20000"/>
                        <a:lumOff val="80000"/>
                      </a:schemeClr>
                    </a:solidFill>
                  </a:tcPr>
                </a:tc>
                <a:tc>
                  <a:txBody>
                    <a:bodyPr/>
                    <a:lstStyle/>
                    <a:p>
                      <a:r>
                        <a:rPr kumimoji="1" lang="en-US" altLang="ja-JP" sz="900" dirty="0"/>
                        <a:t>Meaning</a:t>
                      </a:r>
                      <a:endParaRPr kumimoji="1" lang="ja-JP" altLang="en-US" sz="900" dirty="0"/>
                    </a:p>
                  </a:txBody>
                  <a:tcPr>
                    <a:solidFill>
                      <a:schemeClr val="accent4">
                        <a:lumMod val="20000"/>
                        <a:lumOff val="80000"/>
                      </a:schemeClr>
                    </a:solidFill>
                  </a:tcPr>
                </a:tc>
                <a:extLst>
                  <a:ext uri="{0D108BD9-81ED-4DB2-BD59-A6C34878D82A}">
                    <a16:rowId xmlns:a16="http://schemas.microsoft.com/office/drawing/2014/main" val="530081702"/>
                  </a:ext>
                </a:extLst>
              </a:tr>
              <a:tr h="203356">
                <a:tc>
                  <a:txBody>
                    <a:bodyPr/>
                    <a:lstStyle/>
                    <a:p>
                      <a:r>
                        <a:rPr kumimoji="1" lang="en-US" altLang="ja-JP" sz="900" dirty="0"/>
                        <a:t>a2_TBL_</a:t>
                      </a:r>
                      <a:r>
                        <a:rPr kumimoji="1" lang="ja-JP" altLang="en-US" sz="900" dirty="0"/>
                        <a:t>**</a:t>
                      </a:r>
                    </a:p>
                  </a:txBody>
                  <a:tcPr>
                    <a:solidFill>
                      <a:schemeClr val="bg1"/>
                    </a:solidFill>
                  </a:tcPr>
                </a:tc>
                <a:tc>
                  <a:txBody>
                    <a:bodyPr/>
                    <a:lstStyle/>
                    <a:p>
                      <a:r>
                        <a:rPr kumimoji="1" lang="en-US" altLang="ja-JP" sz="900" dirty="0"/>
                        <a:t>Table Name. </a:t>
                      </a:r>
                      <a:endParaRPr kumimoji="1" lang="ja-JP" altLang="en-US" sz="900" dirty="0"/>
                    </a:p>
                  </a:txBody>
                  <a:tcPr>
                    <a:solidFill>
                      <a:schemeClr val="bg1"/>
                    </a:solidFill>
                  </a:tcPr>
                </a:tc>
                <a:extLst>
                  <a:ext uri="{0D108BD9-81ED-4DB2-BD59-A6C34878D82A}">
                    <a16:rowId xmlns:a16="http://schemas.microsoft.com/office/drawing/2014/main" val="1137115379"/>
                  </a:ext>
                </a:extLst>
              </a:tr>
              <a:tr h="225911">
                <a:tc>
                  <a:txBody>
                    <a:bodyPr/>
                    <a:lstStyle/>
                    <a:p>
                      <a:r>
                        <a:rPr kumimoji="1" lang="en-US" altLang="ja-JP" sz="900" dirty="0"/>
                        <a:t>a2_FRM_**</a:t>
                      </a:r>
                      <a:endParaRPr kumimoji="1" lang="ja-JP" altLang="en-US" sz="900" dirty="0"/>
                    </a:p>
                  </a:txBody>
                  <a:tcPr>
                    <a:solidFill>
                      <a:schemeClr val="bg1"/>
                    </a:solidFill>
                  </a:tcPr>
                </a:tc>
                <a:tc>
                  <a:txBody>
                    <a:bodyPr/>
                    <a:lstStyle/>
                    <a:p>
                      <a:r>
                        <a:rPr kumimoji="1" lang="en-US" altLang="ja-JP" sz="900" dirty="0"/>
                        <a:t>Form Name.  </a:t>
                      </a:r>
                      <a:endParaRPr kumimoji="1" lang="ja-JP" altLang="en-US" sz="900" dirty="0"/>
                    </a:p>
                  </a:txBody>
                  <a:tcPr>
                    <a:solidFill>
                      <a:schemeClr val="bg1"/>
                    </a:solidFill>
                  </a:tcPr>
                </a:tc>
                <a:extLst>
                  <a:ext uri="{0D108BD9-81ED-4DB2-BD59-A6C34878D82A}">
                    <a16:rowId xmlns:a16="http://schemas.microsoft.com/office/drawing/2014/main" val="153830900"/>
                  </a:ext>
                </a:extLst>
              </a:tr>
              <a:tr h="241151">
                <a:tc>
                  <a:txBody>
                    <a:bodyPr/>
                    <a:lstStyle/>
                    <a:p>
                      <a:r>
                        <a:rPr kumimoji="1" lang="en-US" altLang="ja-JP" sz="900" dirty="0"/>
                        <a:t>a2_Col_**</a:t>
                      </a:r>
                      <a:endParaRPr kumimoji="1" lang="ja-JP" altLang="en-US" sz="900" dirty="0"/>
                    </a:p>
                  </a:txBody>
                  <a:tcPr>
                    <a:solidFill>
                      <a:schemeClr val="bg1"/>
                    </a:solidFill>
                  </a:tcPr>
                </a:tc>
                <a:tc>
                  <a:txBody>
                    <a:bodyPr/>
                    <a:lstStyle/>
                    <a:p>
                      <a:r>
                        <a:rPr kumimoji="1" lang="en-US" altLang="ja-JP" sz="900" dirty="0"/>
                        <a:t>Color number used in conditional formatting and so on.</a:t>
                      </a:r>
                      <a:endParaRPr kumimoji="1" lang="ja-JP" altLang="en-US" sz="900" dirty="0"/>
                    </a:p>
                  </a:txBody>
                  <a:tcPr>
                    <a:solidFill>
                      <a:schemeClr val="bg1"/>
                    </a:solidFill>
                  </a:tcPr>
                </a:tc>
                <a:extLst>
                  <a:ext uri="{0D108BD9-81ED-4DB2-BD59-A6C34878D82A}">
                    <a16:rowId xmlns:a16="http://schemas.microsoft.com/office/drawing/2014/main" val="1299839687"/>
                  </a:ext>
                </a:extLst>
              </a:tr>
              <a:tr h="222295">
                <a:tc gridSpan="2">
                  <a:txBody>
                    <a:bodyPr/>
                    <a:lstStyle/>
                    <a:p>
                      <a:r>
                        <a:rPr kumimoji="1" lang="en-US" altLang="ja-JP" sz="900" dirty="0"/>
                        <a:t>Table Type</a:t>
                      </a:r>
                    </a:p>
                  </a:txBody>
                  <a:tcPr>
                    <a:solidFill>
                      <a:schemeClr val="bg1"/>
                    </a:solidFill>
                  </a:tcPr>
                </a:tc>
                <a:tc hMerge="1">
                  <a:txBody>
                    <a:bodyPr/>
                    <a:lstStyle/>
                    <a:p>
                      <a:endParaRPr kumimoji="1" lang="ja-JP" altLang="en-US"/>
                    </a:p>
                  </a:txBody>
                  <a:tcPr/>
                </a:tc>
                <a:extLst>
                  <a:ext uri="{0D108BD9-81ED-4DB2-BD59-A6C34878D82A}">
                    <a16:rowId xmlns:a16="http://schemas.microsoft.com/office/drawing/2014/main" val="3576346254"/>
                  </a:ext>
                </a:extLst>
              </a:tr>
              <a:tr h="628695">
                <a:tc>
                  <a:txBody>
                    <a:bodyPr/>
                    <a:lstStyle/>
                    <a:p>
                      <a:r>
                        <a:rPr kumimoji="1" lang="en-US" altLang="ja-JP" sz="900" dirty="0"/>
                        <a:t>a2_LinkTable</a:t>
                      </a:r>
                    </a:p>
                    <a:p>
                      <a:r>
                        <a:rPr kumimoji="1" lang="en-US" altLang="ja-JP" sz="900" dirty="0"/>
                        <a:t>a2_LocalTable</a:t>
                      </a:r>
                    </a:p>
                    <a:p>
                      <a:r>
                        <a:rPr kumimoji="1" lang="en-US" altLang="ja-JP" sz="900" dirty="0"/>
                        <a:t>a2_SystemTable</a:t>
                      </a:r>
                    </a:p>
                    <a:p>
                      <a:r>
                        <a:rPr kumimoji="1" lang="en-US" altLang="ja-JP" sz="900" dirty="0"/>
                        <a:t>a2_NonTable</a:t>
                      </a:r>
                      <a:endParaRPr kumimoji="1" lang="ja-JP" altLang="en-US" sz="900" dirty="0"/>
                    </a:p>
                  </a:txBody>
                  <a:tcPr>
                    <a:solidFill>
                      <a:schemeClr val="bg1"/>
                    </a:solidFill>
                  </a:tcPr>
                </a:tc>
                <a:tc>
                  <a:txBody>
                    <a:bodyPr/>
                    <a:lstStyle/>
                    <a:p>
                      <a:r>
                        <a:rPr kumimoji="1" lang="en-US" altLang="ja-JP" sz="900" dirty="0"/>
                        <a:t>The type is a Link Table</a:t>
                      </a:r>
                    </a:p>
                    <a:p>
                      <a:r>
                        <a:rPr kumimoji="1" lang="en-US" altLang="ja-JP" sz="900" dirty="0"/>
                        <a:t>The type is a Local Table.</a:t>
                      </a:r>
                    </a:p>
                    <a:p>
                      <a:r>
                        <a:rPr kumimoji="1" lang="en-US" altLang="ja-JP" sz="900" dirty="0"/>
                        <a:t>The type is a System Table.</a:t>
                      </a:r>
                    </a:p>
                    <a:p>
                      <a:r>
                        <a:rPr kumimoji="1" lang="en-US" altLang="ja-JP" sz="900" dirty="0"/>
                        <a:t>The type is Not table.</a:t>
                      </a:r>
                      <a:endParaRPr kumimoji="1" lang="ja-JP" altLang="en-US" sz="900" dirty="0"/>
                    </a:p>
                  </a:txBody>
                  <a:tcPr>
                    <a:solidFill>
                      <a:schemeClr val="bg1"/>
                    </a:solidFill>
                  </a:tcPr>
                </a:tc>
                <a:extLst>
                  <a:ext uri="{0D108BD9-81ED-4DB2-BD59-A6C34878D82A}">
                    <a16:rowId xmlns:a16="http://schemas.microsoft.com/office/drawing/2014/main" val="1345748245"/>
                  </a:ext>
                </a:extLst>
              </a:tr>
              <a:tr h="209550">
                <a:tc gridSpan="2">
                  <a:txBody>
                    <a:bodyPr/>
                    <a:lstStyle/>
                    <a:p>
                      <a:r>
                        <a:rPr kumimoji="1" lang="en-US" altLang="ja-JP" sz="900" dirty="0"/>
                        <a:t>Form Type</a:t>
                      </a:r>
                    </a:p>
                  </a:txBody>
                  <a:tcPr>
                    <a:solidFill>
                      <a:schemeClr val="bg1"/>
                    </a:solidFill>
                  </a:tcPr>
                </a:tc>
                <a:tc hMerge="1">
                  <a:txBody>
                    <a:bodyPr/>
                    <a:lstStyle/>
                    <a:p>
                      <a:endParaRPr kumimoji="1" lang="ja-JP" altLang="en-US"/>
                    </a:p>
                  </a:txBody>
                  <a:tcPr/>
                </a:tc>
                <a:extLst>
                  <a:ext uri="{0D108BD9-81ED-4DB2-BD59-A6C34878D82A}">
                    <a16:rowId xmlns:a16="http://schemas.microsoft.com/office/drawing/2014/main" val="4015782726"/>
                  </a:ext>
                </a:extLst>
              </a:tr>
              <a:tr h="450850">
                <a:tc>
                  <a:txBody>
                    <a:bodyPr/>
                    <a:lstStyle/>
                    <a:p>
                      <a:r>
                        <a:rPr kumimoji="1" lang="en-US" altLang="ja-JP" sz="900" dirty="0"/>
                        <a:t>a2_SingleForm</a:t>
                      </a:r>
                    </a:p>
                    <a:p>
                      <a:r>
                        <a:rPr kumimoji="1" lang="en-US" altLang="ja-JP" sz="900" dirty="0"/>
                        <a:t>a2_ContinuousForm</a:t>
                      </a:r>
                    </a:p>
                    <a:p>
                      <a:r>
                        <a:rPr kumimoji="1" lang="en-US" altLang="ja-JP" sz="900" dirty="0"/>
                        <a:t>a2_OtherForm</a:t>
                      </a:r>
                    </a:p>
                  </a:txBody>
                  <a:tcPr>
                    <a:solidFill>
                      <a:schemeClr val="bg1"/>
                    </a:solidFill>
                  </a:tcPr>
                </a:tc>
                <a:tc>
                  <a:txBody>
                    <a:bodyPr/>
                    <a:lstStyle/>
                    <a:p>
                      <a:r>
                        <a:rPr kumimoji="1" lang="en-US" altLang="ja-JP" sz="900" dirty="0"/>
                        <a:t>The form is a single form.</a:t>
                      </a:r>
                    </a:p>
                    <a:p>
                      <a:r>
                        <a:rPr kumimoji="1" lang="en-US" altLang="ja-JP" sz="900" dirty="0"/>
                        <a:t>The type is a continuous form.</a:t>
                      </a:r>
                    </a:p>
                    <a:p>
                      <a:r>
                        <a:rPr kumimoji="1" lang="en-US" altLang="ja-JP" sz="900" dirty="0"/>
                        <a:t>Other type of form. (sub form, complexed form, dialog form, etc.)</a:t>
                      </a:r>
                    </a:p>
                  </a:txBody>
                  <a:tcPr>
                    <a:solidFill>
                      <a:schemeClr val="bg1"/>
                    </a:solidFill>
                  </a:tcPr>
                </a:tc>
                <a:extLst>
                  <a:ext uri="{0D108BD9-81ED-4DB2-BD59-A6C34878D82A}">
                    <a16:rowId xmlns:a16="http://schemas.microsoft.com/office/drawing/2014/main" val="1930572549"/>
                  </a:ext>
                </a:extLst>
              </a:tr>
              <a:tr h="144793">
                <a:tc gridSpan="2">
                  <a:txBody>
                    <a:bodyPr/>
                    <a:lstStyle/>
                    <a:p>
                      <a:r>
                        <a:rPr kumimoji="1" lang="en-US" altLang="ja-JP" sz="900" dirty="0"/>
                        <a:t>Edit mode to initialize a form.</a:t>
                      </a:r>
                    </a:p>
                  </a:txBody>
                  <a:tcPr>
                    <a:solidFill>
                      <a:schemeClr val="bg1"/>
                    </a:solidFill>
                  </a:tcPr>
                </a:tc>
                <a:tc hMerge="1">
                  <a:txBody>
                    <a:bodyPr/>
                    <a:lstStyle/>
                    <a:p>
                      <a:endParaRPr kumimoji="1" lang="ja-JP" altLang="en-US"/>
                    </a:p>
                  </a:txBody>
                  <a:tcPr/>
                </a:tc>
                <a:extLst>
                  <a:ext uri="{0D108BD9-81ED-4DB2-BD59-A6C34878D82A}">
                    <a16:rowId xmlns:a16="http://schemas.microsoft.com/office/drawing/2014/main" val="2841323334"/>
                  </a:ext>
                </a:extLst>
              </a:tr>
              <a:tr h="144793">
                <a:tc>
                  <a:txBody>
                    <a:bodyPr/>
                    <a:lstStyle/>
                    <a:p>
                      <a:r>
                        <a:rPr kumimoji="1" lang="en-US" altLang="ja-JP" sz="900" dirty="0"/>
                        <a:t>a2_EditClone</a:t>
                      </a:r>
                    </a:p>
                    <a:p>
                      <a:r>
                        <a:rPr kumimoji="1" lang="en-US" altLang="ja-JP" sz="900" dirty="0"/>
                        <a:t>a2_EditLocal</a:t>
                      </a:r>
                    </a:p>
                    <a:p>
                      <a:r>
                        <a:rPr kumimoji="1" lang="en-US" altLang="ja-JP" sz="900" dirty="0"/>
                        <a:t>a2_EditShare</a:t>
                      </a:r>
                    </a:p>
                    <a:p>
                      <a:r>
                        <a:rPr kumimoji="1" lang="en-US" altLang="ja-JP" sz="900" dirty="0"/>
                        <a:t>a2_EditUnbound</a:t>
                      </a:r>
                    </a:p>
                  </a:txBody>
                  <a:tcPr>
                    <a:solidFill>
                      <a:schemeClr val="bg1"/>
                    </a:solidFill>
                  </a:tcPr>
                </a:tc>
                <a:tc>
                  <a:txBody>
                    <a:bodyPr/>
                    <a:lstStyle/>
                    <a:p>
                      <a:r>
                        <a:rPr kumimoji="1" lang="en-US" altLang="ja-JP" sz="900" dirty="0"/>
                        <a:t>Edit the Clone data from shared table to the local table.(Default mode)</a:t>
                      </a:r>
                    </a:p>
                    <a:p>
                      <a:r>
                        <a:rPr kumimoji="1" lang="en-US" altLang="ja-JP" sz="900" dirty="0"/>
                        <a:t>Edit the table as a local table.</a:t>
                      </a:r>
                    </a:p>
                    <a:p>
                      <a:r>
                        <a:rPr kumimoji="1" lang="en-US" altLang="ja-JP" sz="900" dirty="0"/>
                        <a:t>Open the shared table direct with read only mode.(Not recommended).</a:t>
                      </a:r>
                    </a:p>
                    <a:p>
                      <a:r>
                        <a:rPr kumimoji="1" lang="en-US" altLang="ja-JP" sz="900" dirty="0"/>
                        <a:t>Form is used as an unbound single form.</a:t>
                      </a:r>
                    </a:p>
                  </a:txBody>
                  <a:tcPr>
                    <a:solidFill>
                      <a:schemeClr val="bg1"/>
                    </a:solidFill>
                  </a:tcPr>
                </a:tc>
                <a:extLst>
                  <a:ext uri="{0D108BD9-81ED-4DB2-BD59-A6C34878D82A}">
                    <a16:rowId xmlns:a16="http://schemas.microsoft.com/office/drawing/2014/main" val="3325141491"/>
                  </a:ext>
                </a:extLst>
              </a:tr>
            </a:tbl>
          </a:graphicData>
        </a:graphic>
      </p:graphicFrame>
    </p:spTree>
    <p:extLst>
      <p:ext uri="{BB962C8B-B14F-4D97-AF65-F5344CB8AC3E}">
        <p14:creationId xmlns:p14="http://schemas.microsoft.com/office/powerpoint/2010/main" val="160334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A595F461-641C-3566-C183-3CCAF8C95CE1}"/>
              </a:ext>
            </a:extLst>
          </p:cNvPr>
          <p:cNvSpPr txBox="1"/>
          <p:nvPr/>
        </p:nvSpPr>
        <p:spPr>
          <a:xfrm>
            <a:off x="320744" y="353377"/>
            <a:ext cx="6095999" cy="938719"/>
          </a:xfrm>
          <a:prstGeom prst="rect">
            <a:avLst/>
          </a:prstGeom>
          <a:noFill/>
          <a:ln>
            <a:noFill/>
          </a:ln>
        </p:spPr>
        <p:txBody>
          <a:bodyPr wrap="square" rtlCol="0">
            <a:spAutoFit/>
          </a:bodyPr>
          <a:lstStyle/>
          <a:p>
            <a:r>
              <a:rPr kumimoji="1" lang="en-US" altLang="ja-JP" sz="1100" dirty="0"/>
              <a:t>ALAYA Functions</a:t>
            </a:r>
          </a:p>
          <a:p>
            <a:endParaRPr kumimoji="1" lang="en-US" altLang="ja-JP" sz="1100" dirty="0"/>
          </a:p>
          <a:p>
            <a:r>
              <a:rPr kumimoji="1" lang="en-US" altLang="ja-JP" sz="1100" dirty="0"/>
              <a:t> ALAYA Functions begin with the prefix ‘a2’(without underscore).</a:t>
            </a:r>
          </a:p>
          <a:p>
            <a:r>
              <a:rPr lang="en-US" altLang="ja-JP" sz="1100" dirty="0"/>
              <a:t>These functions implement the core behavior of the ALAYA framework and are used throughout form initialization, data handling, and system operations.</a:t>
            </a:r>
          </a:p>
        </p:txBody>
      </p:sp>
      <p:graphicFrame>
        <p:nvGraphicFramePr>
          <p:cNvPr id="7" name="表 14">
            <a:extLst>
              <a:ext uri="{FF2B5EF4-FFF2-40B4-BE49-F238E27FC236}">
                <a16:creationId xmlns:a16="http://schemas.microsoft.com/office/drawing/2014/main" id="{D198549B-9BD6-95DC-1387-336F13A870B4}"/>
              </a:ext>
            </a:extLst>
          </p:cNvPr>
          <p:cNvGraphicFramePr>
            <a:graphicFrameLocks noGrp="1"/>
          </p:cNvGraphicFramePr>
          <p:nvPr/>
        </p:nvGraphicFramePr>
        <p:xfrm>
          <a:off x="382615" y="1389953"/>
          <a:ext cx="5772092" cy="1508760"/>
        </p:xfrm>
        <a:graphic>
          <a:graphicData uri="http://schemas.openxmlformats.org/drawingml/2006/table">
            <a:tbl>
              <a:tblPr firstRow="1" bandRow="1">
                <a:tableStyleId>{5940675A-B579-460E-94D1-54222C63F5DA}</a:tableStyleId>
              </a:tblPr>
              <a:tblGrid>
                <a:gridCol w="1225492">
                  <a:extLst>
                    <a:ext uri="{9D8B030D-6E8A-4147-A177-3AD203B41FA5}">
                      <a16:colId xmlns:a16="http://schemas.microsoft.com/office/drawing/2014/main" val="2719812237"/>
                    </a:ext>
                  </a:extLst>
                </a:gridCol>
                <a:gridCol w="4546600">
                  <a:extLst>
                    <a:ext uri="{9D8B030D-6E8A-4147-A177-3AD203B41FA5}">
                      <a16:colId xmlns:a16="http://schemas.microsoft.com/office/drawing/2014/main" val="3780156597"/>
                    </a:ext>
                  </a:extLst>
                </a:gridCol>
              </a:tblGrid>
              <a:tr h="144793">
                <a:tc>
                  <a:txBody>
                    <a:bodyPr/>
                    <a:lstStyle/>
                    <a:p>
                      <a:r>
                        <a:rPr kumimoji="1" lang="en-US" altLang="ja-JP" sz="900" dirty="0"/>
                        <a:t>Function </a:t>
                      </a:r>
                      <a:endParaRPr kumimoji="1" lang="ja-JP" altLang="en-US" sz="900" dirty="0"/>
                    </a:p>
                  </a:txBody>
                  <a:tcPr>
                    <a:solidFill>
                      <a:schemeClr val="accent4">
                        <a:lumMod val="20000"/>
                        <a:lumOff val="80000"/>
                      </a:schemeClr>
                    </a:solidFill>
                  </a:tcPr>
                </a:tc>
                <a:tc>
                  <a:txBody>
                    <a:bodyPr/>
                    <a:lstStyle/>
                    <a:p>
                      <a:r>
                        <a:rPr kumimoji="1" lang="en-US" altLang="ja-JP" sz="900" dirty="0"/>
                        <a:t>Meanings</a:t>
                      </a:r>
                      <a:endParaRPr kumimoji="1" lang="ja-JP" altLang="en-US" sz="900" dirty="0"/>
                    </a:p>
                  </a:txBody>
                  <a:tcPr>
                    <a:solidFill>
                      <a:schemeClr val="accent4">
                        <a:lumMod val="20000"/>
                        <a:lumOff val="80000"/>
                      </a:schemeClr>
                    </a:solidFill>
                  </a:tcPr>
                </a:tc>
                <a:extLst>
                  <a:ext uri="{0D108BD9-81ED-4DB2-BD59-A6C34878D82A}">
                    <a16:rowId xmlns:a16="http://schemas.microsoft.com/office/drawing/2014/main" val="530081702"/>
                  </a:ext>
                </a:extLst>
              </a:tr>
              <a:tr h="222295">
                <a:tc gridSpan="2">
                  <a:txBody>
                    <a:bodyPr/>
                    <a:lstStyle/>
                    <a:p>
                      <a:r>
                        <a:rPr kumimoji="1" lang="en-US" altLang="ja-JP" sz="900" dirty="0"/>
                        <a:t>Environment Setting functions.</a:t>
                      </a:r>
                    </a:p>
                  </a:txBody>
                  <a:tcPr>
                    <a:solidFill>
                      <a:schemeClr val="bg1"/>
                    </a:solidFill>
                  </a:tcPr>
                </a:tc>
                <a:tc hMerge="1">
                  <a:txBody>
                    <a:bodyPr/>
                    <a:lstStyle/>
                    <a:p>
                      <a:endParaRPr kumimoji="1" lang="ja-JP" altLang="en-US"/>
                    </a:p>
                  </a:txBody>
                  <a:tcPr/>
                </a:tc>
                <a:extLst>
                  <a:ext uri="{0D108BD9-81ED-4DB2-BD59-A6C34878D82A}">
                    <a16:rowId xmlns:a16="http://schemas.microsoft.com/office/drawing/2014/main" val="546673871"/>
                  </a:ext>
                </a:extLst>
              </a:tr>
              <a:tr h="222295">
                <a:tc>
                  <a:txBody>
                    <a:bodyPr/>
                    <a:lstStyle/>
                    <a:p>
                      <a:r>
                        <a:rPr kumimoji="1" lang="en-US" altLang="ja-JP" sz="900" dirty="0"/>
                        <a:t>a2Init</a:t>
                      </a:r>
                    </a:p>
                    <a:p>
                      <a:r>
                        <a:rPr kumimoji="1" lang="en-US" altLang="ja-JP" sz="900" dirty="0"/>
                        <a:t>a2Dbg</a:t>
                      </a:r>
                    </a:p>
                    <a:p>
                      <a:r>
                        <a:rPr kumimoji="1" lang="en-US" altLang="ja-JP" sz="900" dirty="0"/>
                        <a:t>TRON</a:t>
                      </a:r>
                    </a:p>
                    <a:p>
                      <a:r>
                        <a:rPr kumimoji="1" lang="en-US" altLang="ja-JP" sz="900" dirty="0"/>
                        <a:t>TROFF</a:t>
                      </a:r>
                    </a:p>
                    <a:p>
                      <a:r>
                        <a:rPr kumimoji="1" lang="en-US" altLang="ja-JP" sz="900" dirty="0"/>
                        <a:t>a2Progress</a:t>
                      </a:r>
                    </a:p>
                    <a:p>
                      <a:r>
                        <a:rPr kumimoji="1" lang="en-US" altLang="ja-JP" sz="900" dirty="0"/>
                        <a:t>:</a:t>
                      </a:r>
                    </a:p>
                  </a:txBody>
                  <a:tcPr>
                    <a:solidFill>
                      <a:schemeClr val="bg1"/>
                    </a:solidFill>
                  </a:tcPr>
                </a:tc>
                <a:tc>
                  <a:txBody>
                    <a:bodyPr/>
                    <a:lstStyle/>
                    <a:p>
                      <a:r>
                        <a:rPr kumimoji="1" lang="en-US" altLang="ja-JP" sz="900" dirty="0"/>
                        <a:t>Initialize ALAYA Environment include </a:t>
                      </a:r>
                      <a:r>
                        <a:rPr kumimoji="1" lang="en-US" altLang="ja-JP" sz="900" dirty="0" err="1"/>
                        <a:t>MyEnv</a:t>
                      </a:r>
                      <a:r>
                        <a:rPr kumimoji="1" lang="en-US" altLang="ja-JP" sz="900" dirty="0"/>
                        <a:t>(a2clsEnviron) object. </a:t>
                      </a:r>
                    </a:p>
                    <a:p>
                      <a:pPr marL="0" marR="0" lvl="0" indent="0" algn="l" defTabSz="342900" rtl="0" eaLnBrk="1" fontAlgn="auto" latinLnBrk="0" hangingPunct="1">
                        <a:lnSpc>
                          <a:spcPct val="100000"/>
                        </a:lnSpc>
                        <a:spcBef>
                          <a:spcPts val="0"/>
                        </a:spcBef>
                        <a:spcAft>
                          <a:spcPts val="0"/>
                        </a:spcAft>
                        <a:buClrTx/>
                        <a:buSzTx/>
                        <a:buFontTx/>
                        <a:buNone/>
                        <a:tabLst/>
                        <a:defRPr/>
                      </a:pPr>
                      <a:r>
                        <a:rPr kumimoji="1" lang="en-US" altLang="ja-JP" sz="900" dirty="0"/>
                        <a:t>Embed debug message in code.</a:t>
                      </a:r>
                    </a:p>
                    <a:p>
                      <a:r>
                        <a:rPr kumimoji="1" lang="en-US" altLang="ja-JP" sz="900" dirty="0"/>
                        <a:t>Trace On. This is Basic!  Show the debug message embedded in the code.</a:t>
                      </a:r>
                    </a:p>
                    <a:p>
                      <a:r>
                        <a:rPr kumimoji="1" lang="en-US" altLang="ja-JP" sz="900" dirty="0"/>
                        <a:t>Trace Off. This is Basic, also!</a:t>
                      </a:r>
                    </a:p>
                    <a:p>
                      <a:r>
                        <a:rPr kumimoji="1" lang="en-US" altLang="ja-JP" sz="900" dirty="0"/>
                        <a:t>Show a status message on the Access status area and control hourglass on/Off.</a:t>
                      </a:r>
                    </a:p>
                    <a:p>
                      <a:r>
                        <a:rPr kumimoji="1" lang="en-US" altLang="ja-JP" sz="900" dirty="0"/>
                        <a:t>  :</a:t>
                      </a:r>
                    </a:p>
                    <a:p>
                      <a:endParaRPr kumimoji="1" lang="en-US" altLang="ja-JP" sz="900" dirty="0"/>
                    </a:p>
                  </a:txBody>
                  <a:tcPr>
                    <a:solidFill>
                      <a:schemeClr val="bg1"/>
                    </a:solidFill>
                  </a:tcPr>
                </a:tc>
                <a:extLst>
                  <a:ext uri="{0D108BD9-81ED-4DB2-BD59-A6C34878D82A}">
                    <a16:rowId xmlns:a16="http://schemas.microsoft.com/office/drawing/2014/main" val="533878568"/>
                  </a:ext>
                </a:extLst>
              </a:tr>
            </a:tbl>
          </a:graphicData>
        </a:graphic>
      </p:graphicFrame>
      <p:sp>
        <p:nvSpPr>
          <p:cNvPr id="6" name="タイトル 1">
            <a:extLst>
              <a:ext uri="{FF2B5EF4-FFF2-40B4-BE49-F238E27FC236}">
                <a16:creationId xmlns:a16="http://schemas.microsoft.com/office/drawing/2014/main" id="{57A53CD0-1AB9-C42B-5973-4DC5D9191E8B}"/>
              </a:ext>
            </a:extLst>
          </p:cNvPr>
          <p:cNvSpPr txBox="1">
            <a:spLocks/>
          </p:cNvSpPr>
          <p:nvPr/>
        </p:nvSpPr>
        <p:spPr>
          <a:xfrm>
            <a:off x="228683" y="3377659"/>
            <a:ext cx="4760785" cy="431791"/>
          </a:xfrm>
          <a:prstGeom prst="rect">
            <a:avLst/>
          </a:prstGeom>
        </p:spPr>
        <p:txBody>
          <a:bodyPr vert="horz" lIns="91440" tIns="45720" rIns="91440" bIns="45720" rtlCol="0" anchor="t">
            <a:normAutofit fontScale="75000" lnSpcReduction="20000"/>
          </a:bodyPr>
          <a:lstStyle>
            <a:lvl1pPr algn="l" defTabSz="342900" rtl="0" eaLnBrk="1" latinLnBrk="0" hangingPunct="1">
              <a:spcBef>
                <a:spcPct val="0"/>
              </a:spcBef>
              <a:buNone/>
              <a:defRPr kumimoji="1" sz="27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dirty="0"/>
              <a:t>Environment setting class(a2clsEnviron)</a:t>
            </a:r>
            <a:endParaRPr lang="ja-JP" altLang="en-US" dirty="0"/>
          </a:p>
        </p:txBody>
      </p:sp>
      <p:graphicFrame>
        <p:nvGraphicFramePr>
          <p:cNvPr id="4" name="表 9">
            <a:extLst>
              <a:ext uri="{FF2B5EF4-FFF2-40B4-BE49-F238E27FC236}">
                <a16:creationId xmlns:a16="http://schemas.microsoft.com/office/drawing/2014/main" id="{14121202-F447-2B81-5215-28822648DC12}"/>
              </a:ext>
            </a:extLst>
          </p:cNvPr>
          <p:cNvGraphicFramePr>
            <a:graphicFrameLocks noGrp="1"/>
          </p:cNvGraphicFramePr>
          <p:nvPr/>
        </p:nvGraphicFramePr>
        <p:xfrm>
          <a:off x="263001" y="4808621"/>
          <a:ext cx="5772091" cy="2968474"/>
        </p:xfrm>
        <a:graphic>
          <a:graphicData uri="http://schemas.openxmlformats.org/drawingml/2006/table">
            <a:tbl>
              <a:tblPr firstRow="1" bandRow="1">
                <a:tableStyleId>{5940675A-B579-460E-94D1-54222C63F5DA}</a:tableStyleId>
              </a:tblPr>
              <a:tblGrid>
                <a:gridCol w="933744">
                  <a:extLst>
                    <a:ext uri="{9D8B030D-6E8A-4147-A177-3AD203B41FA5}">
                      <a16:colId xmlns:a16="http://schemas.microsoft.com/office/drawing/2014/main" val="1629670982"/>
                    </a:ext>
                  </a:extLst>
                </a:gridCol>
                <a:gridCol w="4838347">
                  <a:extLst>
                    <a:ext uri="{9D8B030D-6E8A-4147-A177-3AD203B41FA5}">
                      <a16:colId xmlns:a16="http://schemas.microsoft.com/office/drawing/2014/main" val="2196425086"/>
                    </a:ext>
                  </a:extLst>
                </a:gridCol>
              </a:tblGrid>
              <a:tr h="170123">
                <a:tc gridSpan="2">
                  <a:txBody>
                    <a:bodyPr/>
                    <a:lstStyle/>
                    <a:p>
                      <a:r>
                        <a:rPr kumimoji="1" lang="en-US" altLang="ja-JP" sz="1000" dirty="0"/>
                        <a:t>a2clsEnviron</a:t>
                      </a:r>
                      <a:endParaRPr kumimoji="1" lang="ja-JP" altLang="en-US" sz="10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hMerge="1">
                  <a:txBody>
                    <a:bodyPr/>
                    <a:lstStyle/>
                    <a:p>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80689767"/>
                  </a:ext>
                </a:extLst>
              </a:tr>
              <a:tr h="178570">
                <a:tc>
                  <a:txBody>
                    <a:bodyPr/>
                    <a:lstStyle/>
                    <a:p>
                      <a:r>
                        <a:rPr kumimoji="1" lang="en-US" altLang="ja-JP" sz="800" dirty="0"/>
                        <a:t>Feature</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Set ALAYA Environment with ‘</a:t>
                      </a:r>
                      <a:r>
                        <a:rPr kumimoji="1" lang="en-US" altLang="ja-JP" sz="800" dirty="0" err="1"/>
                        <a:t>MyEnv</a:t>
                      </a:r>
                      <a:r>
                        <a:rPr kumimoji="1" lang="en-US" altLang="ja-JP" sz="800" dirty="0"/>
                        <a:t>’ Global </a:t>
                      </a:r>
                      <a:r>
                        <a:rPr kumimoji="1" lang="en-US" altLang="ja-JP" sz="800" dirty="0" err="1"/>
                        <a:t>Objec</a:t>
                      </a:r>
                      <a:r>
                        <a:rPr kumimoji="1" lang="en-US" altLang="ja-JP" sz="800" dirty="0"/>
                        <a:t>.</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909771050"/>
                  </a:ext>
                </a:extLst>
              </a:tr>
              <a:tr h="142600">
                <a:tc>
                  <a:txBody>
                    <a:bodyPr/>
                    <a:lstStyle/>
                    <a:p>
                      <a:r>
                        <a:rPr kumimoji="1" lang="en-US" altLang="ja-JP" sz="800" dirty="0"/>
                        <a:t>Class Variable</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Description</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062057340"/>
                  </a:ext>
                </a:extLst>
              </a:tr>
              <a:tr h="142600">
                <a:tc>
                  <a:txBody>
                    <a:bodyPr/>
                    <a:lstStyle/>
                    <a:p>
                      <a:r>
                        <a:rPr kumimoji="1" lang="en-US" altLang="ja-JP" sz="800" dirty="0" err="1"/>
                        <a:t>UserName</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Share table name on the file server.</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42111244"/>
                  </a:ext>
                </a:extLst>
              </a:tr>
              <a:tr h="142600">
                <a:tc>
                  <a:txBody>
                    <a:bodyPr/>
                    <a:lstStyle/>
                    <a:p>
                      <a:r>
                        <a:rPr kumimoji="1" lang="en-US" altLang="ja-JP" sz="800" dirty="0" err="1"/>
                        <a:t>ComputerName</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Local table to edit. Share table data is loaded to this local table.</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67414"/>
                  </a:ext>
                </a:extLst>
              </a:tr>
              <a:tr h="142600">
                <a:tc>
                  <a:txBody>
                    <a:bodyPr/>
                    <a:lstStyle/>
                    <a:p>
                      <a:r>
                        <a:rPr kumimoji="1" lang="en-US" altLang="ja-JP" sz="800" dirty="0"/>
                        <a:t>Class Method</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Record identifier of the shared table. Comma delimited when the table uses a composite key.</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837331464"/>
                  </a:ext>
                </a:extLst>
              </a:tr>
              <a:tr h="142600">
                <a:tc>
                  <a:txBody>
                    <a:bodyPr/>
                    <a:lstStyle/>
                    <a:p>
                      <a:r>
                        <a:rPr kumimoji="1" lang="en-US" altLang="ja-JP" sz="800" dirty="0"/>
                        <a:t>Init</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Initialize the ALAYA configurations.</a:t>
                      </a:r>
                    </a:p>
                    <a:p>
                      <a:r>
                        <a:rPr kumimoji="1" lang="en-US" altLang="ja-JP" sz="800" dirty="0"/>
                        <a:t> This method runs very light and will not cause overhead for applications, then run in ‘a2init’ command any time you debug the codes. </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5451438"/>
                  </a:ext>
                </a:extLst>
              </a:tr>
              <a:tr h="252692">
                <a:tc>
                  <a:txBody>
                    <a:bodyPr/>
                    <a:lstStyle/>
                    <a:p>
                      <a:r>
                        <a:rPr kumimoji="1" lang="en-US" altLang="ja-JP" sz="800" dirty="0" err="1"/>
                        <a:t>SetHash</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Set Hash Table for exchanging parameters between forms.</a:t>
                      </a:r>
                    </a:p>
                    <a:p>
                      <a:r>
                        <a:rPr kumimoji="1" lang="en-US" altLang="ja-JP" sz="800" dirty="0"/>
                        <a:t>In Form A set ‘ </a:t>
                      </a:r>
                      <a:r>
                        <a:rPr kumimoji="1" lang="en-US" altLang="ja-JP" sz="800" dirty="0" err="1"/>
                        <a:t>MyEnv.SetHasf</a:t>
                      </a:r>
                      <a:r>
                        <a:rPr kumimoji="1" lang="en-US" altLang="ja-JP" sz="800" dirty="0"/>
                        <a:t>(“PARAM”)=“AA”, then Form B can get the PARAM as ‘ PARAM=</a:t>
                      </a:r>
                      <a:r>
                        <a:rPr kumimoji="1" lang="en-US" altLang="ja-JP" sz="800" dirty="0" err="1"/>
                        <a:t>MyEnv.GetParam</a:t>
                      </a:r>
                      <a:r>
                        <a:rPr kumimoji="1" lang="en-US" altLang="ja-JP" sz="800" dirty="0"/>
                        <a:t>(“PARAM”)’ </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05319"/>
                  </a:ext>
                </a:extLst>
              </a:tr>
              <a:tr h="362784">
                <a:tc>
                  <a:txBody>
                    <a:bodyPr/>
                    <a:lstStyle/>
                    <a:p>
                      <a:r>
                        <a:rPr kumimoji="1" lang="en-US" altLang="ja-JP" sz="800" dirty="0" err="1"/>
                        <a:t>GetHadh</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Get the Hash Parameter set </a:t>
                      </a:r>
                      <a:r>
                        <a:rPr kumimoji="1" lang="en-US" altLang="ja-JP" sz="800" dirty="0" err="1"/>
                        <a:t>set</a:t>
                      </a:r>
                      <a:r>
                        <a:rPr kumimoji="1" lang="en-US" altLang="ja-JP" sz="800" dirty="0"/>
                        <a:t> by </a:t>
                      </a:r>
                      <a:r>
                        <a:rPr kumimoji="1" lang="en-US" altLang="ja-JP" sz="800" dirty="0" err="1"/>
                        <a:t>SetHash</a:t>
                      </a:r>
                      <a:r>
                        <a:rPr kumimoji="1" lang="en-US" altLang="ja-JP" sz="800" dirty="0"/>
                        <a:t> method. </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1826662"/>
                  </a:ext>
                </a:extLst>
              </a:tr>
              <a:tr h="142600">
                <a:tc>
                  <a:txBody>
                    <a:bodyPr/>
                    <a:lstStyle/>
                    <a:p>
                      <a:r>
                        <a:rPr kumimoji="1" lang="en-US" altLang="ja-JP" sz="800" dirty="0" err="1"/>
                        <a:t>GetConfig</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Get parameter in ‘a2_TBL_Config’ table specified by ‘</a:t>
                      </a:r>
                      <a:r>
                        <a:rPr kumimoji="1" lang="en-US" altLang="ja-JP" sz="800" dirty="0" err="1"/>
                        <a:t>KeyName</a:t>
                      </a:r>
                      <a:r>
                        <a:rPr kumimoji="1" lang="en-US" altLang="ja-JP" sz="800" dirty="0"/>
                        <a:t>’.</a:t>
                      </a:r>
                    </a:p>
                    <a:p>
                      <a:r>
                        <a:rPr kumimoji="1" lang="en-US" altLang="ja-JP" sz="800" dirty="0"/>
                        <a:t>e.g. </a:t>
                      </a:r>
                      <a:r>
                        <a:rPr kumimoji="1" lang="en-US" altLang="ja-JP" sz="800" dirty="0" err="1"/>
                        <a:t>GetConfig</a:t>
                      </a:r>
                      <a:r>
                        <a:rPr kumimoji="1" lang="en-US" altLang="ja-JP" sz="800" dirty="0"/>
                        <a:t>=</a:t>
                      </a:r>
                      <a:r>
                        <a:rPr kumimoji="1" lang="en-US" altLang="ja-JP" sz="800" dirty="0" err="1"/>
                        <a:t>Dlookup</a:t>
                      </a:r>
                      <a:r>
                        <a:rPr kumimoji="1" lang="en-US" altLang="ja-JP" sz="800" dirty="0"/>
                        <a:t>(“</a:t>
                      </a:r>
                      <a:r>
                        <a:rPr kumimoji="1" lang="en-US" altLang="ja-JP" sz="800" dirty="0" err="1"/>
                        <a:t>KeyValu</a:t>
                      </a:r>
                      <a:r>
                        <a:rPr kumimoji="1" lang="en-US" altLang="ja-JP" sz="800" dirty="0"/>
                        <a:t>”, a2_TBL,Config’, “</a:t>
                      </a:r>
                      <a:r>
                        <a:rPr kumimoji="1" lang="en-US" altLang="ja-JP" sz="800" dirty="0" err="1"/>
                        <a:t>KeyName</a:t>
                      </a:r>
                      <a:r>
                        <a:rPr kumimoji="1" lang="en-US" altLang="ja-JP" sz="800" dirty="0"/>
                        <a:t>=‘ &amp; Key &amp; “’”)  </a:t>
                      </a:r>
                    </a:p>
                    <a:p>
                      <a:r>
                        <a:rPr kumimoji="1" lang="en-US" altLang="ja-JP" sz="800" dirty="0"/>
                        <a:t>Any comment part, enclosed in /* */ and begins with ‘—’ ,  would be erased.  </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190221"/>
                  </a:ext>
                </a:extLst>
              </a:tr>
              <a:tr h="142600">
                <a:tc>
                  <a:txBody>
                    <a:bodyPr/>
                    <a:lstStyle/>
                    <a:p>
                      <a:r>
                        <a:rPr kumimoji="1" lang="en-US" altLang="ja-JP" sz="800" dirty="0" err="1"/>
                        <a:t>GetSQL</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Get SQL Code registered into a2_TBL_Config table.  </a:t>
                      </a:r>
                    </a:p>
                    <a:p>
                      <a:r>
                        <a:rPr kumimoji="1" lang="en-US" altLang="ja-JP" sz="800" dirty="0"/>
                        <a:t>The SQL written in ALAYA format, with comment and macros, will be converted as executable code erasing comments and expanding macros.  </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8604192"/>
                  </a:ext>
                </a:extLst>
              </a:tr>
            </a:tbl>
          </a:graphicData>
        </a:graphic>
      </p:graphicFrame>
      <p:sp>
        <p:nvSpPr>
          <p:cNvPr id="12" name="テキスト ボックス 11">
            <a:extLst>
              <a:ext uri="{FF2B5EF4-FFF2-40B4-BE49-F238E27FC236}">
                <a16:creationId xmlns:a16="http://schemas.microsoft.com/office/drawing/2014/main" id="{F21B9304-9081-A715-60B5-F5CF7806C323}"/>
              </a:ext>
            </a:extLst>
          </p:cNvPr>
          <p:cNvSpPr txBox="1"/>
          <p:nvPr/>
        </p:nvSpPr>
        <p:spPr>
          <a:xfrm>
            <a:off x="263001" y="3809450"/>
            <a:ext cx="5680600" cy="769441"/>
          </a:xfrm>
          <a:prstGeom prst="rect">
            <a:avLst/>
          </a:prstGeom>
          <a:noFill/>
          <a:ln>
            <a:noFill/>
          </a:ln>
        </p:spPr>
        <p:txBody>
          <a:bodyPr wrap="square" rtlCol="0">
            <a:spAutoFit/>
          </a:bodyPr>
          <a:lstStyle/>
          <a:p>
            <a:r>
              <a:rPr kumimoji="1" lang="en-US" altLang="ja-JP" sz="1100" dirty="0"/>
              <a:t>The class module 'a2clsEnviron' is used for environment configuration during ALAYA execution.</a:t>
            </a:r>
          </a:p>
          <a:p>
            <a:r>
              <a:rPr kumimoji="1" lang="en-US" altLang="ja-JP" sz="1100" dirty="0"/>
              <a:t>It is instantiated as the global object ‘</a:t>
            </a:r>
            <a:r>
              <a:rPr kumimoji="1" lang="en-US" altLang="ja-JP" sz="1100" dirty="0" err="1"/>
              <a:t>MyEnv</a:t>
            </a:r>
            <a:r>
              <a:rPr kumimoji="1" lang="en-US" altLang="ja-JP" sz="1100" dirty="0"/>
              <a:t>’ and used for retrieving data from the a2_TBL_Config(_Config) table and passing variables between Forms.</a:t>
            </a:r>
            <a:endParaRPr lang="en-US" altLang="ja-JP" sz="1100" dirty="0"/>
          </a:p>
        </p:txBody>
      </p:sp>
    </p:spTree>
    <p:extLst>
      <p:ext uri="{BB962C8B-B14F-4D97-AF65-F5344CB8AC3E}">
        <p14:creationId xmlns:p14="http://schemas.microsoft.com/office/powerpoint/2010/main" val="3556091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C81E06-4E4D-39A2-4E92-1EE740ED6A20}"/>
              </a:ext>
            </a:extLst>
          </p:cNvPr>
          <p:cNvSpPr>
            <a:spLocks noGrp="1"/>
          </p:cNvSpPr>
          <p:nvPr>
            <p:ph type="title"/>
          </p:nvPr>
        </p:nvSpPr>
        <p:spPr>
          <a:xfrm>
            <a:off x="362807" y="279400"/>
            <a:ext cx="5693088" cy="431791"/>
          </a:xfrm>
        </p:spPr>
        <p:txBody>
          <a:bodyPr>
            <a:normAutofit fontScale="90000"/>
          </a:bodyPr>
          <a:lstStyle/>
          <a:p>
            <a:r>
              <a:rPr kumimoji="1" lang="en-US" altLang="ja-JP" dirty="0"/>
              <a:t>Form Control class module(a2clsForm)</a:t>
            </a:r>
            <a:endParaRPr kumimoji="1" lang="ja-JP" altLang="en-US" dirty="0"/>
          </a:p>
        </p:txBody>
      </p:sp>
      <p:sp>
        <p:nvSpPr>
          <p:cNvPr id="14" name="テキスト ボックス 13">
            <a:extLst>
              <a:ext uri="{FF2B5EF4-FFF2-40B4-BE49-F238E27FC236}">
                <a16:creationId xmlns:a16="http://schemas.microsoft.com/office/drawing/2014/main" id="{98720F26-2760-BBA2-9CED-F91CB354805E}"/>
              </a:ext>
            </a:extLst>
          </p:cNvPr>
          <p:cNvSpPr txBox="1"/>
          <p:nvPr/>
        </p:nvSpPr>
        <p:spPr>
          <a:xfrm>
            <a:off x="328861" y="869888"/>
            <a:ext cx="6124464" cy="577081"/>
          </a:xfrm>
          <a:prstGeom prst="rect">
            <a:avLst/>
          </a:prstGeom>
          <a:solidFill>
            <a:schemeClr val="bg1"/>
          </a:solidFill>
        </p:spPr>
        <p:txBody>
          <a:bodyPr wrap="square" rtlCol="0">
            <a:spAutoFit/>
          </a:bodyPr>
          <a:lstStyle/>
          <a:p>
            <a:r>
              <a:rPr kumimoji="1" lang="en-US" altLang="ja-JP" sz="1050" dirty="0"/>
              <a:t>The class module a2cldForm is used to initialize and control ALAYA standard forms.</a:t>
            </a:r>
          </a:p>
          <a:p>
            <a:r>
              <a:rPr kumimoji="1" lang="en-US" altLang="ja-JP" sz="1050" dirty="0"/>
              <a:t>By setting class variables and calling functions, you can set conditional formatting for controls or give functions to command buttons.</a:t>
            </a:r>
          </a:p>
        </p:txBody>
      </p:sp>
      <p:pic>
        <p:nvPicPr>
          <p:cNvPr id="9" name="図 8">
            <a:extLst>
              <a:ext uri="{FF2B5EF4-FFF2-40B4-BE49-F238E27FC236}">
                <a16:creationId xmlns:a16="http://schemas.microsoft.com/office/drawing/2014/main" id="{D61A0C2C-9CCE-7CB1-BC07-54E1C5127B05}"/>
              </a:ext>
            </a:extLst>
          </p:cNvPr>
          <p:cNvPicPr>
            <a:picLocks noChangeAspect="1"/>
          </p:cNvPicPr>
          <p:nvPr/>
        </p:nvPicPr>
        <p:blipFill>
          <a:blip r:embed="rId2"/>
          <a:stretch>
            <a:fillRect/>
          </a:stretch>
        </p:blipFill>
        <p:spPr>
          <a:xfrm>
            <a:off x="554427" y="1706727"/>
            <a:ext cx="5130593" cy="4028277"/>
          </a:xfrm>
          <a:prstGeom prst="rect">
            <a:avLst/>
          </a:prstGeom>
        </p:spPr>
      </p:pic>
      <p:graphicFrame>
        <p:nvGraphicFramePr>
          <p:cNvPr id="5" name="表 9">
            <a:extLst>
              <a:ext uri="{FF2B5EF4-FFF2-40B4-BE49-F238E27FC236}">
                <a16:creationId xmlns:a16="http://schemas.microsoft.com/office/drawing/2014/main" id="{37014186-5081-FFD0-6720-D94FABB5818B}"/>
              </a:ext>
            </a:extLst>
          </p:cNvPr>
          <p:cNvGraphicFramePr>
            <a:graphicFrameLocks noGrp="1"/>
          </p:cNvGraphicFramePr>
          <p:nvPr/>
        </p:nvGraphicFramePr>
        <p:xfrm>
          <a:off x="179111" y="6019800"/>
          <a:ext cx="6274213" cy="3013628"/>
        </p:xfrm>
        <a:graphic>
          <a:graphicData uri="http://schemas.openxmlformats.org/drawingml/2006/table">
            <a:tbl>
              <a:tblPr firstRow="1" bandRow="1">
                <a:tableStyleId>{5940675A-B579-460E-94D1-54222C63F5DA}</a:tableStyleId>
              </a:tblPr>
              <a:tblGrid>
                <a:gridCol w="905032">
                  <a:extLst>
                    <a:ext uri="{9D8B030D-6E8A-4147-A177-3AD203B41FA5}">
                      <a16:colId xmlns:a16="http://schemas.microsoft.com/office/drawing/2014/main" val="1629670982"/>
                    </a:ext>
                  </a:extLst>
                </a:gridCol>
                <a:gridCol w="5369181">
                  <a:extLst>
                    <a:ext uri="{9D8B030D-6E8A-4147-A177-3AD203B41FA5}">
                      <a16:colId xmlns:a16="http://schemas.microsoft.com/office/drawing/2014/main" val="2196425086"/>
                    </a:ext>
                  </a:extLst>
                </a:gridCol>
              </a:tblGrid>
              <a:tr h="170123">
                <a:tc gridSpan="2">
                  <a:txBody>
                    <a:bodyPr/>
                    <a:lstStyle/>
                    <a:p>
                      <a:r>
                        <a:rPr kumimoji="1" lang="en-US" altLang="ja-JP" sz="1000" dirty="0"/>
                        <a:t>a2clsForm</a:t>
                      </a:r>
                      <a:endParaRPr kumimoji="1" lang="ja-JP" altLang="en-US" sz="10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hMerge="1">
                  <a:txBody>
                    <a:bodyPr/>
                    <a:lstStyle/>
                    <a:p>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80689767"/>
                  </a:ext>
                </a:extLst>
              </a:tr>
              <a:tr h="178570">
                <a:tc>
                  <a:txBody>
                    <a:bodyPr/>
                    <a:lstStyle/>
                    <a:p>
                      <a:r>
                        <a:rPr kumimoji="1" lang="en-US" altLang="ja-JP" sz="800" dirty="0"/>
                        <a:t>Feature</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Form Control class module.</a:t>
                      </a:r>
                    </a:p>
                    <a:p>
                      <a:r>
                        <a:rPr kumimoji="1" lang="en-US" altLang="ja-JP" sz="800" dirty="0"/>
                        <a:t>Initialize and control the ALAYA standard form with parameter and macro settings.</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909771050"/>
                  </a:ext>
                </a:extLst>
              </a:tr>
              <a:tr h="142600">
                <a:tc>
                  <a:txBody>
                    <a:bodyPr/>
                    <a:lstStyle/>
                    <a:p>
                      <a:r>
                        <a:rPr kumimoji="1" lang="en-US" altLang="ja-JP" sz="800" dirty="0"/>
                        <a:t>Class Variable</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Description</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062057340"/>
                  </a:ext>
                </a:extLst>
              </a:tr>
              <a:tr h="142600">
                <a:tc>
                  <a:txBody>
                    <a:bodyPr/>
                    <a:lstStyle/>
                    <a:p>
                      <a:r>
                        <a:rPr kumimoji="1" lang="en-US" altLang="ja-JP" sz="800" dirty="0" err="1"/>
                        <a:t>ShareTBL</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Share table name on the file server.</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42111244"/>
                  </a:ext>
                </a:extLst>
              </a:tr>
              <a:tr h="142600">
                <a:tc>
                  <a:txBody>
                    <a:bodyPr/>
                    <a:lstStyle/>
                    <a:p>
                      <a:r>
                        <a:rPr kumimoji="1" lang="en-US" altLang="ja-JP" sz="800" dirty="0" err="1"/>
                        <a:t>LocalTBL</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Local table to edit. Share table data is loaded to this local table.</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67414"/>
                  </a:ext>
                </a:extLst>
              </a:tr>
              <a:tr h="142600">
                <a:tc>
                  <a:txBody>
                    <a:bodyPr/>
                    <a:lstStyle/>
                    <a:p>
                      <a:r>
                        <a:rPr kumimoji="1" lang="en-US" altLang="ja-JP" sz="800" dirty="0" err="1"/>
                        <a:t>ShareRID</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Record identifier of the shared table. Comma delimited when the table uses a composite key.</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7331464"/>
                  </a:ext>
                </a:extLst>
              </a:tr>
              <a:tr h="142600">
                <a:tc>
                  <a:txBody>
                    <a:bodyPr/>
                    <a:lstStyle/>
                    <a:p>
                      <a:r>
                        <a:rPr kumimoji="1" lang="en-US" altLang="ja-JP" sz="800" dirty="0" err="1"/>
                        <a:t>LocalRID</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Record identifier of the shared table. Comma delimited when the table uses a composite key.</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5451438"/>
                  </a:ext>
                </a:extLst>
              </a:tr>
              <a:tr h="252692">
                <a:tc>
                  <a:txBody>
                    <a:bodyPr/>
                    <a:lstStyle/>
                    <a:p>
                      <a:r>
                        <a:rPr kumimoji="1" lang="en-US" altLang="ja-JP" sz="800" dirty="0" err="1"/>
                        <a:t>EditCols</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Edit columns separated by comma.</a:t>
                      </a:r>
                    </a:p>
                    <a:p>
                      <a:r>
                        <a:rPr kumimoji="1" lang="en-US" altLang="ja-JP" sz="800" dirty="0"/>
                        <a:t>Specified columns will be editable in light yellow background color.</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05319"/>
                  </a:ext>
                </a:extLst>
              </a:tr>
              <a:tr h="362784">
                <a:tc>
                  <a:txBody>
                    <a:bodyPr/>
                    <a:lstStyle/>
                    <a:p>
                      <a:r>
                        <a:rPr kumimoji="1" lang="en-US" altLang="ja-JP" sz="800" dirty="0" err="1"/>
                        <a:t>RgstCols</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Registering columns except edit columns, such as system generated data, time stamp, serial number, etc..</a:t>
                      </a:r>
                    </a:p>
                    <a:p>
                      <a:r>
                        <a:rPr kumimoji="1" lang="en-US" altLang="ja-JP" sz="800" dirty="0"/>
                        <a:t>The updating columns will be </a:t>
                      </a:r>
                      <a:r>
                        <a:rPr kumimoji="1" lang="en-US" altLang="ja-JP" sz="800" dirty="0" err="1"/>
                        <a:t>EditCols</a:t>
                      </a:r>
                      <a:r>
                        <a:rPr kumimoji="1" lang="en-US" altLang="ja-JP" sz="800" dirty="0"/>
                        <a:t> + </a:t>
                      </a:r>
                      <a:r>
                        <a:rPr kumimoji="1" lang="en-US" altLang="ja-JP" sz="800" dirty="0" err="1"/>
                        <a:t>RgstCols</a:t>
                      </a:r>
                      <a:r>
                        <a:rPr kumimoji="1" lang="en-US" altLang="ja-JP" sz="800" dirty="0"/>
                        <a:t>.</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1826662"/>
                  </a:ext>
                </a:extLst>
              </a:tr>
              <a:tr h="142600">
                <a:tc>
                  <a:txBody>
                    <a:bodyPr/>
                    <a:lstStyle/>
                    <a:p>
                      <a:r>
                        <a:rPr kumimoji="1" lang="en-US" altLang="ja-JP" sz="800" dirty="0" err="1"/>
                        <a:t>EditForm</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Single form name to edit when the initializing form is a continuous form.</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190221"/>
                  </a:ext>
                </a:extLst>
              </a:tr>
              <a:tr h="142600">
                <a:tc>
                  <a:txBody>
                    <a:bodyPr/>
                    <a:lstStyle/>
                    <a:p>
                      <a:r>
                        <a:rPr kumimoji="1" lang="en-US" altLang="ja-JP" sz="800" dirty="0" err="1"/>
                        <a:t>FormType</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The type of Continuous Form</a:t>
                      </a:r>
                      <a:r>
                        <a:rPr kumimoji="1" lang="ja-JP" altLang="en-US" sz="800" dirty="0"/>
                        <a:t>（</a:t>
                      </a:r>
                      <a:r>
                        <a:rPr kumimoji="1" lang="en-US" altLang="ja-JP" sz="800" dirty="0"/>
                        <a:t>a2_ContinuousForm</a:t>
                      </a:r>
                      <a:r>
                        <a:rPr kumimoji="1" lang="ja-JP" altLang="en-US" sz="800" dirty="0"/>
                        <a:t>）</a:t>
                      </a:r>
                      <a:r>
                        <a:rPr kumimoji="1" lang="en-US" altLang="ja-JP" sz="800" dirty="0"/>
                        <a:t>or Single Form</a:t>
                      </a:r>
                      <a:r>
                        <a:rPr kumimoji="1" lang="ja-JP" altLang="en-US" sz="800" dirty="0"/>
                        <a:t>（</a:t>
                      </a:r>
                      <a:r>
                        <a:rPr kumimoji="1" lang="en-US" altLang="ja-JP" sz="800" dirty="0"/>
                        <a:t>a2_SingleForm</a:t>
                      </a:r>
                      <a:r>
                        <a:rPr kumimoji="1" lang="ja-JP" altLang="en-US" sz="800" dirty="0"/>
                        <a:t>）</a:t>
                      </a:r>
                      <a:r>
                        <a:rPr kumimoji="1" lang="en-US" altLang="ja-JP" sz="800" dirty="0"/>
                        <a:t>. </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8604192"/>
                  </a:ext>
                </a:extLst>
              </a:tr>
              <a:tr h="273644">
                <a:tc>
                  <a:txBody>
                    <a:bodyPr/>
                    <a:lstStyle/>
                    <a:p>
                      <a:r>
                        <a:rPr kumimoji="1" lang="en-US" altLang="ja-JP" sz="800" dirty="0" err="1"/>
                        <a:t>EditMode</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Form Edit mode. Default mode is a2_EditClone (clone data from shared table to local).</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8709597"/>
                  </a:ext>
                </a:extLst>
              </a:tr>
              <a:tr h="109829">
                <a:tc>
                  <a:txBody>
                    <a:bodyPr/>
                    <a:lstStyle/>
                    <a:p>
                      <a:r>
                        <a:rPr kumimoji="1" lang="en-US" altLang="ja-JP" sz="800" dirty="0" err="1"/>
                        <a:t>DictArgs</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Dictionary object converted from </a:t>
                      </a:r>
                      <a:r>
                        <a:rPr kumimoji="1" lang="en-US" altLang="ja-JP" sz="800" dirty="0" err="1"/>
                        <a:t>OpenArgs</a:t>
                      </a:r>
                      <a:r>
                        <a:rPr kumimoji="1" lang="en-US" altLang="ja-JP" sz="800" dirty="0"/>
                        <a:t> that brought from </a:t>
                      </a:r>
                      <a:r>
                        <a:rPr kumimoji="1" lang="en-US" altLang="ja-JP" sz="800" dirty="0" err="1"/>
                        <a:t>DoCmd.Open</a:t>
                      </a:r>
                      <a:r>
                        <a:rPr kumimoji="1" lang="en-US" altLang="ja-JP" sz="800" dirty="0"/>
                        <a:t>. </a:t>
                      </a:r>
                    </a:p>
                    <a:p>
                      <a:r>
                        <a:rPr kumimoji="1" lang="en-US" altLang="ja-JP" sz="800" dirty="0"/>
                        <a:t>When </a:t>
                      </a:r>
                      <a:r>
                        <a:rPr kumimoji="1" lang="en-US" altLang="ja-JP" sz="800" dirty="0" err="1"/>
                        <a:t>Openargs</a:t>
                      </a:r>
                      <a:r>
                        <a:rPr kumimoji="1" lang="en-US" altLang="ja-JP" sz="800" dirty="0"/>
                        <a:t> is set as ‘Col1=aa, Col2=bb, Col3=cc’ , </a:t>
                      </a:r>
                      <a:r>
                        <a:rPr kumimoji="1" lang="en-US" altLang="ja-JP" sz="800" dirty="0" err="1"/>
                        <a:t>DictArgs</a:t>
                      </a:r>
                      <a:r>
                        <a:rPr kumimoji="1" lang="en-US" altLang="ja-JP" sz="800" dirty="0"/>
                        <a:t> would be as  ‘</a:t>
                      </a:r>
                      <a:r>
                        <a:rPr kumimoji="1" lang="en-US" altLang="ja-JP" sz="800" dirty="0" err="1"/>
                        <a:t>DictArgs</a:t>
                      </a:r>
                      <a:r>
                        <a:rPr kumimoji="1" lang="en-US" altLang="ja-JP" sz="800" dirty="0"/>
                        <a:t>(“Col1”) = aa, </a:t>
                      </a:r>
                      <a:r>
                        <a:rPr kumimoji="1" lang="en-US" altLang="ja-JP" sz="800" dirty="0" err="1"/>
                        <a:t>DictArgs</a:t>
                      </a:r>
                      <a:r>
                        <a:rPr kumimoji="1" lang="en-US" altLang="ja-JP" sz="800" dirty="0"/>
                        <a:t>(“Col2”)=bb, </a:t>
                      </a:r>
                      <a:r>
                        <a:rPr kumimoji="1" lang="en-US" altLang="ja-JP" sz="800" dirty="0" err="1"/>
                        <a:t>DictArgs</a:t>
                      </a:r>
                      <a:r>
                        <a:rPr kumimoji="1" lang="en-US" altLang="ja-JP" sz="800" dirty="0"/>
                        <a:t>(“Col3”)=cc’ </a:t>
                      </a:r>
                    </a:p>
                    <a:p>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79784598"/>
                  </a:ext>
                </a:extLst>
              </a:tr>
            </a:tbl>
          </a:graphicData>
        </a:graphic>
      </p:graphicFrame>
    </p:spTree>
    <p:extLst>
      <p:ext uri="{BB962C8B-B14F-4D97-AF65-F5344CB8AC3E}">
        <p14:creationId xmlns:p14="http://schemas.microsoft.com/office/powerpoint/2010/main" val="664508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7CD94-257E-A5F1-3864-013197860E87}"/>
            </a:ext>
          </a:extLst>
        </p:cNvPr>
        <p:cNvGrpSpPr/>
        <p:nvPr/>
      </p:nvGrpSpPr>
      <p:grpSpPr>
        <a:xfrm>
          <a:off x="0" y="0"/>
          <a:ext cx="0" cy="0"/>
          <a:chOff x="0" y="0"/>
          <a:chExt cx="0" cy="0"/>
        </a:xfrm>
      </p:grpSpPr>
      <p:pic>
        <p:nvPicPr>
          <p:cNvPr id="10" name="図 9">
            <a:extLst>
              <a:ext uri="{FF2B5EF4-FFF2-40B4-BE49-F238E27FC236}">
                <a16:creationId xmlns:a16="http://schemas.microsoft.com/office/drawing/2014/main" id="{DE2CC0D3-710F-AC7A-5C00-D60E94A4A780}"/>
              </a:ext>
            </a:extLst>
          </p:cNvPr>
          <p:cNvPicPr>
            <a:picLocks noChangeAspect="1"/>
          </p:cNvPicPr>
          <p:nvPr/>
        </p:nvPicPr>
        <p:blipFill>
          <a:blip r:embed="rId2"/>
          <a:stretch>
            <a:fillRect/>
          </a:stretch>
        </p:blipFill>
        <p:spPr>
          <a:xfrm>
            <a:off x="468931" y="4135897"/>
            <a:ext cx="5299710" cy="2513203"/>
          </a:xfrm>
          <a:prstGeom prst="rect">
            <a:avLst/>
          </a:prstGeom>
        </p:spPr>
      </p:pic>
      <p:graphicFrame>
        <p:nvGraphicFramePr>
          <p:cNvPr id="5" name="表 9">
            <a:extLst>
              <a:ext uri="{FF2B5EF4-FFF2-40B4-BE49-F238E27FC236}">
                <a16:creationId xmlns:a16="http://schemas.microsoft.com/office/drawing/2014/main" id="{934D9FE3-21E4-488F-7CAE-FD30FFC2CFE3}"/>
              </a:ext>
            </a:extLst>
          </p:cNvPr>
          <p:cNvGraphicFramePr>
            <a:graphicFrameLocks noGrp="1"/>
          </p:cNvGraphicFramePr>
          <p:nvPr/>
        </p:nvGraphicFramePr>
        <p:xfrm>
          <a:off x="259937" y="302400"/>
          <a:ext cx="6274213" cy="3613508"/>
        </p:xfrm>
        <a:graphic>
          <a:graphicData uri="http://schemas.openxmlformats.org/drawingml/2006/table">
            <a:tbl>
              <a:tblPr firstRow="1" bandRow="1">
                <a:tableStyleId>{5940675A-B579-460E-94D1-54222C63F5DA}</a:tableStyleId>
              </a:tblPr>
              <a:tblGrid>
                <a:gridCol w="905032">
                  <a:extLst>
                    <a:ext uri="{9D8B030D-6E8A-4147-A177-3AD203B41FA5}">
                      <a16:colId xmlns:a16="http://schemas.microsoft.com/office/drawing/2014/main" val="1629670982"/>
                    </a:ext>
                  </a:extLst>
                </a:gridCol>
                <a:gridCol w="5369181">
                  <a:extLst>
                    <a:ext uri="{9D8B030D-6E8A-4147-A177-3AD203B41FA5}">
                      <a16:colId xmlns:a16="http://schemas.microsoft.com/office/drawing/2014/main" val="2196425086"/>
                    </a:ext>
                  </a:extLst>
                </a:gridCol>
              </a:tblGrid>
              <a:tr h="141420">
                <a:tc gridSpan="2">
                  <a:txBody>
                    <a:bodyPr/>
                    <a:lstStyle/>
                    <a:p>
                      <a:r>
                        <a:rPr kumimoji="1" lang="en-US" altLang="ja-JP" sz="1000" dirty="0"/>
                        <a:t>a2clsForm(continue)</a:t>
                      </a:r>
                      <a:endParaRPr kumimoji="1" lang="ja-JP" altLang="en-US" sz="10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hMerge="1">
                  <a:txBody>
                    <a:bodyPr/>
                    <a:lstStyle/>
                    <a:p>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80689767"/>
                  </a:ext>
                </a:extLst>
              </a:tr>
              <a:tr h="141420">
                <a:tc>
                  <a:txBody>
                    <a:bodyPr/>
                    <a:lstStyle/>
                    <a:p>
                      <a:r>
                        <a:rPr kumimoji="1" lang="en-US" altLang="ja-JP" sz="800" dirty="0"/>
                        <a:t>Methos</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Description</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062057340"/>
                  </a:ext>
                </a:extLst>
              </a:tr>
              <a:tr h="222231">
                <a:tc>
                  <a:txBody>
                    <a:bodyPr/>
                    <a:lstStyle/>
                    <a:p>
                      <a:r>
                        <a:rPr kumimoji="1" lang="en-US" altLang="ja-JP" sz="800" dirty="0"/>
                        <a:t>Init</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Initialize Form object. Substitute of a constructor.</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42111244"/>
                  </a:ext>
                </a:extLst>
              </a:tr>
              <a:tr h="868722">
                <a:tc>
                  <a:txBody>
                    <a:bodyPr/>
                    <a:lstStyle/>
                    <a:p>
                      <a:r>
                        <a:rPr kumimoji="1" lang="en-US" altLang="ja-JP" sz="800" dirty="0" err="1"/>
                        <a:t>InitCF</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err="1"/>
                        <a:t>Initialise</a:t>
                      </a:r>
                      <a:r>
                        <a:rPr kumimoji="1" lang="en-US" altLang="ja-JP" sz="800" dirty="0"/>
                        <a:t> the form as a Continuous Form. The following functions will be added on the form.</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800" dirty="0"/>
                        <a:t>Load data into the editing table</a:t>
                      </a:r>
                    </a:p>
                    <a:p>
                      <a:pPr marL="171450" indent="-171450">
                        <a:buFont typeface="Arial" panose="020B0604020202020204" pitchFamily="34" charset="0"/>
                        <a:buChar char="•"/>
                      </a:pPr>
                      <a:r>
                        <a:rPr kumimoji="1" lang="en-US" altLang="ja-JP" sz="800" dirty="0"/>
                        <a:t>Color coding and conditional formatting for editable/non-editable cells</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800" dirty="0"/>
                        <a:t>Standard button control settings (Excel output, save, clear filter, close)</a:t>
                      </a:r>
                    </a:p>
                    <a:p>
                      <a:pPr marL="171450" indent="-171450">
                        <a:buFont typeface="Arial" panose="020B0604020202020204" pitchFamily="34" charset="0"/>
                        <a:buChar char="•"/>
                      </a:pPr>
                      <a:r>
                        <a:rPr kumimoji="1" lang="en-US" altLang="ja-JP" sz="800" dirty="0"/>
                        <a:t>Filter control settings</a:t>
                      </a:r>
                    </a:p>
                    <a:p>
                      <a:pPr marL="171450" indent="-171450">
                        <a:buFont typeface="Arial" panose="020B0604020202020204" pitchFamily="34" charset="0"/>
                        <a:buChar char="•"/>
                      </a:pPr>
                      <a:r>
                        <a:rPr kumimoji="1" lang="en-US" altLang="ja-JP" sz="800" dirty="0"/>
                        <a:t>Image control settings (double-click to open the default viewer)</a:t>
                      </a:r>
                    </a:p>
                    <a:p>
                      <a:pPr marL="171450" indent="-171450">
                        <a:buFont typeface="Arial" panose="020B0604020202020204" pitchFamily="34" charset="0"/>
                        <a:buChar char="•"/>
                      </a:pPr>
                      <a:r>
                        <a:rPr kumimoji="1" lang="en-US" altLang="ja-JP" sz="800" dirty="0"/>
                        <a:t>Edit command button settings (insert row, copy row, edit row, delete row)</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67414"/>
                  </a:ext>
                </a:extLst>
              </a:tr>
              <a:tr h="0">
                <a:tc>
                  <a:txBody>
                    <a:bodyPr/>
                    <a:lstStyle/>
                    <a:p>
                      <a:r>
                        <a:rPr kumimoji="1" lang="en-US" altLang="ja-JP" sz="800" dirty="0" err="1"/>
                        <a:t>ShowModRows</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Filter to show only edited wors for verification to be saved.</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91665697"/>
                  </a:ext>
                </a:extLst>
              </a:tr>
              <a:tr h="222231">
                <a:tc>
                  <a:txBody>
                    <a:bodyPr/>
                    <a:lstStyle/>
                    <a:p>
                      <a:r>
                        <a:rPr kumimoji="1" lang="en-US" altLang="ja-JP" sz="800" dirty="0" err="1"/>
                        <a:t>InitSF</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Initialize the form as a single </a:t>
                      </a:r>
                      <a:r>
                        <a:rPr kumimoji="1" lang="en-US" altLang="ja-JP" sz="800" dirty="0" err="1"/>
                        <a:t>form.The</a:t>
                      </a:r>
                      <a:r>
                        <a:rPr kumimoji="1" lang="en-US" altLang="ja-JP" sz="800" dirty="0"/>
                        <a:t> following functions will be added.</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800" dirty="0"/>
                        <a:t>Color coding and conditional formatting for editable/non-editable cells</a:t>
                      </a:r>
                    </a:p>
                    <a:p>
                      <a:pPr marL="171450" indent="-171450">
                        <a:buFont typeface="Arial" panose="020B0604020202020204" pitchFamily="34" charset="0"/>
                        <a:buChar char="•"/>
                      </a:pPr>
                      <a:r>
                        <a:rPr kumimoji="1" lang="en-US" altLang="ja-JP" sz="800" dirty="0"/>
                        <a:t>Transfer the values ​​set in the </a:t>
                      </a:r>
                      <a:r>
                        <a:rPr kumimoji="1" lang="en-US" altLang="ja-JP" sz="800" dirty="0" err="1"/>
                        <a:t>OpenArgs</a:t>
                      </a:r>
                      <a:r>
                        <a:rPr kumimoji="1" lang="en-US" altLang="ja-JP" sz="800" dirty="0"/>
                        <a:t> arguments to the unbound control.</a:t>
                      </a:r>
                    </a:p>
                    <a:p>
                      <a:pPr marL="171450" indent="-171450">
                        <a:buFont typeface="Arial" panose="020B0604020202020204" pitchFamily="34" charset="0"/>
                        <a:buChar char="•"/>
                      </a:pPr>
                      <a:r>
                        <a:rPr kumimoji="1" lang="en-US" altLang="ja-JP" sz="800" dirty="0"/>
                        <a:t>Image control settings (double-click to open the default viewer)</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800" dirty="0"/>
                        <a:t>Standard button control settings (Excel output, save, clear filter, close)</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800" dirty="0"/>
                        <a:t>Image control settings (double-click to open the default viewer)</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7331464"/>
                  </a:ext>
                </a:extLst>
              </a:tr>
              <a:tr h="222231">
                <a:tc>
                  <a:txBody>
                    <a:bodyPr/>
                    <a:lstStyle/>
                    <a:p>
                      <a:r>
                        <a:rPr kumimoji="1" lang="en-US" altLang="ja-JP" sz="800" dirty="0" err="1"/>
                        <a:t>OrderBy</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Sort of the </a:t>
                      </a:r>
                      <a:r>
                        <a:rPr kumimoji="1" lang="en-US" altLang="ja-JP" sz="800" dirty="0" err="1"/>
                        <a:t>From.Recordsource</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5451438"/>
                  </a:ext>
                </a:extLst>
              </a:tr>
              <a:tr h="222231">
                <a:tc>
                  <a:txBody>
                    <a:bodyPr/>
                    <a:lstStyle/>
                    <a:p>
                      <a:r>
                        <a:rPr kumimoji="1" lang="en-US" altLang="ja-JP" sz="800" dirty="0" err="1"/>
                        <a:t>SetLoadSQL</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Set the Record Source SQL to load to the local table that start with ‘Select’(Not ‘Insert into’). </a:t>
                      </a:r>
                    </a:p>
                    <a:p>
                      <a:r>
                        <a:rPr kumimoji="1" lang="en-US" altLang="ja-JP" sz="800" dirty="0"/>
                        <a:t>Default source is the shared table it self, but if the source contains 2 or more tables, it should be specified as a SQL on this parameter. </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05319"/>
                  </a:ext>
                </a:extLst>
              </a:tr>
              <a:tr h="303043">
                <a:tc>
                  <a:txBody>
                    <a:bodyPr/>
                    <a:lstStyle/>
                    <a:p>
                      <a:r>
                        <a:rPr kumimoji="1" lang="en-US" altLang="ja-JP" sz="800" dirty="0"/>
                        <a:t>Load2LocalTBL</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Load the shared table data to the local table.</a:t>
                      </a:r>
                      <a:r>
                        <a:rPr kumimoji="1" lang="ja-JP" altLang="en-US" sz="800" dirty="0"/>
                        <a:t> </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1826662"/>
                  </a:ext>
                </a:extLst>
              </a:tr>
              <a:tr h="303043">
                <a:tc>
                  <a:txBody>
                    <a:bodyPr/>
                    <a:lstStyle/>
                    <a:p>
                      <a:r>
                        <a:rPr kumimoji="1" lang="en-US" altLang="ja-JP" sz="800" dirty="0" err="1"/>
                        <a:t>SaveRows</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Save the modified rows to the shared table.</a:t>
                      </a:r>
                    </a:p>
                    <a:p>
                      <a:r>
                        <a:rPr kumimoji="1" lang="en-US" altLang="ja-JP" sz="800" dirty="0"/>
                        <a:t>(See the ALAYA Function ‘a2EditSaveRows’.)</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3050686"/>
                  </a:ext>
                </a:extLst>
              </a:tr>
            </a:tbl>
          </a:graphicData>
        </a:graphic>
      </p:graphicFrame>
      <p:sp>
        <p:nvSpPr>
          <p:cNvPr id="6" name="正方形/長方形 5">
            <a:extLst>
              <a:ext uri="{FF2B5EF4-FFF2-40B4-BE49-F238E27FC236}">
                <a16:creationId xmlns:a16="http://schemas.microsoft.com/office/drawing/2014/main" id="{76D3A146-025E-8D5B-9F5C-7576580713F3}"/>
              </a:ext>
            </a:extLst>
          </p:cNvPr>
          <p:cNvSpPr/>
          <p:nvPr/>
        </p:nvSpPr>
        <p:spPr>
          <a:xfrm>
            <a:off x="947086" y="4643298"/>
            <a:ext cx="3406140" cy="259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7" name="正方形/長方形 6">
            <a:extLst>
              <a:ext uri="{FF2B5EF4-FFF2-40B4-BE49-F238E27FC236}">
                <a16:creationId xmlns:a16="http://schemas.microsoft.com/office/drawing/2014/main" id="{D45D8C48-3971-07CF-FAB1-DB85766B5850}"/>
              </a:ext>
            </a:extLst>
          </p:cNvPr>
          <p:cNvSpPr/>
          <p:nvPr/>
        </p:nvSpPr>
        <p:spPr>
          <a:xfrm>
            <a:off x="3225967" y="4352486"/>
            <a:ext cx="2120165" cy="259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1" name="正方形/長方形 10">
            <a:extLst>
              <a:ext uri="{FF2B5EF4-FFF2-40B4-BE49-F238E27FC236}">
                <a16:creationId xmlns:a16="http://schemas.microsoft.com/office/drawing/2014/main" id="{7DE8DDF6-9549-E053-9A4A-82198BE5C187}"/>
              </a:ext>
            </a:extLst>
          </p:cNvPr>
          <p:cNvSpPr/>
          <p:nvPr/>
        </p:nvSpPr>
        <p:spPr>
          <a:xfrm>
            <a:off x="2173906" y="6091098"/>
            <a:ext cx="1889760" cy="37066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sz="1200" dirty="0"/>
              <a:t>Color </a:t>
            </a:r>
            <a:r>
              <a:rPr kumimoji="1" lang="en-US" altLang="ja-JP" sz="1200" dirty="0" err="1"/>
              <a:t>codig</a:t>
            </a:r>
            <a:r>
              <a:rPr kumimoji="1" lang="en-US" altLang="ja-JP" sz="1200" dirty="0"/>
              <a:t> and conditional formatting</a:t>
            </a:r>
            <a:endParaRPr kumimoji="1" lang="ja-JP" altLang="en-US" sz="1200" dirty="0"/>
          </a:p>
        </p:txBody>
      </p:sp>
      <p:sp>
        <p:nvSpPr>
          <p:cNvPr id="12" name="正方形/長方形 11">
            <a:extLst>
              <a:ext uri="{FF2B5EF4-FFF2-40B4-BE49-F238E27FC236}">
                <a16:creationId xmlns:a16="http://schemas.microsoft.com/office/drawing/2014/main" id="{E64F9633-790C-2B4E-29E6-F64BF8BFFDD2}"/>
              </a:ext>
            </a:extLst>
          </p:cNvPr>
          <p:cNvSpPr/>
          <p:nvPr/>
        </p:nvSpPr>
        <p:spPr>
          <a:xfrm>
            <a:off x="3357211" y="3999235"/>
            <a:ext cx="1473869" cy="25908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sz="1200" dirty="0"/>
              <a:t>Standard Buttons</a:t>
            </a:r>
            <a:endParaRPr kumimoji="1" lang="ja-JP" altLang="en-US" sz="1200" dirty="0"/>
          </a:p>
        </p:txBody>
      </p:sp>
      <p:sp>
        <p:nvSpPr>
          <p:cNvPr id="13" name="正方形/長方形 12">
            <a:extLst>
              <a:ext uri="{FF2B5EF4-FFF2-40B4-BE49-F238E27FC236}">
                <a16:creationId xmlns:a16="http://schemas.microsoft.com/office/drawing/2014/main" id="{9BD36DBB-526E-4637-806F-674D70942E4D}"/>
              </a:ext>
            </a:extLst>
          </p:cNvPr>
          <p:cNvSpPr/>
          <p:nvPr/>
        </p:nvSpPr>
        <p:spPr>
          <a:xfrm>
            <a:off x="1229026" y="4277538"/>
            <a:ext cx="944880" cy="25908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sz="1200" dirty="0"/>
              <a:t>Filtering</a:t>
            </a:r>
            <a:endParaRPr kumimoji="1" lang="ja-JP" altLang="en-US" sz="1200" dirty="0"/>
          </a:p>
        </p:txBody>
      </p:sp>
      <p:pic>
        <p:nvPicPr>
          <p:cNvPr id="8" name="図 7">
            <a:extLst>
              <a:ext uri="{FF2B5EF4-FFF2-40B4-BE49-F238E27FC236}">
                <a16:creationId xmlns:a16="http://schemas.microsoft.com/office/drawing/2014/main" id="{D95E352F-77C5-6FF7-8AB9-2F91530EDD47}"/>
              </a:ext>
            </a:extLst>
          </p:cNvPr>
          <p:cNvPicPr>
            <a:picLocks noChangeAspect="1"/>
          </p:cNvPicPr>
          <p:nvPr/>
        </p:nvPicPr>
        <p:blipFill>
          <a:blip r:embed="rId3"/>
          <a:stretch>
            <a:fillRect/>
          </a:stretch>
        </p:blipFill>
        <p:spPr>
          <a:xfrm>
            <a:off x="1434565" y="6711747"/>
            <a:ext cx="3070860" cy="3048727"/>
          </a:xfrm>
          <a:prstGeom prst="rect">
            <a:avLst/>
          </a:prstGeom>
        </p:spPr>
      </p:pic>
      <p:sp>
        <p:nvSpPr>
          <p:cNvPr id="9" name="正方形/長方形 8">
            <a:extLst>
              <a:ext uri="{FF2B5EF4-FFF2-40B4-BE49-F238E27FC236}">
                <a16:creationId xmlns:a16="http://schemas.microsoft.com/office/drawing/2014/main" id="{8A67699A-E69A-9320-1035-D23871FD34EF}"/>
              </a:ext>
            </a:extLst>
          </p:cNvPr>
          <p:cNvSpPr/>
          <p:nvPr/>
        </p:nvSpPr>
        <p:spPr>
          <a:xfrm>
            <a:off x="3357211" y="7717125"/>
            <a:ext cx="1245269" cy="25908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sz="1200" dirty="0"/>
              <a:t>Color </a:t>
            </a:r>
            <a:r>
              <a:rPr kumimoji="1" lang="en-US" altLang="ja-JP" sz="1200" dirty="0" err="1"/>
              <a:t>condings</a:t>
            </a:r>
            <a:endParaRPr kumimoji="1" lang="ja-JP" altLang="en-US" sz="1200" dirty="0"/>
          </a:p>
        </p:txBody>
      </p:sp>
      <p:sp>
        <p:nvSpPr>
          <p:cNvPr id="15" name="正方形/長方形 14">
            <a:extLst>
              <a:ext uri="{FF2B5EF4-FFF2-40B4-BE49-F238E27FC236}">
                <a16:creationId xmlns:a16="http://schemas.microsoft.com/office/drawing/2014/main" id="{6E1DF379-E3BF-77F2-A426-822ED604C726}"/>
              </a:ext>
            </a:extLst>
          </p:cNvPr>
          <p:cNvSpPr/>
          <p:nvPr/>
        </p:nvSpPr>
        <p:spPr>
          <a:xfrm>
            <a:off x="4401252" y="6976781"/>
            <a:ext cx="1367389" cy="25908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ja-JP" sz="1200" dirty="0"/>
              <a:t>Standard Buttons</a:t>
            </a:r>
            <a:endParaRPr kumimoji="1" lang="ja-JP" altLang="en-US" sz="1200" dirty="0"/>
          </a:p>
        </p:txBody>
      </p:sp>
    </p:spTree>
    <p:extLst>
      <p:ext uri="{BB962C8B-B14F-4D97-AF65-F5344CB8AC3E}">
        <p14:creationId xmlns:p14="http://schemas.microsoft.com/office/powerpoint/2010/main" val="2879970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矢印: 右 69">
            <a:extLst>
              <a:ext uri="{FF2B5EF4-FFF2-40B4-BE49-F238E27FC236}">
                <a16:creationId xmlns:a16="http://schemas.microsoft.com/office/drawing/2014/main" id="{AD986092-A1C6-A0F1-1201-ABE13AFA0EA9}"/>
              </a:ext>
            </a:extLst>
          </p:cNvPr>
          <p:cNvSpPr/>
          <p:nvPr/>
        </p:nvSpPr>
        <p:spPr>
          <a:xfrm flipH="1">
            <a:off x="4312754" y="8915104"/>
            <a:ext cx="270510" cy="111122"/>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4" name="タイトル 3">
            <a:extLst>
              <a:ext uri="{FF2B5EF4-FFF2-40B4-BE49-F238E27FC236}">
                <a16:creationId xmlns:a16="http://schemas.microsoft.com/office/drawing/2014/main" id="{1D7B646C-2B8D-43A0-3E42-875393F630FE}"/>
              </a:ext>
            </a:extLst>
          </p:cNvPr>
          <p:cNvSpPr>
            <a:spLocks noGrp="1"/>
          </p:cNvSpPr>
          <p:nvPr>
            <p:ph type="title"/>
          </p:nvPr>
        </p:nvSpPr>
        <p:spPr>
          <a:xfrm>
            <a:off x="291893" y="248073"/>
            <a:ext cx="4760785" cy="414867"/>
          </a:xfrm>
        </p:spPr>
        <p:txBody>
          <a:bodyPr>
            <a:normAutofit fontScale="90000"/>
          </a:bodyPr>
          <a:lstStyle/>
          <a:p>
            <a:r>
              <a:rPr lang="en-US" altLang="ja-JP" dirty="0"/>
              <a:t>Record Savings</a:t>
            </a:r>
            <a:endParaRPr lang="ja-JP" altLang="en-US" dirty="0"/>
          </a:p>
        </p:txBody>
      </p:sp>
      <p:graphicFrame>
        <p:nvGraphicFramePr>
          <p:cNvPr id="2" name="表 9">
            <a:extLst>
              <a:ext uri="{FF2B5EF4-FFF2-40B4-BE49-F238E27FC236}">
                <a16:creationId xmlns:a16="http://schemas.microsoft.com/office/drawing/2014/main" id="{FAB77DCA-60EF-6801-44A2-5431FC88850F}"/>
              </a:ext>
            </a:extLst>
          </p:cNvPr>
          <p:cNvGraphicFramePr>
            <a:graphicFrameLocks noGrp="1"/>
          </p:cNvGraphicFramePr>
          <p:nvPr/>
        </p:nvGraphicFramePr>
        <p:xfrm>
          <a:off x="197594" y="776057"/>
          <a:ext cx="6274213" cy="1951807"/>
        </p:xfrm>
        <a:graphic>
          <a:graphicData uri="http://schemas.openxmlformats.org/drawingml/2006/table">
            <a:tbl>
              <a:tblPr firstRow="1" bandRow="1">
                <a:tableStyleId>{5940675A-B579-460E-94D1-54222C63F5DA}</a:tableStyleId>
              </a:tblPr>
              <a:tblGrid>
                <a:gridCol w="905032">
                  <a:extLst>
                    <a:ext uri="{9D8B030D-6E8A-4147-A177-3AD203B41FA5}">
                      <a16:colId xmlns:a16="http://schemas.microsoft.com/office/drawing/2014/main" val="1629670982"/>
                    </a:ext>
                  </a:extLst>
                </a:gridCol>
                <a:gridCol w="5369181">
                  <a:extLst>
                    <a:ext uri="{9D8B030D-6E8A-4147-A177-3AD203B41FA5}">
                      <a16:colId xmlns:a16="http://schemas.microsoft.com/office/drawing/2014/main" val="2196425086"/>
                    </a:ext>
                  </a:extLst>
                </a:gridCol>
              </a:tblGrid>
              <a:tr h="189375">
                <a:tc gridSpan="2">
                  <a:txBody>
                    <a:bodyPr/>
                    <a:lstStyle/>
                    <a:p>
                      <a:r>
                        <a:rPr kumimoji="1" lang="en-US" altLang="ja-JP" sz="1000" dirty="0" err="1"/>
                        <a:t>FRM.SaveRows</a:t>
                      </a:r>
                      <a:r>
                        <a:rPr kumimoji="1" lang="ja-JP" altLang="en-US" sz="1000" dirty="0"/>
                        <a:t> </a:t>
                      </a:r>
                      <a:r>
                        <a:rPr kumimoji="1" lang="en-US" altLang="ja-JP" sz="1000" dirty="0"/>
                        <a:t>method</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hMerge="1">
                  <a:txBody>
                    <a:bodyPr/>
                    <a:lstStyle/>
                    <a:p>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80689767"/>
                  </a:ext>
                </a:extLst>
              </a:tr>
              <a:tr h="220424">
                <a:tc>
                  <a:txBody>
                    <a:bodyPr/>
                    <a:lstStyle/>
                    <a:p>
                      <a:r>
                        <a:rPr kumimoji="1" lang="en-US" altLang="ja-JP" sz="800" dirty="0"/>
                        <a:t>Function</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Save </a:t>
                      </a:r>
                      <a:r>
                        <a:rPr kumimoji="1" lang="en-US" altLang="ja-JP" sz="800" b="1" dirty="0"/>
                        <a:t>the EDIT ROWS  to </a:t>
                      </a:r>
                      <a:r>
                        <a:rPr kumimoji="1" lang="en-US" altLang="ja-JP" sz="800" dirty="0"/>
                        <a:t>the shared table.</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909771050"/>
                  </a:ext>
                </a:extLst>
              </a:tr>
              <a:tr h="158737">
                <a:tc>
                  <a:txBody>
                    <a:bodyPr/>
                    <a:lstStyle/>
                    <a:p>
                      <a:r>
                        <a:rPr kumimoji="1" lang="en-US" altLang="ja-JP" sz="800" dirty="0"/>
                        <a:t>Syntax</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a2SetCmdSaveRows(CMD,</a:t>
                      </a:r>
                      <a:r>
                        <a:rPr kumimoji="1" lang="ja-JP" altLang="en-US" sz="800" dirty="0"/>
                        <a:t> </a:t>
                      </a:r>
                      <a:r>
                        <a:rPr kumimoji="1" lang="en-US" altLang="ja-JP" sz="800" dirty="0" err="1"/>
                        <a:t>FormName</a:t>
                      </a:r>
                      <a:r>
                        <a:rPr kumimoji="1" lang="en-US" altLang="ja-JP" sz="800" dirty="0"/>
                        <a:t>,</a:t>
                      </a:r>
                      <a:r>
                        <a:rPr kumimoji="1" lang="ja-JP" altLang="en-US" sz="800" dirty="0"/>
                        <a:t> </a:t>
                      </a:r>
                      <a:r>
                        <a:rPr kumimoji="1" lang="en-US" altLang="ja-JP" sz="800" dirty="0" err="1"/>
                        <a:t>ShareTBL</a:t>
                      </a:r>
                      <a:r>
                        <a:rPr kumimoji="1" lang="en-US" altLang="ja-JP" sz="800" dirty="0"/>
                        <a:t>, </a:t>
                      </a:r>
                      <a:r>
                        <a:rPr kumimoji="1" lang="en-US" altLang="ja-JP" sz="800" dirty="0" err="1"/>
                        <a:t>LocalTBL</a:t>
                      </a:r>
                      <a:r>
                        <a:rPr kumimoji="1" lang="en-US" altLang="ja-JP" sz="800" dirty="0"/>
                        <a:t>, </a:t>
                      </a:r>
                      <a:r>
                        <a:rPr kumimoji="1" lang="en-US" altLang="ja-JP" sz="800" dirty="0" err="1"/>
                        <a:t>IDColumn</a:t>
                      </a:r>
                      <a:r>
                        <a:rPr kumimoji="1" lang="en-US" altLang="ja-JP" sz="800" dirty="0"/>
                        <a:t>, </a:t>
                      </a:r>
                      <a:r>
                        <a:rPr kumimoji="1" lang="en-US" altLang="ja-JP" sz="800" dirty="0" err="1"/>
                        <a:t>RgstCols</a:t>
                      </a:r>
                      <a:r>
                        <a:rPr kumimoji="1" lang="en-US" altLang="ja-JP" sz="800" dirty="0"/>
                        <a:t>)</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86838944"/>
                  </a:ext>
                </a:extLst>
              </a:tr>
              <a:tr h="158737">
                <a:tc>
                  <a:txBody>
                    <a:bodyPr/>
                    <a:lstStyle/>
                    <a:p>
                      <a:r>
                        <a:rPr kumimoji="1" lang="en-US" altLang="ja-JP" sz="800" dirty="0"/>
                        <a:t>Return</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ja-JP" altLang="en-US" sz="800" dirty="0"/>
                        <a:t>更新、削除行数を示す実行結果のログ文字列</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4890968"/>
                  </a:ext>
                </a:extLst>
              </a:tr>
              <a:tr h="158737">
                <a:tc>
                  <a:txBody>
                    <a:bodyPr/>
                    <a:lstStyle/>
                    <a:p>
                      <a:r>
                        <a:rPr kumimoji="1" lang="en-US" altLang="ja-JP" sz="800" dirty="0"/>
                        <a:t>Parameters</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062057340"/>
                  </a:ext>
                </a:extLst>
              </a:tr>
              <a:tr h="223381">
                <a:tc>
                  <a:txBody>
                    <a:bodyPr/>
                    <a:lstStyle/>
                    <a:p>
                      <a:r>
                        <a:rPr kumimoji="1" lang="en-US" altLang="ja-JP" sz="800" dirty="0" err="1"/>
                        <a:t>TargetSaveTBL</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Target shared table to save.</a:t>
                      </a:r>
                      <a:r>
                        <a:rPr kumimoji="1" lang="ja-JP" altLang="en-US" sz="800" dirty="0"/>
                        <a:t> </a:t>
                      </a:r>
                      <a:r>
                        <a:rPr kumimoji="1" lang="en-US" altLang="ja-JP" sz="800" dirty="0"/>
                        <a:t>If omitted, </a:t>
                      </a:r>
                      <a:r>
                        <a:rPr kumimoji="1" lang="en-US" altLang="ja-JP" sz="800" dirty="0" err="1"/>
                        <a:t>FRM,SahreTBL</a:t>
                      </a:r>
                      <a:r>
                        <a:rPr kumimoji="1" lang="en-US" altLang="ja-JP" sz="800" dirty="0"/>
                        <a:t> is used.</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42111244"/>
                  </a:ext>
                </a:extLst>
              </a:tr>
              <a:tr h="281288">
                <a:tc>
                  <a:txBody>
                    <a:bodyPr/>
                    <a:lstStyle/>
                    <a:p>
                      <a:r>
                        <a:rPr kumimoji="1" lang="en-US" altLang="ja-JP" sz="800" dirty="0" err="1"/>
                        <a:t>TargetRecordID</a:t>
                      </a: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Shared table ID column name for ‘update join on’ If </a:t>
                      </a:r>
                      <a:r>
                        <a:rPr kumimoji="1" lang="en-US" altLang="ja-JP" sz="800" dirty="0" err="1"/>
                        <a:t>omitted,FRM.ShareRID</a:t>
                      </a:r>
                      <a:r>
                        <a:rPr kumimoji="1" lang="en-US" altLang="ja-JP" sz="800" dirty="0"/>
                        <a:t> is used.</a:t>
                      </a:r>
                    </a:p>
                    <a:p>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67414"/>
                  </a:ext>
                </a:extLst>
              </a:tr>
              <a:tr h="281288">
                <a:tc>
                  <a:txBody>
                    <a:bodyPr/>
                    <a:lstStyle/>
                    <a:p>
                      <a:r>
                        <a:rPr kumimoji="1" lang="en-US" altLang="ja-JP" sz="800" dirty="0" err="1"/>
                        <a:t>LocalTargetID</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1" lang="en-US" altLang="ja-JP" sz="800" dirty="0"/>
                        <a:t>Local Table ID column name. for ‘update Join on’. If omitted, </a:t>
                      </a:r>
                      <a:r>
                        <a:rPr kumimoji="1" lang="en-US" altLang="ja-JP" sz="800" dirty="0" err="1"/>
                        <a:t>FRM.LocalRID</a:t>
                      </a:r>
                      <a:r>
                        <a:rPr kumimoji="1" lang="en-US" altLang="ja-JP" sz="800" dirty="0"/>
                        <a:t> is used.</a:t>
                      </a:r>
                    </a:p>
                    <a:p>
                      <a:pPr marL="0" marR="0" lvl="0" indent="0" algn="l" defTabSz="342900" rtl="0" eaLnBrk="1" fontAlgn="auto" latinLnBrk="0" hangingPunct="1">
                        <a:lnSpc>
                          <a:spcPct val="100000"/>
                        </a:lnSpc>
                        <a:spcBef>
                          <a:spcPts val="0"/>
                        </a:spcBef>
                        <a:spcAft>
                          <a:spcPts val="0"/>
                        </a:spcAft>
                        <a:buClrTx/>
                        <a:buSzTx/>
                        <a:buFontTx/>
                        <a:buNone/>
                        <a:tabLst/>
                        <a:defRPr/>
                      </a:pPr>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41149825"/>
                  </a:ext>
                </a:extLst>
              </a:tr>
              <a:tr h="158737">
                <a:tc>
                  <a:txBody>
                    <a:bodyPr/>
                    <a:lstStyle/>
                    <a:p>
                      <a:r>
                        <a:rPr kumimoji="1" lang="en-US" altLang="ja-JP" sz="800" dirty="0" err="1"/>
                        <a:t>Wcond</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Where condition to filter target update record. Blank If omitted.</a:t>
                      </a:r>
                    </a:p>
                    <a:p>
                      <a:endParaRPr kumimoji="1" lang="en-US" altLang="ja-JP"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3993241"/>
                  </a:ext>
                </a:extLst>
              </a:tr>
            </a:tbl>
          </a:graphicData>
        </a:graphic>
      </p:graphicFrame>
      <p:sp>
        <p:nvSpPr>
          <p:cNvPr id="3" name="テキスト ボックス 2">
            <a:extLst>
              <a:ext uri="{FF2B5EF4-FFF2-40B4-BE49-F238E27FC236}">
                <a16:creationId xmlns:a16="http://schemas.microsoft.com/office/drawing/2014/main" id="{B46A4A1A-762B-5007-7FB2-64F3FEB11084}"/>
              </a:ext>
            </a:extLst>
          </p:cNvPr>
          <p:cNvSpPr txBox="1"/>
          <p:nvPr/>
        </p:nvSpPr>
        <p:spPr>
          <a:xfrm>
            <a:off x="215684" y="2858133"/>
            <a:ext cx="6274213" cy="1061829"/>
          </a:xfrm>
          <a:prstGeom prst="rect">
            <a:avLst/>
          </a:prstGeom>
          <a:solidFill>
            <a:schemeClr val="bg1"/>
          </a:solidFill>
          <a:ln>
            <a:solidFill>
              <a:schemeClr val="bg1"/>
            </a:solidFill>
          </a:ln>
        </p:spPr>
        <p:txBody>
          <a:bodyPr wrap="square" rtlCol="0">
            <a:spAutoFit/>
          </a:bodyPr>
          <a:lstStyle/>
          <a:p>
            <a:r>
              <a:rPr kumimoji="1" lang="en-US" altLang="ja-JP" sz="1050" dirty="0"/>
              <a:t>【Explanation】</a:t>
            </a:r>
          </a:p>
          <a:p>
            <a:r>
              <a:rPr kumimoji="1" lang="en-US" altLang="ja-JP" sz="1050" dirty="0"/>
              <a:t>By default, edits made in </a:t>
            </a:r>
            <a:r>
              <a:rPr kumimoji="1" lang="en-US" altLang="ja-JP" sz="1050" dirty="0" err="1"/>
              <a:t>LocalTBL</a:t>
            </a:r>
            <a:r>
              <a:rPr kumimoji="1" lang="en-US" altLang="ja-JP" sz="1050" dirty="0"/>
              <a:t> are reflected and saved in </a:t>
            </a:r>
            <a:r>
              <a:rPr kumimoji="1" lang="en-US" altLang="ja-JP" sz="1050" dirty="0" err="1"/>
              <a:t>ShareTBL</a:t>
            </a:r>
            <a:r>
              <a:rPr kumimoji="1" lang="en-US" altLang="ja-JP" sz="1050" dirty="0"/>
              <a:t>. However, if the format of </a:t>
            </a:r>
            <a:r>
              <a:rPr kumimoji="1" lang="en-US" altLang="ja-JP" sz="1050" dirty="0" err="1"/>
              <a:t>LocalTBL</a:t>
            </a:r>
            <a:r>
              <a:rPr kumimoji="1" lang="en-US" altLang="ja-JP" sz="1050" dirty="0"/>
              <a:t> differs from that of </a:t>
            </a:r>
            <a:r>
              <a:rPr kumimoji="1" lang="en-US" altLang="ja-JP" sz="1050" dirty="0" err="1"/>
              <a:t>ShareTBL</a:t>
            </a:r>
            <a:r>
              <a:rPr kumimoji="1" lang="en-US" altLang="ja-JP" sz="1050" dirty="0"/>
              <a:t>, or if you want to save to multiple tables, you will need to write your own save event code. In this case, using the </a:t>
            </a:r>
            <a:r>
              <a:rPr kumimoji="1" lang="en-US" altLang="ja-JP" sz="1050" dirty="0" err="1"/>
              <a:t>FRM.SaveRows</a:t>
            </a:r>
            <a:r>
              <a:rPr kumimoji="1" lang="en-US" altLang="ja-JP" sz="1050" dirty="0"/>
              <a:t> method makes it relatively easy to write the code.</a:t>
            </a:r>
          </a:p>
          <a:p>
            <a:r>
              <a:rPr kumimoji="1" lang="en-US" altLang="ja-JP" sz="1050" dirty="0"/>
              <a:t>For details, please refer to the ALAYA function a2EditSaveRows → a2EditTBL2SQL code.</a:t>
            </a:r>
          </a:p>
        </p:txBody>
      </p:sp>
      <p:sp>
        <p:nvSpPr>
          <p:cNvPr id="7" name="フローチャート: 内部記憶 6">
            <a:extLst>
              <a:ext uri="{FF2B5EF4-FFF2-40B4-BE49-F238E27FC236}">
                <a16:creationId xmlns:a16="http://schemas.microsoft.com/office/drawing/2014/main" id="{CB51B69E-D63D-D3E6-0453-A59F8568DC1D}"/>
              </a:ext>
            </a:extLst>
          </p:cNvPr>
          <p:cNvSpPr/>
          <p:nvPr/>
        </p:nvSpPr>
        <p:spPr>
          <a:xfrm>
            <a:off x="867248" y="8540645"/>
            <a:ext cx="589914" cy="294649"/>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t>Edit</a:t>
            </a:r>
          </a:p>
          <a:p>
            <a:pPr algn="ctr"/>
            <a:r>
              <a:rPr kumimoji="1" lang="en-US" altLang="ja-JP" sz="1050" dirty="0"/>
              <a:t>TBL</a:t>
            </a:r>
            <a:endParaRPr kumimoji="1" lang="ja-JP" altLang="en-US" sz="1050" dirty="0"/>
          </a:p>
        </p:txBody>
      </p:sp>
      <p:sp>
        <p:nvSpPr>
          <p:cNvPr id="8" name="フローチャート: 磁気ディスク 7">
            <a:extLst>
              <a:ext uri="{FF2B5EF4-FFF2-40B4-BE49-F238E27FC236}">
                <a16:creationId xmlns:a16="http://schemas.microsoft.com/office/drawing/2014/main" id="{F62B21D4-A173-C0EE-4E46-984BE4FEC22E}"/>
              </a:ext>
            </a:extLst>
          </p:cNvPr>
          <p:cNvSpPr/>
          <p:nvPr/>
        </p:nvSpPr>
        <p:spPr>
          <a:xfrm>
            <a:off x="885345" y="7925178"/>
            <a:ext cx="541020" cy="341351"/>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Share</a:t>
            </a:r>
          </a:p>
          <a:p>
            <a:pPr algn="ctr"/>
            <a:r>
              <a:rPr kumimoji="1" lang="en-US" altLang="ja-JP" sz="1000" dirty="0"/>
              <a:t>A</a:t>
            </a:r>
            <a:endParaRPr kumimoji="1" lang="ja-JP" altLang="en-US" sz="1000" dirty="0"/>
          </a:p>
        </p:txBody>
      </p:sp>
      <p:sp>
        <p:nvSpPr>
          <p:cNvPr id="13" name="フローチャート: 磁気ディスク 12">
            <a:extLst>
              <a:ext uri="{FF2B5EF4-FFF2-40B4-BE49-F238E27FC236}">
                <a16:creationId xmlns:a16="http://schemas.microsoft.com/office/drawing/2014/main" id="{FD1B9C15-A63E-D1B5-DAFF-B75696415579}"/>
              </a:ext>
            </a:extLst>
          </p:cNvPr>
          <p:cNvSpPr/>
          <p:nvPr/>
        </p:nvSpPr>
        <p:spPr>
          <a:xfrm>
            <a:off x="885345" y="9217159"/>
            <a:ext cx="541020" cy="341351"/>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Share</a:t>
            </a:r>
          </a:p>
          <a:p>
            <a:pPr algn="ctr"/>
            <a:r>
              <a:rPr kumimoji="1" lang="en-US" altLang="ja-JP" sz="1000" dirty="0"/>
              <a:t>A</a:t>
            </a:r>
            <a:endParaRPr kumimoji="1" lang="ja-JP" altLang="en-US" sz="1000" dirty="0"/>
          </a:p>
        </p:txBody>
      </p:sp>
      <p:cxnSp>
        <p:nvCxnSpPr>
          <p:cNvPr id="17" name="直線矢印コネクタ 16">
            <a:extLst>
              <a:ext uri="{FF2B5EF4-FFF2-40B4-BE49-F238E27FC236}">
                <a16:creationId xmlns:a16="http://schemas.microsoft.com/office/drawing/2014/main" id="{11CF03F6-7D4E-FB43-C9C7-A559232C0433}"/>
              </a:ext>
            </a:extLst>
          </p:cNvPr>
          <p:cNvCxnSpPr>
            <a:cxnSpLocks/>
            <a:stCxn id="8" idx="3"/>
            <a:endCxn id="7" idx="0"/>
          </p:cNvCxnSpPr>
          <p:nvPr/>
        </p:nvCxnSpPr>
        <p:spPr>
          <a:xfrm>
            <a:off x="1155855" y="8266529"/>
            <a:ext cx="6350" cy="27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50B55C99-4E6F-4EDC-EB4F-6E91091F4D63}"/>
              </a:ext>
            </a:extLst>
          </p:cNvPr>
          <p:cNvCxnSpPr>
            <a:cxnSpLocks/>
            <a:stCxn id="7" idx="2"/>
            <a:endCxn id="13" idx="1"/>
          </p:cNvCxnSpPr>
          <p:nvPr/>
        </p:nvCxnSpPr>
        <p:spPr>
          <a:xfrm flipH="1">
            <a:off x="1155855" y="8835294"/>
            <a:ext cx="6350" cy="381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フローチャート: 内部記憶 53">
            <a:extLst>
              <a:ext uri="{FF2B5EF4-FFF2-40B4-BE49-F238E27FC236}">
                <a16:creationId xmlns:a16="http://schemas.microsoft.com/office/drawing/2014/main" id="{62B0D4BE-0134-5000-F9F4-F636369F3170}"/>
              </a:ext>
            </a:extLst>
          </p:cNvPr>
          <p:cNvSpPr/>
          <p:nvPr/>
        </p:nvSpPr>
        <p:spPr>
          <a:xfrm>
            <a:off x="3564728" y="8520396"/>
            <a:ext cx="589914" cy="294649"/>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t>Edit</a:t>
            </a:r>
          </a:p>
          <a:p>
            <a:pPr algn="ctr"/>
            <a:r>
              <a:rPr kumimoji="1" lang="en-US" altLang="ja-JP" sz="1050" dirty="0"/>
              <a:t>TBL</a:t>
            </a:r>
            <a:endParaRPr kumimoji="1" lang="ja-JP" altLang="en-US" sz="1050" dirty="0"/>
          </a:p>
        </p:txBody>
      </p:sp>
      <p:sp>
        <p:nvSpPr>
          <p:cNvPr id="55" name="フローチャート: 磁気ディスク 54">
            <a:extLst>
              <a:ext uri="{FF2B5EF4-FFF2-40B4-BE49-F238E27FC236}">
                <a16:creationId xmlns:a16="http://schemas.microsoft.com/office/drawing/2014/main" id="{0F239315-EED3-A8E1-E5AE-465FC66B021F}"/>
              </a:ext>
            </a:extLst>
          </p:cNvPr>
          <p:cNvSpPr/>
          <p:nvPr/>
        </p:nvSpPr>
        <p:spPr>
          <a:xfrm>
            <a:off x="3582825" y="7904929"/>
            <a:ext cx="541020" cy="341351"/>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Share</a:t>
            </a:r>
          </a:p>
          <a:p>
            <a:pPr algn="ctr"/>
            <a:r>
              <a:rPr kumimoji="1" lang="en-US" altLang="ja-JP" sz="1000" dirty="0"/>
              <a:t>A</a:t>
            </a:r>
            <a:endParaRPr kumimoji="1" lang="ja-JP" altLang="en-US" sz="1000" dirty="0"/>
          </a:p>
        </p:txBody>
      </p:sp>
      <p:sp>
        <p:nvSpPr>
          <p:cNvPr id="56" name="フローチャート: 磁気ディスク 55">
            <a:extLst>
              <a:ext uri="{FF2B5EF4-FFF2-40B4-BE49-F238E27FC236}">
                <a16:creationId xmlns:a16="http://schemas.microsoft.com/office/drawing/2014/main" id="{017380CA-B762-516F-460E-B778DBEB3C1C}"/>
              </a:ext>
            </a:extLst>
          </p:cNvPr>
          <p:cNvSpPr/>
          <p:nvPr/>
        </p:nvSpPr>
        <p:spPr>
          <a:xfrm>
            <a:off x="4394355" y="7904929"/>
            <a:ext cx="541020" cy="341351"/>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Share</a:t>
            </a:r>
          </a:p>
          <a:p>
            <a:pPr algn="ctr"/>
            <a:r>
              <a:rPr kumimoji="1" lang="en-US" altLang="ja-JP" sz="1000" dirty="0"/>
              <a:t>B</a:t>
            </a:r>
            <a:endParaRPr kumimoji="1" lang="ja-JP" altLang="en-US" sz="1000" dirty="0"/>
          </a:p>
        </p:txBody>
      </p:sp>
      <p:sp>
        <p:nvSpPr>
          <p:cNvPr id="57" name="フローチャート: 磁気ディスク 56">
            <a:extLst>
              <a:ext uri="{FF2B5EF4-FFF2-40B4-BE49-F238E27FC236}">
                <a16:creationId xmlns:a16="http://schemas.microsoft.com/office/drawing/2014/main" id="{FD4814EC-4C8F-A60F-61E7-9BD081D663D5}"/>
              </a:ext>
            </a:extLst>
          </p:cNvPr>
          <p:cNvSpPr/>
          <p:nvPr/>
        </p:nvSpPr>
        <p:spPr>
          <a:xfrm>
            <a:off x="3589175" y="9212009"/>
            <a:ext cx="541020" cy="341351"/>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Share</a:t>
            </a:r>
          </a:p>
          <a:p>
            <a:pPr algn="ctr"/>
            <a:r>
              <a:rPr kumimoji="1" lang="en-US" altLang="ja-JP" sz="1000" dirty="0"/>
              <a:t>A</a:t>
            </a:r>
            <a:endParaRPr kumimoji="1" lang="ja-JP" altLang="en-US" sz="1000" dirty="0"/>
          </a:p>
        </p:txBody>
      </p:sp>
      <p:cxnSp>
        <p:nvCxnSpPr>
          <p:cNvPr id="58" name="コネクタ: カギ線 57">
            <a:extLst>
              <a:ext uri="{FF2B5EF4-FFF2-40B4-BE49-F238E27FC236}">
                <a16:creationId xmlns:a16="http://schemas.microsoft.com/office/drawing/2014/main" id="{C479F226-F13E-74BE-6D7E-C2CA5B721F5C}"/>
              </a:ext>
            </a:extLst>
          </p:cNvPr>
          <p:cNvCxnSpPr>
            <a:cxnSpLocks/>
            <a:stCxn id="55" idx="3"/>
            <a:endCxn id="56" idx="3"/>
          </p:cNvCxnSpPr>
          <p:nvPr/>
        </p:nvCxnSpPr>
        <p:spPr>
          <a:xfrm rot="16200000" flipH="1">
            <a:off x="4259100" y="7840515"/>
            <a:ext cx="12700" cy="811530"/>
          </a:xfrm>
          <a:prstGeom prst="bentConnector3">
            <a:avLst>
              <a:gd name="adj1" fmla="val 1020000"/>
            </a:avLst>
          </a:prstGeom>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BE968C10-2F07-EFB1-4E16-5604264663C5}"/>
              </a:ext>
            </a:extLst>
          </p:cNvPr>
          <p:cNvCxnSpPr>
            <a:cxnSpLocks/>
            <a:stCxn id="55" idx="3"/>
            <a:endCxn id="54" idx="0"/>
          </p:cNvCxnSpPr>
          <p:nvPr/>
        </p:nvCxnSpPr>
        <p:spPr>
          <a:xfrm>
            <a:off x="3853335" y="8246280"/>
            <a:ext cx="6350" cy="27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0E0FD784-4F74-043D-75E0-AB3F0706BC97}"/>
              </a:ext>
            </a:extLst>
          </p:cNvPr>
          <p:cNvCxnSpPr>
            <a:cxnSpLocks/>
            <a:stCxn id="54" idx="2"/>
            <a:endCxn id="57" idx="1"/>
          </p:cNvCxnSpPr>
          <p:nvPr/>
        </p:nvCxnSpPr>
        <p:spPr>
          <a:xfrm>
            <a:off x="3859685" y="8815045"/>
            <a:ext cx="0" cy="396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フローチャート: 磁気ディスク 63">
            <a:extLst>
              <a:ext uri="{FF2B5EF4-FFF2-40B4-BE49-F238E27FC236}">
                <a16:creationId xmlns:a16="http://schemas.microsoft.com/office/drawing/2014/main" id="{3D5988F0-C0C6-D761-C8C8-0FE90ACA9D9A}"/>
              </a:ext>
            </a:extLst>
          </p:cNvPr>
          <p:cNvSpPr/>
          <p:nvPr/>
        </p:nvSpPr>
        <p:spPr>
          <a:xfrm>
            <a:off x="4448008" y="9212008"/>
            <a:ext cx="541020" cy="341351"/>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Share</a:t>
            </a:r>
          </a:p>
          <a:p>
            <a:pPr algn="ctr"/>
            <a:r>
              <a:rPr kumimoji="1" lang="en-US" altLang="ja-JP" sz="1000" dirty="0"/>
              <a:t>B</a:t>
            </a:r>
            <a:endParaRPr kumimoji="1" lang="ja-JP" altLang="en-US" sz="1000" dirty="0"/>
          </a:p>
        </p:txBody>
      </p:sp>
      <p:cxnSp>
        <p:nvCxnSpPr>
          <p:cNvPr id="65" name="直線矢印コネクタ 64">
            <a:extLst>
              <a:ext uri="{FF2B5EF4-FFF2-40B4-BE49-F238E27FC236}">
                <a16:creationId xmlns:a16="http://schemas.microsoft.com/office/drawing/2014/main" id="{A09E2EC9-DFBD-02A4-80DB-9EDE04051E84}"/>
              </a:ext>
            </a:extLst>
          </p:cNvPr>
          <p:cNvCxnSpPr>
            <a:cxnSpLocks/>
            <a:stCxn id="54" idx="2"/>
            <a:endCxn id="64" idx="1"/>
          </p:cNvCxnSpPr>
          <p:nvPr/>
        </p:nvCxnSpPr>
        <p:spPr>
          <a:xfrm>
            <a:off x="3859685" y="8815045"/>
            <a:ext cx="858833" cy="396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87A29147-6950-9186-4463-425B670EFB85}"/>
              </a:ext>
            </a:extLst>
          </p:cNvPr>
          <p:cNvSpPr/>
          <p:nvPr/>
        </p:nvSpPr>
        <p:spPr>
          <a:xfrm>
            <a:off x="4780547" y="8768343"/>
            <a:ext cx="1776618" cy="46391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kumimoji="1" lang="en-US" altLang="ja-JP" sz="900" dirty="0"/>
              <a:t>If you want to update multiple tables, you need to write code in the </a:t>
            </a:r>
            <a:r>
              <a:rPr kumimoji="1" lang="en-US" altLang="ja-JP" sz="900" dirty="0" err="1"/>
              <a:t>evend</a:t>
            </a:r>
            <a:r>
              <a:rPr kumimoji="1" lang="en-US" altLang="ja-JP" sz="900" dirty="0"/>
              <a:t> handler.</a:t>
            </a:r>
            <a:endParaRPr kumimoji="1" lang="ja-JP" altLang="en-US" sz="900" dirty="0"/>
          </a:p>
        </p:txBody>
      </p:sp>
      <p:sp>
        <p:nvSpPr>
          <p:cNvPr id="86" name="矢印: 右 85">
            <a:extLst>
              <a:ext uri="{FF2B5EF4-FFF2-40B4-BE49-F238E27FC236}">
                <a16:creationId xmlns:a16="http://schemas.microsoft.com/office/drawing/2014/main" id="{1DC8A48C-8DF4-3DDD-43F2-FE7A6D1BDDE1}"/>
              </a:ext>
            </a:extLst>
          </p:cNvPr>
          <p:cNvSpPr/>
          <p:nvPr/>
        </p:nvSpPr>
        <p:spPr>
          <a:xfrm flipH="1">
            <a:off x="1273169" y="8976549"/>
            <a:ext cx="270510" cy="111122"/>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a:p>
        </p:txBody>
      </p:sp>
      <p:sp>
        <p:nvSpPr>
          <p:cNvPr id="87" name="正方形/長方形 86">
            <a:extLst>
              <a:ext uri="{FF2B5EF4-FFF2-40B4-BE49-F238E27FC236}">
                <a16:creationId xmlns:a16="http://schemas.microsoft.com/office/drawing/2014/main" id="{76FA5251-C258-583D-CFD6-DD102CB8077F}"/>
              </a:ext>
            </a:extLst>
          </p:cNvPr>
          <p:cNvSpPr/>
          <p:nvPr/>
        </p:nvSpPr>
        <p:spPr>
          <a:xfrm>
            <a:off x="1583927" y="8835294"/>
            <a:ext cx="1547013" cy="39696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sz="900" dirty="0"/>
              <a:t>Default action.</a:t>
            </a:r>
          </a:p>
          <a:p>
            <a:pPr algn="ctr"/>
            <a:r>
              <a:rPr kumimoji="1" lang="en-US" altLang="ja-JP" sz="900" dirty="0"/>
              <a:t>Save one table at a time.</a:t>
            </a:r>
            <a:endParaRPr kumimoji="1" lang="ja-JP" altLang="en-US" sz="900" dirty="0"/>
          </a:p>
        </p:txBody>
      </p:sp>
      <p:graphicFrame>
        <p:nvGraphicFramePr>
          <p:cNvPr id="88" name="表 9">
            <a:extLst>
              <a:ext uri="{FF2B5EF4-FFF2-40B4-BE49-F238E27FC236}">
                <a16:creationId xmlns:a16="http://schemas.microsoft.com/office/drawing/2014/main" id="{9E93C484-4A92-4A65-6AA9-E3826F988EC5}"/>
              </a:ext>
            </a:extLst>
          </p:cNvPr>
          <p:cNvGraphicFramePr>
            <a:graphicFrameLocks noGrp="1"/>
          </p:cNvGraphicFramePr>
          <p:nvPr/>
        </p:nvGraphicFramePr>
        <p:xfrm>
          <a:off x="215686" y="4105744"/>
          <a:ext cx="6274213" cy="2560489"/>
        </p:xfrm>
        <a:graphic>
          <a:graphicData uri="http://schemas.openxmlformats.org/drawingml/2006/table">
            <a:tbl>
              <a:tblPr firstRow="1" bandRow="1">
                <a:tableStyleId>{5940675A-B579-460E-94D1-54222C63F5DA}</a:tableStyleId>
              </a:tblPr>
              <a:tblGrid>
                <a:gridCol w="905032">
                  <a:extLst>
                    <a:ext uri="{9D8B030D-6E8A-4147-A177-3AD203B41FA5}">
                      <a16:colId xmlns:a16="http://schemas.microsoft.com/office/drawing/2014/main" val="1629670982"/>
                    </a:ext>
                  </a:extLst>
                </a:gridCol>
                <a:gridCol w="5369181">
                  <a:extLst>
                    <a:ext uri="{9D8B030D-6E8A-4147-A177-3AD203B41FA5}">
                      <a16:colId xmlns:a16="http://schemas.microsoft.com/office/drawing/2014/main" val="2196425086"/>
                    </a:ext>
                  </a:extLst>
                </a:gridCol>
              </a:tblGrid>
              <a:tr h="141420">
                <a:tc gridSpan="2">
                  <a:txBody>
                    <a:bodyPr/>
                    <a:lstStyle/>
                    <a:p>
                      <a:r>
                        <a:rPr kumimoji="1" lang="en-US" altLang="ja-JP" sz="1000" dirty="0"/>
                        <a:t>a2EditTBL2SQL</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hMerge="1">
                  <a:txBody>
                    <a:bodyPr/>
                    <a:lstStyle/>
                    <a:p>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80689767"/>
                  </a:ext>
                </a:extLst>
              </a:tr>
              <a:tr h="219289">
                <a:tc>
                  <a:txBody>
                    <a:bodyPr/>
                    <a:lstStyle/>
                    <a:p>
                      <a:r>
                        <a:rPr kumimoji="1" lang="en-US" altLang="ja-JP" sz="800" dirty="0"/>
                        <a:t>Function</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Get SQL code to update the shared table from the local Edit table.</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909771050"/>
                  </a:ext>
                </a:extLst>
              </a:tr>
              <a:tr h="141420">
                <a:tc>
                  <a:txBody>
                    <a:bodyPr/>
                    <a:lstStyle/>
                    <a:p>
                      <a:r>
                        <a:rPr kumimoji="1" lang="en-US" altLang="ja-JP" sz="800" dirty="0"/>
                        <a:t>Syntax</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a2EditTBL2Server(</a:t>
                      </a:r>
                      <a:r>
                        <a:rPr kumimoji="1" lang="en-US" altLang="ja-JP" sz="800" dirty="0" err="1"/>
                        <a:t>ShareTBL</a:t>
                      </a:r>
                      <a:r>
                        <a:rPr kumimoji="1" lang="en-US" altLang="ja-JP" sz="800" dirty="0"/>
                        <a:t>,</a:t>
                      </a:r>
                      <a:r>
                        <a:rPr kumimoji="1" lang="ja-JP" altLang="en-US" sz="800" dirty="0"/>
                        <a:t> </a:t>
                      </a:r>
                      <a:r>
                        <a:rPr kumimoji="1" lang="en-US" altLang="ja-JP" sz="800" dirty="0" err="1"/>
                        <a:t>LocalTBL</a:t>
                      </a:r>
                      <a:r>
                        <a:rPr kumimoji="1" lang="en-US" altLang="ja-JP" sz="800" dirty="0"/>
                        <a:t>,</a:t>
                      </a:r>
                      <a:r>
                        <a:rPr kumimoji="1" lang="ja-JP" altLang="en-US" sz="800" dirty="0"/>
                        <a:t> </a:t>
                      </a:r>
                      <a:r>
                        <a:rPr kumimoji="1" lang="en-US" altLang="ja-JP" sz="800" dirty="0" err="1"/>
                        <a:t>UpdateCols</a:t>
                      </a:r>
                      <a:r>
                        <a:rPr kumimoji="1" lang="en-US" altLang="ja-JP" sz="800" dirty="0"/>
                        <a:t>, </a:t>
                      </a:r>
                      <a:r>
                        <a:rPr kumimoji="1" lang="en-US" altLang="ja-JP" sz="800" dirty="0" err="1"/>
                        <a:t>SCol</a:t>
                      </a:r>
                      <a:r>
                        <a:rPr kumimoji="1" lang="en-US" altLang="ja-JP" sz="800" dirty="0"/>
                        <a:t>, </a:t>
                      </a:r>
                      <a:r>
                        <a:rPr kumimoji="1" lang="en-US" altLang="ja-JP" sz="800" dirty="0" err="1"/>
                        <a:t>LCol</a:t>
                      </a:r>
                      <a:r>
                        <a:rPr kumimoji="1" lang="en-US" altLang="ja-JP" sz="800" dirty="0"/>
                        <a:t>, </a:t>
                      </a:r>
                      <a:r>
                        <a:rPr kumimoji="1" lang="en-US" altLang="ja-JP" sz="800" dirty="0" err="1"/>
                        <a:t>WhrCond</a:t>
                      </a:r>
                      <a:r>
                        <a:rPr kumimoji="1" lang="en-US" altLang="ja-JP" sz="800" dirty="0"/>
                        <a:t>)</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86838944"/>
                  </a:ext>
                </a:extLst>
              </a:tr>
              <a:tr h="141420">
                <a:tc>
                  <a:txBody>
                    <a:bodyPr/>
                    <a:lstStyle/>
                    <a:p>
                      <a:r>
                        <a:rPr kumimoji="1" lang="en-US" altLang="ja-JP" sz="800" dirty="0"/>
                        <a:t>Return</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kumimoji="1" lang="en-US" altLang="ja-JP" sz="800" dirty="0"/>
                        <a:t>Executable SQL update statement.</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4890968"/>
                  </a:ext>
                </a:extLst>
              </a:tr>
              <a:tr h="141420">
                <a:tc>
                  <a:txBody>
                    <a:bodyPr/>
                    <a:lstStyle/>
                    <a:p>
                      <a:r>
                        <a:rPr kumimoji="1" lang="en-US" altLang="ja-JP" sz="800" dirty="0"/>
                        <a:t>Parameters</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062057340"/>
                  </a:ext>
                </a:extLst>
              </a:tr>
              <a:tr h="222231">
                <a:tc>
                  <a:txBody>
                    <a:bodyPr/>
                    <a:lstStyle/>
                    <a:p>
                      <a:r>
                        <a:rPr kumimoji="1" lang="en-US" altLang="ja-JP" sz="800" dirty="0" err="1"/>
                        <a:t>UpdateTBL</a:t>
                      </a:r>
                      <a:endParaRPr kumimoji="1" lang="en-US" altLang="ja-JP" sz="800" dirty="0"/>
                    </a:p>
                    <a:p>
                      <a:r>
                        <a:rPr kumimoji="1" lang="en-US" altLang="ja-JP" sz="800" dirty="0"/>
                        <a:t>(String)</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Target table to update.</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42111244"/>
                  </a:ext>
                </a:extLst>
              </a:tr>
              <a:tr h="0">
                <a:tc>
                  <a:txBody>
                    <a:bodyPr/>
                    <a:lstStyle/>
                    <a:p>
                      <a:r>
                        <a:rPr kumimoji="1" lang="en-US" altLang="ja-JP" sz="800" dirty="0" err="1"/>
                        <a:t>EditTBL</a:t>
                      </a:r>
                      <a:endParaRPr kumimoji="1" lang="en-US" altLang="ja-JP" sz="800" dirty="0"/>
                    </a:p>
                    <a:p>
                      <a:r>
                        <a:rPr kumimoji="1" lang="en-US" altLang="ja-JP" sz="800" dirty="0"/>
                        <a:t>(String)</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Local edit table.</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67414"/>
                  </a:ext>
                </a:extLst>
              </a:tr>
              <a:tr h="0">
                <a:tc>
                  <a:txBody>
                    <a:bodyPr/>
                    <a:lstStyle/>
                    <a:p>
                      <a:r>
                        <a:rPr kumimoji="1" lang="en-US" altLang="ja-JP" sz="800" dirty="0" err="1"/>
                        <a:t>UpdateCols</a:t>
                      </a:r>
                      <a:endParaRPr kumimoji="1" lang="en-US" altLang="ja-JP" sz="800" dirty="0"/>
                    </a:p>
                    <a:p>
                      <a:r>
                        <a:rPr kumimoji="1" lang="en-US" altLang="ja-JP" sz="800" dirty="0"/>
                        <a:t>(String)</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List of update columns delimited by comma.</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41149825"/>
                  </a:ext>
                </a:extLst>
              </a:tr>
              <a:tr h="0">
                <a:tc>
                  <a:txBody>
                    <a:bodyPr/>
                    <a:lstStyle/>
                    <a:p>
                      <a:r>
                        <a:rPr kumimoji="1" lang="en-US" altLang="ja-JP" sz="800" dirty="0" err="1"/>
                        <a:t>LeftKeys</a:t>
                      </a:r>
                      <a:endParaRPr kumimoji="1" lang="en-US" altLang="ja-JP" sz="800" dirty="0"/>
                    </a:p>
                    <a:p>
                      <a:r>
                        <a:rPr kumimoji="1" lang="en-US" altLang="ja-JP" sz="800" dirty="0"/>
                        <a:t>(String)</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Join</a:t>
                      </a:r>
                      <a:r>
                        <a:rPr kumimoji="1" lang="ja-JP" altLang="en-US" sz="800" dirty="0"/>
                        <a:t> </a:t>
                      </a:r>
                      <a:r>
                        <a:rPr kumimoji="1" lang="en-US" altLang="ja-JP" sz="800" dirty="0"/>
                        <a:t>On columns. (update table side) .</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3993241"/>
                  </a:ext>
                </a:extLst>
              </a:tr>
              <a:tr h="0">
                <a:tc>
                  <a:txBody>
                    <a:bodyPr/>
                    <a:lstStyle/>
                    <a:p>
                      <a:r>
                        <a:rPr kumimoji="1" lang="en-US" altLang="ja-JP" sz="800" dirty="0" err="1"/>
                        <a:t>RightKeys</a:t>
                      </a:r>
                      <a:endParaRPr kumimoji="1" lang="en-US" altLang="ja-JP" sz="800" dirty="0"/>
                    </a:p>
                    <a:p>
                      <a:r>
                        <a:rPr kumimoji="1" lang="en-US" altLang="ja-JP" sz="800" dirty="0"/>
                        <a:t>(String)</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1" lang="en-US" altLang="ja-JP" sz="800" dirty="0"/>
                        <a:t>Join</a:t>
                      </a:r>
                      <a:r>
                        <a:rPr kumimoji="1" lang="ja-JP" altLang="en-US" sz="800" dirty="0"/>
                        <a:t> </a:t>
                      </a:r>
                      <a:r>
                        <a:rPr kumimoji="1" lang="en-US" altLang="ja-JP" sz="800" dirty="0"/>
                        <a:t>On columns. (Edit table side) .</a:t>
                      </a:r>
                    </a:p>
                    <a:p>
                      <a:pPr marL="0" marR="0" lvl="0" indent="0" algn="l" defTabSz="342900" rtl="0" eaLnBrk="1" fontAlgn="auto" latinLnBrk="0" hangingPunct="1">
                        <a:lnSpc>
                          <a:spcPct val="100000"/>
                        </a:lnSpc>
                        <a:spcBef>
                          <a:spcPts val="0"/>
                        </a:spcBef>
                        <a:spcAft>
                          <a:spcPts val="0"/>
                        </a:spcAft>
                        <a:buClrTx/>
                        <a:buSzTx/>
                        <a:buFontTx/>
                        <a:buNone/>
                        <a:tabLst/>
                        <a:defRPr/>
                      </a:pPr>
                      <a:r>
                        <a:rPr kumimoji="1" lang="en-US" altLang="ja-JP" sz="800" dirty="0"/>
                        <a:t>If omitted, the same columns is used as </a:t>
                      </a:r>
                      <a:r>
                        <a:rPr kumimoji="1" lang="en-US" altLang="ja-JP" sz="800" dirty="0" err="1"/>
                        <a:t>leftkeys</a:t>
                      </a:r>
                      <a:r>
                        <a:rPr kumimoji="1" lang="en-US" altLang="ja-JP" sz="800" dirty="0"/>
                        <a:t>.</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1245593"/>
                  </a:ext>
                </a:extLst>
              </a:tr>
              <a:tr h="0">
                <a:tc>
                  <a:txBody>
                    <a:bodyPr/>
                    <a:lstStyle/>
                    <a:p>
                      <a:r>
                        <a:rPr kumimoji="1" lang="en-US" altLang="ja-JP" sz="800" dirty="0" err="1"/>
                        <a:t>WhrCond</a:t>
                      </a:r>
                      <a:endParaRPr kumimoji="1" lang="en-US" altLang="ja-JP" sz="800" dirty="0"/>
                    </a:p>
                    <a:p>
                      <a:r>
                        <a:rPr kumimoji="1" lang="en-US" altLang="ja-JP" sz="800" dirty="0"/>
                        <a:t>(String)</a:t>
                      </a:r>
                      <a:endParaRPr kumimoji="1" lang="ja-JP" altLang="en-US" sz="800" dirty="0"/>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800" dirty="0"/>
                        <a:t>Where condition to filter target update record. If omitted, it will be blank.</a:t>
                      </a:r>
                    </a:p>
                  </a:txBody>
                  <a:tcPr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6349889"/>
                  </a:ext>
                </a:extLst>
              </a:tr>
            </a:tbl>
          </a:graphicData>
        </a:graphic>
      </p:graphicFrame>
      <p:sp>
        <p:nvSpPr>
          <p:cNvPr id="89" name="テキスト ボックス 88">
            <a:extLst>
              <a:ext uri="{FF2B5EF4-FFF2-40B4-BE49-F238E27FC236}">
                <a16:creationId xmlns:a16="http://schemas.microsoft.com/office/drawing/2014/main" id="{EB1DF4AE-4D65-CFDE-939E-67E412786693}"/>
              </a:ext>
            </a:extLst>
          </p:cNvPr>
          <p:cNvSpPr txBox="1"/>
          <p:nvPr/>
        </p:nvSpPr>
        <p:spPr>
          <a:xfrm>
            <a:off x="215685" y="6704480"/>
            <a:ext cx="6274213" cy="1061829"/>
          </a:xfrm>
          <a:prstGeom prst="rect">
            <a:avLst/>
          </a:prstGeom>
          <a:solidFill>
            <a:schemeClr val="bg1"/>
          </a:solidFill>
        </p:spPr>
        <p:txBody>
          <a:bodyPr wrap="square" rtlCol="0">
            <a:spAutoFit/>
          </a:bodyPr>
          <a:lstStyle/>
          <a:p>
            <a:r>
              <a:rPr kumimoji="1" lang="en-US" altLang="ja-JP" sz="1050" dirty="0"/>
              <a:t>[Explanation]</a:t>
            </a:r>
          </a:p>
          <a:p>
            <a:r>
              <a:rPr kumimoji="1" lang="en-US" altLang="ja-JP" sz="1050" dirty="0"/>
              <a:t>The default saving function a2MacroSaveRows can only update one table at a time. If you want to update multiple tables simultaneously during saving, you need to write code to update each table individually in the save button's event handler.</a:t>
            </a:r>
          </a:p>
          <a:p>
            <a:endParaRPr kumimoji="1" lang="en-US" altLang="ja-JP" sz="1050" dirty="0"/>
          </a:p>
          <a:p>
            <a:r>
              <a:rPr kumimoji="1" lang="en-US" altLang="ja-JP" sz="1050" dirty="0"/>
              <a:t>Please refer to a2MacroSaveRows for how to write the code.</a:t>
            </a:r>
          </a:p>
        </p:txBody>
      </p:sp>
      <p:sp>
        <p:nvSpPr>
          <p:cNvPr id="95" name="フローチャート: 磁気ディスク 94">
            <a:extLst>
              <a:ext uri="{FF2B5EF4-FFF2-40B4-BE49-F238E27FC236}">
                <a16:creationId xmlns:a16="http://schemas.microsoft.com/office/drawing/2014/main" id="{3FD6BF06-EB98-12E2-A65D-9AD16AFB52B0}"/>
              </a:ext>
            </a:extLst>
          </p:cNvPr>
          <p:cNvSpPr/>
          <p:nvPr/>
        </p:nvSpPr>
        <p:spPr>
          <a:xfrm>
            <a:off x="1674968" y="7911279"/>
            <a:ext cx="541020" cy="341351"/>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t>Share</a:t>
            </a:r>
          </a:p>
          <a:p>
            <a:pPr algn="ctr"/>
            <a:r>
              <a:rPr kumimoji="1" lang="en-US" altLang="ja-JP" sz="1000" dirty="0"/>
              <a:t>B</a:t>
            </a:r>
            <a:endParaRPr kumimoji="1" lang="ja-JP" altLang="en-US" sz="1000" dirty="0"/>
          </a:p>
        </p:txBody>
      </p:sp>
      <p:cxnSp>
        <p:nvCxnSpPr>
          <p:cNvPr id="96" name="コネクタ: カギ線 95">
            <a:extLst>
              <a:ext uri="{FF2B5EF4-FFF2-40B4-BE49-F238E27FC236}">
                <a16:creationId xmlns:a16="http://schemas.microsoft.com/office/drawing/2014/main" id="{81AD5D0B-1B17-BDF9-7294-FC238F892377}"/>
              </a:ext>
            </a:extLst>
          </p:cNvPr>
          <p:cNvCxnSpPr>
            <a:cxnSpLocks/>
            <a:stCxn id="8" idx="3"/>
            <a:endCxn id="95" idx="3"/>
          </p:cNvCxnSpPr>
          <p:nvPr/>
        </p:nvCxnSpPr>
        <p:spPr>
          <a:xfrm rot="5400000" flipH="1" flipV="1">
            <a:off x="1543716" y="7864768"/>
            <a:ext cx="13899" cy="789623"/>
          </a:xfrm>
          <a:prstGeom prst="bentConnector3">
            <a:avLst>
              <a:gd name="adj1" fmla="val -767537"/>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8371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650A8-6074-8B52-F7E6-82FB7D872A89}"/>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DE636FC3-2269-EBF1-C1F3-017ABD6189C4}"/>
              </a:ext>
            </a:extLst>
          </p:cNvPr>
          <p:cNvSpPr>
            <a:spLocks noGrp="1"/>
          </p:cNvSpPr>
          <p:nvPr>
            <p:ph type="title"/>
          </p:nvPr>
        </p:nvSpPr>
        <p:spPr>
          <a:xfrm>
            <a:off x="291893" y="248073"/>
            <a:ext cx="4760785" cy="414867"/>
          </a:xfrm>
        </p:spPr>
        <p:txBody>
          <a:bodyPr>
            <a:normAutofit fontScale="90000"/>
          </a:bodyPr>
          <a:lstStyle/>
          <a:p>
            <a:r>
              <a:rPr lang="en-US" altLang="ja-JP" dirty="0"/>
              <a:t>Updating SQL</a:t>
            </a:r>
            <a:endParaRPr lang="ja-JP" altLang="en-US" dirty="0"/>
          </a:p>
        </p:txBody>
      </p:sp>
      <p:sp>
        <p:nvSpPr>
          <p:cNvPr id="3" name="テキスト ボックス 2">
            <a:extLst>
              <a:ext uri="{FF2B5EF4-FFF2-40B4-BE49-F238E27FC236}">
                <a16:creationId xmlns:a16="http://schemas.microsoft.com/office/drawing/2014/main" id="{B9562532-73FF-348A-0ECF-172B049D6F51}"/>
              </a:ext>
            </a:extLst>
          </p:cNvPr>
          <p:cNvSpPr txBox="1"/>
          <p:nvPr/>
        </p:nvSpPr>
        <p:spPr>
          <a:xfrm>
            <a:off x="291893" y="897884"/>
            <a:ext cx="4704637" cy="900246"/>
          </a:xfrm>
          <a:prstGeom prst="rect">
            <a:avLst/>
          </a:prstGeom>
          <a:noFill/>
        </p:spPr>
        <p:txBody>
          <a:bodyPr wrap="square" rtlCol="0">
            <a:spAutoFit/>
          </a:bodyPr>
          <a:lstStyle/>
          <a:p>
            <a:r>
              <a:rPr kumimoji="1" lang="en-US" altLang="ja-JP" sz="1050" dirty="0"/>
              <a:t>[Explanation]</a:t>
            </a:r>
          </a:p>
          <a:p>
            <a:r>
              <a:rPr kumimoji="1" lang="en-US" altLang="ja-JP" sz="1050" dirty="0"/>
              <a:t>The following VBA code and SQL are sample SQL obtained using the a2EditTBL2SQL function.. Using Update Right Join, it performs both updating and inserting only the changed records in a single Update operation.</a:t>
            </a:r>
          </a:p>
        </p:txBody>
      </p:sp>
      <p:sp>
        <p:nvSpPr>
          <p:cNvPr id="12" name="テキスト ボックス 11">
            <a:extLst>
              <a:ext uri="{FF2B5EF4-FFF2-40B4-BE49-F238E27FC236}">
                <a16:creationId xmlns:a16="http://schemas.microsoft.com/office/drawing/2014/main" id="{D2F3BE45-81AC-6C46-A0BA-959D3976069C}"/>
              </a:ext>
            </a:extLst>
          </p:cNvPr>
          <p:cNvSpPr txBox="1"/>
          <p:nvPr/>
        </p:nvSpPr>
        <p:spPr>
          <a:xfrm>
            <a:off x="291893" y="5096221"/>
            <a:ext cx="4224296" cy="2708434"/>
          </a:xfrm>
          <a:prstGeom prst="rect">
            <a:avLst/>
          </a:prstGeom>
          <a:noFill/>
          <a:ln>
            <a:solidFill>
              <a:schemeClr val="accent1"/>
            </a:solidFill>
          </a:ln>
        </p:spPr>
        <p:txBody>
          <a:bodyPr wrap="square">
            <a:spAutoFit/>
          </a:bodyPr>
          <a:lstStyle/>
          <a:p>
            <a:r>
              <a:rPr lang="ja-JP" altLang="en-US" sz="1000" dirty="0"/>
              <a:t>Update Task as L Right Join tmpTask as R </a:t>
            </a:r>
          </a:p>
          <a:p>
            <a:r>
              <a:rPr lang="ja-JP" altLang="en-US" sz="1000" dirty="0"/>
              <a:t> On L.[ID] = R.[ID]</a:t>
            </a:r>
          </a:p>
          <a:p>
            <a:endParaRPr lang="ja-JP" altLang="en-US" sz="1000" dirty="0"/>
          </a:p>
          <a:p>
            <a:r>
              <a:rPr lang="ja-JP" altLang="en-US" sz="1000" dirty="0"/>
              <a:t>Set L.[Category] = R.[Category]</a:t>
            </a:r>
          </a:p>
          <a:p>
            <a:r>
              <a:rPr lang="ja-JP" altLang="en-US" sz="1000" dirty="0"/>
              <a:t>  , L.[Ord] = R.[Ord]</a:t>
            </a:r>
          </a:p>
          <a:p>
            <a:r>
              <a:rPr lang="ja-JP" altLang="en-US" sz="1000" dirty="0"/>
              <a:t>  , L.[TaskLevel] = R.[TaskLevel]</a:t>
            </a:r>
          </a:p>
          <a:p>
            <a:r>
              <a:rPr lang="ja-JP" altLang="en-US" sz="1000" dirty="0"/>
              <a:t>  , L.[TaskName] = R.[TaskName]</a:t>
            </a:r>
          </a:p>
          <a:p>
            <a:r>
              <a:rPr lang="ja-JP" altLang="en-US" sz="1000" dirty="0"/>
              <a:t>  , L.[Remarks] = R.[Remarks]</a:t>
            </a:r>
          </a:p>
          <a:p>
            <a:r>
              <a:rPr lang="ja-JP" altLang="en-US" sz="1000" dirty="0"/>
              <a:t>  , L.[Status] = R.[Status]</a:t>
            </a:r>
          </a:p>
          <a:p>
            <a:r>
              <a:rPr lang="ja-JP" altLang="en-US" sz="1000" dirty="0"/>
              <a:t>  , L.[Manager] = R.[Manager]</a:t>
            </a:r>
          </a:p>
          <a:p>
            <a:r>
              <a:rPr lang="ja-JP" altLang="en-US" sz="1000" dirty="0"/>
              <a:t>  , L.[Limit] = R.[Limit]</a:t>
            </a:r>
          </a:p>
          <a:p>
            <a:r>
              <a:rPr lang="ja-JP" altLang="en-US" sz="1000" dirty="0"/>
              <a:t>  , L.[Finished] = R.[Finished]</a:t>
            </a:r>
          </a:p>
          <a:p>
            <a:r>
              <a:rPr lang="ja-JP" altLang="en-US" sz="1000" dirty="0"/>
              <a:t>  , L.[LastUpdated] = #2026/06/13 13:35:37#</a:t>
            </a:r>
          </a:p>
          <a:p>
            <a:r>
              <a:rPr lang="ja-JP" altLang="en-US" sz="1000" dirty="0"/>
              <a:t>  , L.[UpdatedBy] = 'ted'</a:t>
            </a:r>
          </a:p>
          <a:p>
            <a:endParaRPr lang="ja-JP" altLang="en-US" sz="1000" dirty="0"/>
          </a:p>
          <a:p>
            <a:r>
              <a:rPr lang="ja-JP" altLang="en-US" sz="1000" dirty="0"/>
              <a:t>Where R.[</a:t>
            </a:r>
            <a:r>
              <a:rPr lang="en-US" altLang="ja-JP" sz="1000" dirty="0" err="1"/>
              <a:t>isUpdated</a:t>
            </a:r>
            <a:r>
              <a:rPr lang="ja-JP" altLang="en-US" sz="1000" dirty="0"/>
              <a:t>] = True AND R.[</a:t>
            </a:r>
            <a:r>
              <a:rPr lang="en-US" altLang="ja-JP" sz="1000" dirty="0" err="1"/>
              <a:t>isDeleted</a:t>
            </a:r>
            <a:r>
              <a:rPr lang="ja-JP" altLang="en-US" sz="1000" dirty="0"/>
              <a:t>] = False</a:t>
            </a:r>
          </a:p>
          <a:p>
            <a:endParaRPr lang="ja-JP" altLang="en-US" sz="1000" dirty="0"/>
          </a:p>
        </p:txBody>
      </p:sp>
      <p:sp>
        <p:nvSpPr>
          <p:cNvPr id="20" name="テキスト ボックス 19">
            <a:extLst>
              <a:ext uri="{FF2B5EF4-FFF2-40B4-BE49-F238E27FC236}">
                <a16:creationId xmlns:a16="http://schemas.microsoft.com/office/drawing/2014/main" id="{79A6F39C-6384-A50C-EAB7-F850E8148013}"/>
              </a:ext>
            </a:extLst>
          </p:cNvPr>
          <p:cNvSpPr txBox="1"/>
          <p:nvPr/>
        </p:nvSpPr>
        <p:spPr>
          <a:xfrm>
            <a:off x="291893" y="2208287"/>
            <a:ext cx="5800435" cy="2400657"/>
          </a:xfrm>
          <a:prstGeom prst="rect">
            <a:avLst/>
          </a:prstGeom>
          <a:noFill/>
          <a:ln>
            <a:solidFill>
              <a:schemeClr val="accent1"/>
            </a:solidFill>
          </a:ln>
        </p:spPr>
        <p:txBody>
          <a:bodyPr wrap="square">
            <a:spAutoFit/>
          </a:bodyPr>
          <a:lstStyle/>
          <a:p>
            <a:r>
              <a:rPr lang="en-US" altLang="ja-JP" sz="1000" dirty="0">
                <a:latin typeface="ＭＳ ゴシック" panose="020B0609070205080204" pitchFamily="49" charset="-128"/>
                <a:ea typeface="ＭＳ ゴシック" panose="020B0609070205080204" pitchFamily="49" charset="-128"/>
              </a:rPr>
              <a:t>'*************</a:t>
            </a:r>
          </a:p>
          <a:p>
            <a:r>
              <a:rPr lang="en-US" altLang="ja-JP" sz="1000" dirty="0">
                <a:latin typeface="ＭＳ ゴシック" panose="020B0609070205080204" pitchFamily="49" charset="-128"/>
                <a:ea typeface="ＭＳ ゴシック" panose="020B0609070205080204" pitchFamily="49" charset="-128"/>
              </a:rPr>
              <a:t>' Sample VBA</a:t>
            </a:r>
          </a:p>
          <a:p>
            <a:r>
              <a:rPr lang="en-US" altLang="ja-JP" sz="1000" dirty="0">
                <a:latin typeface="ＭＳ ゴシック" panose="020B0609070205080204" pitchFamily="49" charset="-128"/>
                <a:ea typeface="ＭＳ ゴシック" panose="020B0609070205080204" pitchFamily="49" charset="-128"/>
              </a:rPr>
              <a:t>'*************</a:t>
            </a:r>
          </a:p>
          <a:p>
            <a:r>
              <a:rPr lang="en-US" altLang="ja-JP" sz="1000" dirty="0">
                <a:latin typeface="ＭＳ ゴシック" panose="020B0609070205080204" pitchFamily="49" charset="-128"/>
                <a:ea typeface="ＭＳ ゴシック" panose="020B0609070205080204" pitchFamily="49" charset="-128"/>
              </a:rPr>
              <a:t>Public Function </a:t>
            </a:r>
            <a:r>
              <a:rPr lang="en-US" altLang="ja-JP" sz="1000" dirty="0" err="1">
                <a:latin typeface="ＭＳ ゴシック" panose="020B0609070205080204" pitchFamily="49" charset="-128"/>
                <a:ea typeface="ＭＳ ゴシック" panose="020B0609070205080204" pitchFamily="49" charset="-128"/>
              </a:rPr>
              <a:t>testsql</a:t>
            </a:r>
            <a:r>
              <a:rPr lang="en-US" altLang="ja-JP" sz="1000" dirty="0">
                <a:latin typeface="ＭＳ ゴシック" panose="020B0609070205080204" pitchFamily="49" charset="-128"/>
                <a:ea typeface="ＭＳ ゴシック" panose="020B0609070205080204" pitchFamily="49" charset="-128"/>
              </a:rPr>
              <a:t>()</a:t>
            </a:r>
          </a:p>
          <a:p>
            <a:r>
              <a:rPr lang="en-US" altLang="ja-JP" sz="1000" dirty="0">
                <a:latin typeface="ＭＳ ゴシック" panose="020B0609070205080204" pitchFamily="49" charset="-128"/>
                <a:ea typeface="ＭＳ ゴシック" panose="020B0609070205080204" pitchFamily="49" charset="-128"/>
              </a:rPr>
              <a:t>Dim SQL As String</a:t>
            </a:r>
          </a:p>
          <a:p>
            <a:r>
              <a:rPr lang="en-US" altLang="ja-JP" sz="1000" dirty="0">
                <a:latin typeface="ＭＳ ゴシック" panose="020B0609070205080204" pitchFamily="49" charset="-128"/>
                <a:ea typeface="ＭＳ ゴシック" panose="020B0609070205080204" pitchFamily="49" charset="-128"/>
              </a:rPr>
              <a:t>Dim </a:t>
            </a:r>
            <a:r>
              <a:rPr lang="en-US" altLang="ja-JP" sz="1000" dirty="0" err="1">
                <a:latin typeface="ＭＳ ゴシック" panose="020B0609070205080204" pitchFamily="49" charset="-128"/>
                <a:ea typeface="ＭＳ ゴシック" panose="020B0609070205080204" pitchFamily="49" charset="-128"/>
              </a:rPr>
              <a:t>ShareTBL</a:t>
            </a:r>
            <a:r>
              <a:rPr lang="en-US" altLang="ja-JP" sz="1000" dirty="0">
                <a:latin typeface="ＭＳ ゴシック" panose="020B0609070205080204" pitchFamily="49" charset="-128"/>
                <a:ea typeface="ＭＳ ゴシック" panose="020B0609070205080204" pitchFamily="49" charset="-128"/>
              </a:rPr>
              <a:t> As String, </a:t>
            </a:r>
            <a:r>
              <a:rPr lang="en-US" altLang="ja-JP" sz="1000" dirty="0" err="1">
                <a:latin typeface="ＭＳ ゴシック" panose="020B0609070205080204" pitchFamily="49" charset="-128"/>
                <a:ea typeface="ＭＳ ゴシック" panose="020B0609070205080204" pitchFamily="49" charset="-128"/>
              </a:rPr>
              <a:t>LocalTBL</a:t>
            </a:r>
            <a:r>
              <a:rPr lang="en-US" altLang="ja-JP" sz="1000" dirty="0">
                <a:latin typeface="ＭＳ ゴシック" panose="020B0609070205080204" pitchFamily="49" charset="-128"/>
                <a:ea typeface="ＭＳ ゴシック" panose="020B0609070205080204" pitchFamily="49" charset="-128"/>
              </a:rPr>
              <a:t> As String, </a:t>
            </a:r>
            <a:r>
              <a:rPr lang="en-US" altLang="ja-JP" sz="1000" dirty="0" err="1">
                <a:latin typeface="ＭＳ ゴシック" panose="020B0609070205080204" pitchFamily="49" charset="-128"/>
                <a:ea typeface="ＭＳ ゴシック" panose="020B0609070205080204" pitchFamily="49" charset="-128"/>
              </a:rPr>
              <a:t>EditCols</a:t>
            </a:r>
            <a:r>
              <a:rPr lang="en-US" altLang="ja-JP" sz="1000" dirty="0">
                <a:latin typeface="ＭＳ ゴシック" panose="020B0609070205080204" pitchFamily="49" charset="-128"/>
                <a:ea typeface="ＭＳ ゴシック" panose="020B0609070205080204" pitchFamily="49" charset="-128"/>
              </a:rPr>
              <a:t> As String, </a:t>
            </a:r>
            <a:r>
              <a:rPr lang="en-US" altLang="ja-JP" sz="1000" dirty="0" err="1">
                <a:latin typeface="ＭＳ ゴシック" panose="020B0609070205080204" pitchFamily="49" charset="-128"/>
                <a:ea typeface="ＭＳ ゴシック" panose="020B0609070205080204" pitchFamily="49" charset="-128"/>
              </a:rPr>
              <a:t>ShareRID</a:t>
            </a:r>
            <a:r>
              <a:rPr lang="en-US" altLang="ja-JP" sz="1000" dirty="0">
                <a:latin typeface="ＭＳ ゴシック" panose="020B0609070205080204" pitchFamily="49" charset="-128"/>
                <a:ea typeface="ＭＳ ゴシック" panose="020B0609070205080204" pitchFamily="49" charset="-128"/>
              </a:rPr>
              <a:t> As String</a:t>
            </a:r>
          </a:p>
          <a:p>
            <a:r>
              <a:rPr lang="en-US" altLang="ja-JP" sz="1000" dirty="0">
                <a:latin typeface="ＭＳ ゴシック" panose="020B0609070205080204" pitchFamily="49" charset="-128"/>
                <a:ea typeface="ＭＳ ゴシック" panose="020B0609070205080204" pitchFamily="49" charset="-128"/>
              </a:rPr>
              <a:t>    </a:t>
            </a:r>
          </a:p>
          <a:p>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ShareTBL</a:t>
            </a:r>
            <a:r>
              <a:rPr lang="en-US" altLang="ja-JP" sz="1000" dirty="0">
                <a:latin typeface="ＭＳ ゴシック" panose="020B0609070205080204" pitchFamily="49" charset="-128"/>
                <a:ea typeface="ＭＳ ゴシック" panose="020B0609070205080204" pitchFamily="49" charset="-128"/>
              </a:rPr>
              <a:t> = "Task"</a:t>
            </a:r>
          </a:p>
          <a:p>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LocalTBL</a:t>
            </a:r>
            <a:r>
              <a:rPr lang="en-US" altLang="ja-JP" sz="1000" dirty="0">
                <a:latin typeface="ＭＳ ゴシック" panose="020B0609070205080204" pitchFamily="49" charset="-128"/>
                <a:ea typeface="ＭＳ ゴシック" panose="020B0609070205080204" pitchFamily="49" charset="-128"/>
              </a:rPr>
              <a:t> = "</a:t>
            </a:r>
            <a:r>
              <a:rPr lang="en-US" altLang="ja-JP" sz="1000" dirty="0" err="1">
                <a:latin typeface="ＭＳ ゴシック" panose="020B0609070205080204" pitchFamily="49" charset="-128"/>
                <a:ea typeface="ＭＳ ゴシック" panose="020B0609070205080204" pitchFamily="49" charset="-128"/>
              </a:rPr>
              <a:t>tmpTask</a:t>
            </a:r>
            <a:r>
              <a:rPr lang="en-US" altLang="ja-JP" sz="1000" dirty="0">
                <a:latin typeface="ＭＳ ゴシック" panose="020B0609070205080204" pitchFamily="49" charset="-128"/>
                <a:ea typeface="ＭＳ ゴシック" panose="020B0609070205080204" pitchFamily="49" charset="-128"/>
              </a:rPr>
              <a:t>"</a:t>
            </a:r>
          </a:p>
          <a:p>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EditCols</a:t>
            </a:r>
            <a:r>
              <a:rPr lang="en-US" altLang="ja-JP" sz="1000" dirty="0">
                <a:latin typeface="ＭＳ ゴシック" panose="020B0609070205080204" pitchFamily="49" charset="-128"/>
                <a:ea typeface="ＭＳ ゴシック" panose="020B0609070205080204" pitchFamily="49" charset="-128"/>
              </a:rPr>
              <a:t> = "Category,Order,TaskLevel,Remarks,Status,Managet,Limit,Finished"</a:t>
            </a:r>
          </a:p>
          <a:p>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ShareRID</a:t>
            </a:r>
            <a:r>
              <a:rPr lang="en-US" altLang="ja-JP" sz="1000" dirty="0">
                <a:latin typeface="ＭＳ ゴシック" panose="020B0609070205080204" pitchFamily="49" charset="-128"/>
                <a:ea typeface="ＭＳ ゴシック" panose="020B0609070205080204" pitchFamily="49" charset="-128"/>
              </a:rPr>
              <a:t> = "ID"</a:t>
            </a:r>
          </a:p>
          <a:p>
            <a:r>
              <a:rPr lang="en-US" altLang="ja-JP" sz="1000" dirty="0">
                <a:latin typeface="ＭＳ ゴシック" panose="020B0609070205080204" pitchFamily="49" charset="-128"/>
                <a:ea typeface="ＭＳ ゴシック" panose="020B0609070205080204" pitchFamily="49" charset="-128"/>
              </a:rPr>
              <a:t>    </a:t>
            </a:r>
          </a:p>
          <a:p>
            <a:r>
              <a:rPr lang="en-US" altLang="ja-JP" sz="1000" dirty="0">
                <a:latin typeface="ＭＳ ゴシック" panose="020B0609070205080204" pitchFamily="49" charset="-128"/>
                <a:ea typeface="ＭＳ ゴシック" panose="020B0609070205080204" pitchFamily="49" charset="-128"/>
              </a:rPr>
              <a:t>    SQL = a2EditTBL2SQL(</a:t>
            </a:r>
            <a:r>
              <a:rPr lang="en-US" altLang="ja-JP" sz="1000" dirty="0" err="1">
                <a:latin typeface="ＭＳ ゴシック" panose="020B0609070205080204" pitchFamily="49" charset="-128"/>
                <a:ea typeface="ＭＳ ゴシック" panose="020B0609070205080204" pitchFamily="49" charset="-128"/>
              </a:rPr>
              <a:t>ShareTBL</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LocalTBL</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EditCols</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ShareRID</a:t>
            </a:r>
            <a:r>
              <a:rPr lang="en-US" altLang="ja-JP" sz="1000" dirty="0">
                <a:latin typeface="ＭＳ ゴシック" panose="020B0609070205080204" pitchFamily="49" charset="-128"/>
                <a:ea typeface="ＭＳ ゴシック" panose="020B0609070205080204" pitchFamily="49" charset="-128"/>
              </a:rPr>
              <a:t>)</a:t>
            </a:r>
          </a:p>
          <a:p>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Debug.Print</a:t>
            </a:r>
            <a:r>
              <a:rPr lang="en-US" altLang="ja-JP" sz="1000" dirty="0">
                <a:latin typeface="ＭＳ ゴシック" panose="020B0609070205080204" pitchFamily="49" charset="-128"/>
                <a:ea typeface="ＭＳ ゴシック" panose="020B0609070205080204" pitchFamily="49" charset="-128"/>
              </a:rPr>
              <a:t> SQL</a:t>
            </a:r>
          </a:p>
          <a:p>
            <a:r>
              <a:rPr lang="en-US" altLang="ja-JP" sz="1000" dirty="0">
                <a:latin typeface="ＭＳ ゴシック" panose="020B0609070205080204" pitchFamily="49" charset="-128"/>
                <a:ea typeface="ＭＳ ゴシック" panose="020B0609070205080204" pitchFamily="49" charset="-128"/>
              </a:rPr>
              <a:t>End Function</a:t>
            </a:r>
          </a:p>
        </p:txBody>
      </p:sp>
      <p:sp>
        <p:nvSpPr>
          <p:cNvPr id="22" name="テキスト ボックス 21">
            <a:extLst>
              <a:ext uri="{FF2B5EF4-FFF2-40B4-BE49-F238E27FC236}">
                <a16:creationId xmlns:a16="http://schemas.microsoft.com/office/drawing/2014/main" id="{C8B7B32B-B7A9-3ACA-9351-736E0187B44C}"/>
              </a:ext>
            </a:extLst>
          </p:cNvPr>
          <p:cNvSpPr txBox="1"/>
          <p:nvPr/>
        </p:nvSpPr>
        <p:spPr>
          <a:xfrm>
            <a:off x="291893" y="4726888"/>
            <a:ext cx="567784" cy="369332"/>
          </a:xfrm>
          <a:prstGeom prst="rect">
            <a:avLst/>
          </a:prstGeom>
          <a:noFill/>
        </p:spPr>
        <p:txBody>
          <a:bodyPr wrap="none" rtlCol="0">
            <a:spAutoFit/>
          </a:bodyPr>
          <a:lstStyle/>
          <a:p>
            <a:r>
              <a:rPr kumimoji="1" lang="en-US" altLang="ja-JP" dirty="0"/>
              <a:t>SQL</a:t>
            </a:r>
          </a:p>
        </p:txBody>
      </p:sp>
      <p:sp>
        <p:nvSpPr>
          <p:cNvPr id="23" name="テキスト ボックス 22">
            <a:extLst>
              <a:ext uri="{FF2B5EF4-FFF2-40B4-BE49-F238E27FC236}">
                <a16:creationId xmlns:a16="http://schemas.microsoft.com/office/drawing/2014/main" id="{DAC9209A-661B-2885-0D83-0B6F3140E0BF}"/>
              </a:ext>
            </a:extLst>
          </p:cNvPr>
          <p:cNvSpPr txBox="1"/>
          <p:nvPr/>
        </p:nvSpPr>
        <p:spPr>
          <a:xfrm>
            <a:off x="259204" y="1853215"/>
            <a:ext cx="587020" cy="369332"/>
          </a:xfrm>
          <a:prstGeom prst="rect">
            <a:avLst/>
          </a:prstGeom>
          <a:noFill/>
        </p:spPr>
        <p:txBody>
          <a:bodyPr wrap="none" rtlCol="0">
            <a:spAutoFit/>
          </a:bodyPr>
          <a:lstStyle/>
          <a:p>
            <a:r>
              <a:rPr kumimoji="1" lang="en-US" altLang="ja-JP" dirty="0"/>
              <a:t>VBA</a:t>
            </a:r>
          </a:p>
        </p:txBody>
      </p:sp>
    </p:spTree>
    <p:extLst>
      <p:ext uri="{BB962C8B-B14F-4D97-AF65-F5344CB8AC3E}">
        <p14:creationId xmlns:p14="http://schemas.microsoft.com/office/powerpoint/2010/main" val="6957373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6ED559F-D69B-C1F9-131E-3356FB54348D}"/>
              </a:ext>
            </a:extLst>
          </p:cNvPr>
          <p:cNvSpPr txBox="1">
            <a:spLocks noGrp="1"/>
          </p:cNvSpPr>
          <p:nvPr>
            <p:ph type="title"/>
          </p:nvPr>
        </p:nvSpPr>
        <p:spPr>
          <a:xfrm>
            <a:off x="0" y="3710535"/>
            <a:ext cx="5663184" cy="923330"/>
          </a:xfrm>
          <a:prstGeom prst="rect">
            <a:avLst/>
          </a:prstGeom>
          <a:noFill/>
        </p:spPr>
        <p:txBody>
          <a:bodyPr wrap="square" rtlCol="0">
            <a:spAutoFit/>
          </a:bodyPr>
          <a:lstStyle/>
          <a:p>
            <a:pPr algn="ctr"/>
            <a:r>
              <a:rPr kumimoji="1" lang="en-US" altLang="ja-JP" dirty="0"/>
              <a:t>Let's enjoy the world of </a:t>
            </a:r>
            <a:br>
              <a:rPr kumimoji="1" lang="en-US" altLang="ja-JP" dirty="0"/>
            </a:br>
            <a:r>
              <a:rPr kumimoji="1" lang="en-US" altLang="ja-JP" dirty="0"/>
              <a:t>Access ALAYA together!</a:t>
            </a:r>
            <a:endParaRPr kumimoji="1" lang="ja-JP" altLang="en-US" dirty="0"/>
          </a:p>
        </p:txBody>
      </p:sp>
      <p:sp>
        <p:nvSpPr>
          <p:cNvPr id="6" name="テキスト ボックス 5">
            <a:extLst>
              <a:ext uri="{FF2B5EF4-FFF2-40B4-BE49-F238E27FC236}">
                <a16:creationId xmlns:a16="http://schemas.microsoft.com/office/drawing/2014/main" id="{423E1788-1957-DEF8-03A2-F1931E68B1F9}"/>
              </a:ext>
            </a:extLst>
          </p:cNvPr>
          <p:cNvSpPr txBox="1"/>
          <p:nvPr/>
        </p:nvSpPr>
        <p:spPr>
          <a:xfrm>
            <a:off x="1197337" y="5817513"/>
            <a:ext cx="3268510" cy="577081"/>
          </a:xfrm>
          <a:prstGeom prst="rect">
            <a:avLst/>
          </a:prstGeom>
          <a:noFill/>
        </p:spPr>
        <p:txBody>
          <a:bodyPr wrap="square" rtlCol="0">
            <a:spAutoFit/>
          </a:bodyPr>
          <a:lstStyle/>
          <a:p>
            <a:pPr algn="ctr"/>
            <a:r>
              <a:rPr kumimoji="1" lang="en-US" altLang="ja-JP" sz="1050" dirty="0"/>
              <a:t>©</a:t>
            </a:r>
            <a:r>
              <a:rPr kumimoji="1" lang="ja-JP" altLang="en-US" sz="1050" dirty="0"/>
              <a:t> </a:t>
            </a:r>
            <a:r>
              <a:rPr kumimoji="1" lang="en-US" altLang="ja-JP" sz="1050" dirty="0"/>
              <a:t>2022</a:t>
            </a:r>
            <a:r>
              <a:rPr kumimoji="1" lang="ja-JP" altLang="en-US" sz="1050" dirty="0"/>
              <a:t> </a:t>
            </a:r>
            <a:r>
              <a:rPr kumimoji="1" lang="en-US" altLang="ja-JP" sz="1050" dirty="0"/>
              <a:t>abete21</a:t>
            </a:r>
          </a:p>
          <a:p>
            <a:pPr algn="ctr"/>
            <a:r>
              <a:rPr kumimoji="1" lang="en-US" altLang="ja-JP" sz="1050" dirty="0"/>
              <a:t>https://accessalaya.jp</a:t>
            </a:r>
          </a:p>
          <a:p>
            <a:pPr algn="ctr"/>
            <a:r>
              <a:rPr kumimoji="1" lang="en-US" altLang="ja-JP" sz="1050" dirty="0"/>
              <a:t>AccessALAYA@gmail.com</a:t>
            </a:r>
            <a:endParaRPr kumimoji="1" lang="ja-JP" altLang="en-US" sz="1050" dirty="0"/>
          </a:p>
        </p:txBody>
      </p:sp>
    </p:spTree>
    <p:extLst>
      <p:ext uri="{BB962C8B-B14F-4D97-AF65-F5344CB8AC3E}">
        <p14:creationId xmlns:p14="http://schemas.microsoft.com/office/powerpoint/2010/main" val="1844355017"/>
      </p:ext>
    </p:extLst>
  </p:cSld>
  <p:clrMapOvr>
    <a:masterClrMapping/>
  </p:clrMapOvr>
</p:sld>
</file>

<file path=ppt/theme/theme1.xml><?xml version="1.0" encoding="utf-8"?>
<a:theme xmlns:a="http://schemas.openxmlformats.org/drawingml/2006/main" name="ファセット">
  <a:themeElements>
    <a:clrScheme name="ファセット">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2025</TotalTime>
  <Words>5056</Words>
  <Application>Microsoft Office PowerPoint</Application>
  <PresentationFormat>A4 210 x 297 mm</PresentationFormat>
  <Paragraphs>592</Paragraphs>
  <Slides>27</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27</vt:i4>
      </vt:variant>
    </vt:vector>
  </HeadingPairs>
  <TitlesOfParts>
    <vt:vector size="35" baseType="lpstr">
      <vt:lpstr>BIZ UDP明朝 Medium</vt:lpstr>
      <vt:lpstr>ＭＳ ゴシック</vt:lpstr>
      <vt:lpstr>游ゴシック</vt:lpstr>
      <vt:lpstr>Arial</vt:lpstr>
      <vt:lpstr>Times New Roman</vt:lpstr>
      <vt:lpstr>Trebuchet MS</vt:lpstr>
      <vt:lpstr>Wingdings 3</vt:lpstr>
      <vt:lpstr>ファセット</vt:lpstr>
      <vt:lpstr>Access ALAYA = A Multiuser Framework for MS-Access =</vt:lpstr>
      <vt:lpstr>What is Access ALAYA？</vt:lpstr>
      <vt:lpstr>PowerPoint プレゼンテーション</vt:lpstr>
      <vt:lpstr>2.　Low-Code Development</vt:lpstr>
      <vt:lpstr>3. Versioning and Development Management</vt:lpstr>
      <vt:lpstr>4. A theory-Based System</vt:lpstr>
      <vt:lpstr>Install and Environment settings</vt:lpstr>
      <vt:lpstr>Access ALAYA standard Modules</vt:lpstr>
      <vt:lpstr>Installation</vt:lpstr>
      <vt:lpstr>Startup Test</vt:lpstr>
      <vt:lpstr>Tips</vt:lpstr>
      <vt:lpstr>Alaya startup script overview.</vt:lpstr>
      <vt:lpstr>Shared Table and Generating Forms.</vt:lpstr>
      <vt:lpstr>Shared Tables and How ALAYA Works</vt:lpstr>
      <vt:lpstr>Form Types: Continuous Forms and Single Forms</vt:lpstr>
      <vt:lpstr>Linking Shared Tables</vt:lpstr>
      <vt:lpstr>Creating ALAYA  Forms</vt:lpstr>
      <vt:lpstr>Configuration Items</vt:lpstr>
      <vt:lpstr>ALAYA Object Modules</vt:lpstr>
      <vt:lpstr> ALAYA Libraris</vt:lpstr>
      <vt:lpstr>ALAYA Constant and Core Functions</vt:lpstr>
      <vt:lpstr>PowerPoint プレゼンテーション</vt:lpstr>
      <vt:lpstr>Form Control class module(a2clsForm)</vt:lpstr>
      <vt:lpstr>PowerPoint プレゼンテーション</vt:lpstr>
      <vt:lpstr>Record Savings</vt:lpstr>
      <vt:lpstr>Updating SQL</vt:lpstr>
      <vt:lpstr>Let's enjoy the world of  Access ALAYA together!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ALAYA</dc:title>
  <dc:creator>abete21</dc:creator>
  <cp:lastModifiedBy>哲一 阿部</cp:lastModifiedBy>
  <cp:revision>23</cp:revision>
  <dcterms:created xsi:type="dcterms:W3CDTF">2022-09-24T12:50:50Z</dcterms:created>
  <dcterms:modified xsi:type="dcterms:W3CDTF">2026-06-13T05:40:10Z</dcterms:modified>
</cp:coreProperties>
</file>